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8" r:id="rId4"/>
    <p:sldId id="259" r:id="rId5"/>
    <p:sldId id="261" r:id="rId7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CER (%)</c:v>
                </c:pt>
              </c:strCache>
            </c:strRef>
          </c:tx>
          <c:spPr>
            <a:solidFill>
              <a:srgbClr val="1E2761"/>
            </a:solidFill>
          </c:spPr>
          <c:invertIfNegative val="1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5F4-4E78-95BD-58C60F97A556}"/>
              </c:ext>
            </c:extLst>
          </c:dPt>
          <c:dPt>
            <c:idx val="1"/>
            <c:invertIfNegative val="0"/>
            <c:bubble3D val="0"/>
            <c:spPr>
              <a:solidFill>
                <a:srgbClr val="1E7A5F"/>
              </a:solidFill>
            </c:spPr>
            <c:extLst>
              <c:ext xmlns:c16="http://schemas.microsoft.com/office/drawing/2014/chart" uri="{C3380CC4-5D6E-409C-BE32-E72D297353CC}">
                <c16:uniqueId val="{00000003-55F4-4E78-95BD-58C60F97A556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200" b="0" i="0" u="none">
                    <a:solidFill>
                      <a:srgbClr val="222633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Whisper-Tiny
full fine-tuning</c:v>
                </c:pt>
                <c:pt idx="1">
                  <c:v>Meta MMS-1B
CTC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83.89</c:v>
                </c:pt>
                <c:pt idx="1">
                  <c:v>15.96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4-55F4-4E78-95BD-58C60F97A55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>
            <a:solidFill>
              <a:srgbClr val="D9DEEA"/>
            </a:solidFill>
            <a:prstDash val="solid"/>
          </a:ln>
        </c:spPr>
        <c:txPr>
          <a:bodyPr anchorCtr="1"/>
          <a:lstStyle/>
          <a:p>
            <a:pPr>
              <a:defRPr sz="1050" b="0" i="0" u="none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D9DEEA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 sz="1000" b="0" i="0" u="none">
                    <a:solidFill>
                      <a:srgbClr val="5B6472"/>
                    </a:solidFill>
                    <a:latin typeface="Arial"/>
                    <a:ea typeface="Arial"/>
                    <a:cs typeface="Arial"/>
                  </a:rPr>
                  <a:t>CER (%) — lower is better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>
            <a:solidFill>
              <a:srgbClr val="888888"/>
            </a:solidFill>
            <a:prstDash val="solid"/>
          </a:ln>
        </c:spPr>
        <c:txPr>
          <a:bodyPr anchorCtr="1"/>
          <a:lstStyle/>
          <a:p>
            <a:pPr>
              <a:defRPr sz="950" b="0" i="0" u="none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80C0BF4-4BDB-4FCF-B232-85ED01EF30A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A47"/>
          </a:solidFill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0F6D32E-DDF4-4280-8881-748CC0117565}"/>
              </a:ext>
            </a:extLst>
          </p:cNvPr>
          <p:cNvSpPr>
            <a:spLocks noGrp="1"/>
          </p:cNvSpPr>
          <p:nvPr/>
        </p:nvSpPr>
        <p:spPr>
          <a:xfrm>
            <a:off x="-15088" y="-91440"/>
            <a:ext cx="12191695" cy="539496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C704D30-6100-44D0-ADDB-9D84A843CAFF}"/>
              </a:ext>
            </a:extLst>
          </p:cNvPr>
          <p:cNvSpPr>
            <a:spLocks noGrp="1"/>
          </p:cNvSpPr>
          <p:nvPr/>
        </p:nvSpPr>
        <p:spPr>
          <a:xfrm>
            <a:off x="9966960" y="-1005840"/>
            <a:ext cx="3291840" cy="3291840"/>
          </a:xfrm>
          <a:prstGeom prst="ellipse">
            <a:avLst/>
          </a:prstGeom>
          <a:ln w="28575">
            <a:solidFill>
              <a:srgbClr val="B8892B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4C7E240-FF33-4AF0-861D-949B799FFFD8}"/>
              </a:ext>
            </a:extLst>
          </p:cNvPr>
          <p:cNvSpPr>
            <a:spLocks noGrp="1"/>
          </p:cNvSpPr>
          <p:nvPr/>
        </p:nvSpPr>
        <p:spPr>
          <a:xfrm>
            <a:off x="10561320" y="-411480"/>
            <a:ext cx="2103120" cy="2103120"/>
          </a:xfrm>
          <a:prstGeom prst="ellipse">
            <a:avLst/>
          </a:prstGeom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08879CF-36A1-494E-8122-79608CAA7D33}"/>
              </a:ext>
            </a:extLst>
          </p:cNvPr>
          <p:cNvSpPr>
            <a:spLocks noGrp="1"/>
          </p:cNvSpPr>
          <p:nvPr/>
        </p:nvSpPr>
        <p:spPr>
          <a:xfrm>
            <a:off x="822960" y="141732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00" b="1" spc="20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FINAL PROJECT — DEEP LEARNING</a:t>
            </a:r>
            <a:endParaRPr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950172F-591A-4CC2-8B78-912F17420E95}"/>
              </a:ext>
            </a:extLst>
          </p:cNvPr>
          <p:cNvSpPr>
            <a:spLocks noGrp="1"/>
          </p:cNvSpPr>
          <p:nvPr/>
        </p:nvSpPr>
        <p:spPr>
          <a:xfrm>
            <a:off x="822960" y="2357775"/>
            <a:ext cx="9692640" cy="17373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sz="360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Khmer Automatic Speech Recognition</a:t>
            </a:r>
            <a:endParaRPr sz="36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A6B75BC-A30D-44E2-85C4-DC2187A0BD65}"/>
              </a:ext>
            </a:extLst>
          </p:cNvPr>
          <p:cNvSpPr>
            <a:spLocks noGrp="1"/>
          </p:cNvSpPr>
          <p:nvPr/>
        </p:nvSpPr>
        <p:spPr>
          <a:xfrm>
            <a:off x="822960" y="2988515"/>
            <a:ext cx="1005840" cy="0"/>
          </a:xfrm>
          <a:prstGeom prst="line">
            <a:avLst/>
          </a:prstGeom>
          <a:noFill/>
          <a:ln w="38100">
            <a:solidFill>
              <a:srgbClr val="B8892B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19C5022-AABA-43F2-919F-E6FD208A071F}"/>
              </a:ext>
            </a:extLst>
          </p:cNvPr>
          <p:cNvSpPr>
            <a:spLocks noGrp="1"/>
          </p:cNvSpPr>
          <p:nvPr/>
        </p:nvSpPr>
        <p:spPr>
          <a:xfrm>
            <a:off x="822960" y="3079956"/>
            <a:ext cx="7337814" cy="5486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600" i="1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Two trained architectures, with a transparent review of the saved evaluation evidence</a:t>
            </a:r>
            <a:endParaRPr sz="16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D371901-C8CA-469C-9302-A7075CDF79F7}"/>
              </a:ext>
            </a:extLst>
          </p:cNvPr>
          <p:cNvSpPr>
            <a:spLocks noGrp="1"/>
          </p:cNvSpPr>
          <p:nvPr/>
        </p:nvSpPr>
        <p:spPr>
          <a:xfrm>
            <a:off x="822960" y="5257800"/>
            <a:ext cx="10515600" cy="1051560"/>
          </a:xfrm>
          <a:prstGeom prst="roundRect">
            <a:avLst>
              <a:gd name="adj" fmla="val 6087"/>
            </a:avLst>
          </a:prstGeom>
          <a:solidFill>
            <a:srgbClr val="141A47"/>
          </a:solidFill>
          <a:ln w="12700">
            <a:solidFill>
              <a:srgbClr val="141A47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0567644-88D8-4FDD-AF6C-5D3FBBF2A5E4}"/>
              </a:ext>
            </a:extLst>
          </p:cNvPr>
          <p:cNvSpPr>
            <a:spLocks noGrp="1"/>
          </p:cNvSpPr>
          <p:nvPr/>
        </p:nvSpPr>
        <p:spPr>
          <a:xfrm>
            <a:off x="1051560" y="539496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135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Department of Engineering  |  Bachelor of Software Engineering
</a:t>
            </a:r>
            <a:r>
              <a:rPr sz="125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Lecturer: Mr. </a:t>
            </a:r>
            <a:r>
              <a:rPr sz="1250" dirty="0" err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Soklong</a:t>
            </a:r>
            <a:r>
              <a:rPr sz="125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 HIM
Student: </a:t>
            </a:r>
            <a:r>
              <a:rPr lang="en-US" sz="1250" dirty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Khemrak Pasey </a:t>
            </a:r>
            <a:endParaRPr sz="1350" dirty="0"/>
          </a:p>
        </p:txBody>
      </p:sp>
    </p:spTree>
    <p:extLst>
      <p:ext uri="{BB962C8B-B14F-4D97-AF65-F5344CB8AC3E}">
        <p14:creationId xmlns:p14="http://schemas.microsoft.com/office/powerpoint/2010/main" val="1464035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22596F7-0409-4F0B-9482-80DAA60C99D9}"/>
              </a:ext>
            </a:extLst>
          </p:cNvPr>
          <p:cNvSpPr>
            <a:spLocks noGrp="1"/>
          </p:cNvSpPr>
          <p:nvPr/>
        </p:nvSpPr>
        <p:spPr>
          <a:xfrm>
            <a:off x="457200" y="384048"/>
            <a:ext cx="512064" cy="51206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38435F8-CA91-472B-A853-48BCBFDAB0BC}"/>
              </a:ext>
            </a:extLst>
          </p:cNvPr>
          <p:cNvSpPr>
            <a:spLocks noGrp="1"/>
          </p:cNvSpPr>
          <p:nvPr/>
        </p:nvSpPr>
        <p:spPr>
          <a:xfrm>
            <a:off x="457200" y="38404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  <a:endParaRPr sz="2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21FDA42-6E27-4DC3-B37C-A2B1258A4559}"/>
              </a:ext>
            </a:extLst>
          </p:cNvPr>
          <p:cNvSpPr>
            <a:spLocks noGrp="1"/>
          </p:cNvSpPr>
          <p:nvPr/>
        </p:nvSpPr>
        <p:spPr>
          <a:xfrm>
            <a:off x="1115568" y="347472"/>
            <a:ext cx="10607040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500" b="1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Dataset Description &amp; Preprocessing Pipeline</a:t>
            </a:r>
            <a:endParaRPr sz="25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28D68ED-5DA4-4578-8AEC-D9B444CD80EB}"/>
              </a:ext>
            </a:extLst>
          </p:cNvPr>
          <p:cNvSpPr>
            <a:spLocks noGrp="1"/>
          </p:cNvSpPr>
          <p:nvPr/>
        </p:nvSpPr>
        <p:spPr>
          <a:xfrm>
            <a:off x="457200" y="1042416"/>
            <a:ext cx="11274552" cy="0"/>
          </a:xfrm>
          <a:prstGeom prst="line">
            <a:avLst/>
          </a:prstGeom>
          <a:noFill/>
          <a:ln w="12700">
            <a:solidFill>
              <a:srgbClr val="D9DEEA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F296595-C1DA-42FB-995E-DB49A40D7E8C}"/>
              </a:ext>
            </a:extLst>
          </p:cNvPr>
          <p:cNvSpPr>
            <a:spLocks noGrp="1"/>
          </p:cNvSpPr>
          <p:nvPr/>
        </p:nvSpPr>
        <p:spPr>
          <a:xfrm>
            <a:off x="457200" y="1170432"/>
            <a:ext cx="2331720" cy="868680"/>
          </a:xfrm>
          <a:prstGeom prst="roundRect">
            <a:avLst>
              <a:gd name="adj" fmla="val 7368"/>
            </a:avLst>
          </a:prstGeom>
          <a:solidFill>
            <a:srgbClr val="E3EA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8F190DD-A845-4E32-B704-FEABA342942A}"/>
              </a:ext>
            </a:extLst>
          </p:cNvPr>
          <p:cNvSpPr>
            <a:spLocks noGrp="1"/>
          </p:cNvSpPr>
          <p:nvPr/>
        </p:nvSpPr>
        <p:spPr>
          <a:xfrm>
            <a:off x="457200" y="1216152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1,675</a:t>
            </a:r>
            <a:endParaRPr sz="24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8740CD2-0D52-49E4-880C-8CA1899B2F07}"/>
              </a:ext>
            </a:extLst>
          </p:cNvPr>
          <p:cNvSpPr>
            <a:spLocks noGrp="1"/>
          </p:cNvSpPr>
          <p:nvPr/>
        </p:nvSpPr>
        <p:spPr>
          <a:xfrm>
            <a:off x="457200" y="1673352"/>
            <a:ext cx="23317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5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train examples</a:t>
            </a:r>
            <a:endParaRPr sz="125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357B19D-3692-41DF-844C-0DD2769D2D2C}"/>
              </a:ext>
            </a:extLst>
          </p:cNvPr>
          <p:cNvSpPr>
            <a:spLocks noGrp="1"/>
          </p:cNvSpPr>
          <p:nvPr/>
        </p:nvSpPr>
        <p:spPr>
          <a:xfrm>
            <a:off x="2944368" y="1170432"/>
            <a:ext cx="2331720" cy="868680"/>
          </a:xfrm>
          <a:prstGeom prst="roundRect">
            <a:avLst>
              <a:gd name="adj" fmla="val 7368"/>
            </a:avLst>
          </a:prstGeom>
          <a:solidFill>
            <a:srgbClr val="E3EA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C0BCFD6-FF5E-41B0-8F79-944A6BBC5674}"/>
              </a:ext>
            </a:extLst>
          </p:cNvPr>
          <p:cNvSpPr>
            <a:spLocks noGrp="1"/>
          </p:cNvSpPr>
          <p:nvPr/>
        </p:nvSpPr>
        <p:spPr>
          <a:xfrm>
            <a:off x="2944368" y="1216152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326</a:t>
            </a:r>
            <a:endParaRPr sz="24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2C0FAE6-CD54-48FA-A90E-9A01E8B934BF}"/>
              </a:ext>
            </a:extLst>
          </p:cNvPr>
          <p:cNvSpPr>
            <a:spLocks noGrp="1"/>
          </p:cNvSpPr>
          <p:nvPr/>
        </p:nvSpPr>
        <p:spPr>
          <a:xfrm>
            <a:off x="2944368" y="1673352"/>
            <a:ext cx="23317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5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validation examples</a:t>
            </a:r>
            <a:endParaRPr sz="125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24F8C2A1-692A-44F2-A373-D9887FF57B76}"/>
              </a:ext>
            </a:extLst>
          </p:cNvPr>
          <p:cNvSpPr>
            <a:spLocks noGrp="1"/>
          </p:cNvSpPr>
          <p:nvPr/>
        </p:nvSpPr>
        <p:spPr>
          <a:xfrm>
            <a:off x="5431536" y="1170432"/>
            <a:ext cx="2331720" cy="868680"/>
          </a:xfrm>
          <a:prstGeom prst="roundRect">
            <a:avLst>
              <a:gd name="adj" fmla="val 7368"/>
            </a:avLst>
          </a:prstGeom>
          <a:solidFill>
            <a:srgbClr val="E3EA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178F6E1-00F4-4859-8FE4-2888686B75E7}"/>
              </a:ext>
            </a:extLst>
          </p:cNvPr>
          <p:cNvSpPr>
            <a:spLocks noGrp="1"/>
          </p:cNvSpPr>
          <p:nvPr/>
        </p:nvSpPr>
        <p:spPr>
          <a:xfrm>
            <a:off x="5431536" y="1216152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771</a:t>
            </a:r>
            <a:endParaRPr sz="24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162DDE9-7676-449A-9747-700EC8AE2438}"/>
              </a:ext>
            </a:extLst>
          </p:cNvPr>
          <p:cNvSpPr>
            <a:spLocks noGrp="1"/>
          </p:cNvSpPr>
          <p:nvPr/>
        </p:nvSpPr>
        <p:spPr>
          <a:xfrm>
            <a:off x="5431536" y="1673352"/>
            <a:ext cx="233172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5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test examples</a:t>
            </a:r>
            <a:endParaRPr sz="125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8623429-E84C-4EB7-A44C-4184CA6A708D}"/>
              </a:ext>
            </a:extLst>
          </p:cNvPr>
          <p:cNvSpPr>
            <a:spLocks noGrp="1"/>
          </p:cNvSpPr>
          <p:nvPr/>
        </p:nvSpPr>
        <p:spPr>
          <a:xfrm>
            <a:off x="7863840" y="1170432"/>
            <a:ext cx="3867912" cy="8686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10000"/>
              </a:lnSpc>
              <a:buNone/>
            </a:pPr>
            <a:r>
              <a:rPr sz="1300" b="1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Google FLEURS Khmer (km_kh)
</a:t>
            </a:r>
            <a:r>
              <a:rPr sz="108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Hugging Face Datasets (google/fleurs), CC-BY 4.0. Audio processed at 16 kHz mono across multiple speakers.</a:t>
            </a:r>
            <a:endParaRPr sz="13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65F3C89-E543-4C0D-AA28-EDD7578D98A9}"/>
              </a:ext>
            </a:extLst>
          </p:cNvPr>
          <p:cNvSpPr>
            <a:spLocks noGrp="1"/>
          </p:cNvSpPr>
          <p:nvPr/>
        </p:nvSpPr>
        <p:spPr>
          <a:xfrm>
            <a:off x="457200" y="2212848"/>
            <a:ext cx="73152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5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Unified audio &amp; text preprocessing pipeline</a:t>
            </a:r>
            <a:endParaRPr sz="145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2838DB51-AE2D-4BEB-90B2-614BBC2E94D4}"/>
              </a:ext>
            </a:extLst>
          </p:cNvPr>
          <p:cNvSpPr>
            <a:spLocks noGrp="1"/>
          </p:cNvSpPr>
          <p:nvPr/>
        </p:nvSpPr>
        <p:spPr>
          <a:xfrm>
            <a:off x="457200" y="2615184"/>
            <a:ext cx="2761488" cy="1298448"/>
          </a:xfrm>
          <a:prstGeom prst="roundRect">
            <a:avLst>
              <a:gd name="adj" fmla="val 4930"/>
            </a:avLst>
          </a:prstGeom>
          <a:solidFill>
            <a:srgbClr val="F6F7FB"/>
          </a:solidFill>
          <a:ln w="12700">
            <a:solidFill>
              <a:srgbClr val="D9DEEA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BF07CC7-8CC1-4179-AFE9-E378A16AAC9A}"/>
              </a:ext>
            </a:extLst>
          </p:cNvPr>
          <p:cNvSpPr>
            <a:spLocks noGrp="1"/>
          </p:cNvSpPr>
          <p:nvPr/>
        </p:nvSpPr>
        <p:spPr>
          <a:xfrm>
            <a:off x="603504" y="2706624"/>
            <a:ext cx="2468880" cy="11155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12000"/>
              </a:lnSpc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1. Audio standardization
</a:t>
            </a:r>
            <a:r>
              <a:rPr sz="140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Resampled to 16,000 Hz, single-channel.</a:t>
            </a:r>
            <a:endParaRPr sz="140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5C350C3C-6D10-478B-8E20-719436827F23}"/>
              </a:ext>
            </a:extLst>
          </p:cNvPr>
          <p:cNvSpPr>
            <a:spLocks noGrp="1"/>
          </p:cNvSpPr>
          <p:nvPr/>
        </p:nvSpPr>
        <p:spPr>
          <a:xfrm>
            <a:off x="3346704" y="2615184"/>
            <a:ext cx="2761488" cy="1298448"/>
          </a:xfrm>
          <a:prstGeom prst="roundRect">
            <a:avLst>
              <a:gd name="adj" fmla="val 4930"/>
            </a:avLst>
          </a:prstGeom>
          <a:solidFill>
            <a:srgbClr val="F6F7FB"/>
          </a:solidFill>
          <a:ln w="12700">
            <a:solidFill>
              <a:srgbClr val="D9DEEA"/>
            </a:solidFill>
            <a:prstDash val="solid"/>
          </a:ln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9528948-651B-464C-A293-8B36544A8CAB}"/>
              </a:ext>
            </a:extLst>
          </p:cNvPr>
          <p:cNvSpPr>
            <a:spLocks noGrp="1"/>
          </p:cNvSpPr>
          <p:nvPr/>
        </p:nvSpPr>
        <p:spPr>
          <a:xfrm>
            <a:off x="3493008" y="2706624"/>
            <a:ext cx="2468880" cy="11155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12000"/>
              </a:lnSpc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2. Unicode normalization
</a:t>
            </a:r>
            <a:r>
              <a:rPr sz="140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NFC normalization applied to all transcripts.</a:t>
            </a:r>
            <a:endParaRPr sz="140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D726F971-042B-413F-B11C-75F39F3CE38B}"/>
              </a:ext>
            </a:extLst>
          </p:cNvPr>
          <p:cNvSpPr>
            <a:spLocks noGrp="1"/>
          </p:cNvSpPr>
          <p:nvPr/>
        </p:nvSpPr>
        <p:spPr>
          <a:xfrm>
            <a:off x="6236208" y="2615184"/>
            <a:ext cx="2761488" cy="1298448"/>
          </a:xfrm>
          <a:prstGeom prst="roundRect">
            <a:avLst>
              <a:gd name="adj" fmla="val 4930"/>
            </a:avLst>
          </a:prstGeom>
          <a:solidFill>
            <a:srgbClr val="F6F7FB"/>
          </a:solidFill>
          <a:ln w="12700">
            <a:solidFill>
              <a:srgbClr val="D9DEEA"/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3925A6E8-D272-4852-886F-0A9EC0235326}"/>
              </a:ext>
            </a:extLst>
          </p:cNvPr>
          <p:cNvSpPr>
            <a:spLocks noGrp="1"/>
          </p:cNvSpPr>
          <p:nvPr/>
        </p:nvSpPr>
        <p:spPr>
          <a:xfrm>
            <a:off x="6382512" y="2706624"/>
            <a:ext cx="2468880" cy="11155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12000"/>
              </a:lnSpc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3. Text sanitization
</a:t>
            </a:r>
            <a:r>
              <a:rPr sz="140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Strips zero-width / non-breaking spaces (U+200B, U+FEFF) and compacts whitespace.</a:t>
            </a:r>
            <a:endParaRPr sz="140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3189B06A-135D-453A-9E84-E564A53096C6}"/>
              </a:ext>
            </a:extLst>
          </p:cNvPr>
          <p:cNvSpPr>
            <a:spLocks noGrp="1"/>
          </p:cNvSpPr>
          <p:nvPr/>
        </p:nvSpPr>
        <p:spPr>
          <a:xfrm>
            <a:off x="9125712" y="2615184"/>
            <a:ext cx="2761488" cy="1298448"/>
          </a:xfrm>
          <a:prstGeom prst="roundRect">
            <a:avLst>
              <a:gd name="adj" fmla="val 4930"/>
            </a:avLst>
          </a:prstGeom>
          <a:solidFill>
            <a:srgbClr val="F6F7FB"/>
          </a:solidFill>
          <a:ln w="12700">
            <a:solidFill>
              <a:srgbClr val="D9DEEA"/>
            </a:solidFill>
            <a:prstDash val="solid"/>
          </a:ln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2DE7C12D-51B8-4812-BF7A-C43DFD2D8197}"/>
              </a:ext>
            </a:extLst>
          </p:cNvPr>
          <p:cNvSpPr>
            <a:spLocks noGrp="1"/>
          </p:cNvSpPr>
          <p:nvPr/>
        </p:nvSpPr>
        <p:spPr>
          <a:xfrm>
            <a:off x="9272016" y="2706624"/>
            <a:ext cx="2468880" cy="11155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12000"/>
              </a:lnSpc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4. Scoring convention
</a:t>
            </a:r>
            <a:r>
              <a:rPr sz="140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CER removes whitespace before scoring — Khmer spaces do not reliably mark words.</a:t>
            </a:r>
            <a:endParaRPr sz="140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C71E22C6-D2CC-4853-B252-DDB7B859E27A}"/>
              </a:ext>
            </a:extLst>
          </p:cNvPr>
          <p:cNvSpPr>
            <a:spLocks noGrp="1"/>
          </p:cNvSpPr>
          <p:nvPr/>
        </p:nvSpPr>
        <p:spPr>
          <a:xfrm>
            <a:off x="457200" y="4041648"/>
            <a:ext cx="11274552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9DEEA"/>
            </a:solidFill>
            <a:prstDash val="solid"/>
          </a:ln>
        </p:spPr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5D6CD4D3-316D-484A-B4B4-AD02DFFF88FA}"/>
              </a:ext>
            </a:extLst>
          </p:cNvPr>
          <p:cNvSpPr>
            <a:spLocks noGrp="1"/>
          </p:cNvSpPr>
          <p:nvPr/>
        </p:nvSpPr>
        <p:spPr>
          <a:xfrm>
            <a:off x="658368" y="4114800"/>
            <a:ext cx="1088136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25000"/>
              </a:lnSpc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Whisper:  </a:t>
            </a:r>
            <a:r>
              <a:rPr sz="140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80-channel log-mel spectrograms, 25 ms Hann windows, 10 ms hop length.
</a:t>
            </a: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MMS:  </a:t>
            </a:r>
            <a:r>
              <a:rPr sz="140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normalized 1D temporal representations, extracted directly by a 7-layer convolutional feature encoder.</a:t>
            </a:r>
            <a:endParaRPr sz="140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D8C994BA-7DB1-414F-8628-0C50D9AB67B9}"/>
              </a:ext>
            </a:extLst>
          </p:cNvPr>
          <p:cNvSpPr>
            <a:spLocks noGrp="1"/>
          </p:cNvSpPr>
          <p:nvPr/>
        </p:nvSpPr>
        <p:spPr>
          <a:xfrm>
            <a:off x="457200" y="5138928"/>
            <a:ext cx="11274552" cy="868680"/>
          </a:xfrm>
          <a:prstGeom prst="roundRect">
            <a:avLst>
              <a:gd name="adj" fmla="val 6316"/>
            </a:avLst>
          </a:prstGeom>
          <a:solidFill>
            <a:srgbClr val="FBF2E9"/>
          </a:solidFill>
          <a:ln w="12700">
            <a:solidFill>
              <a:srgbClr val="C08A3E"/>
            </a:solidFill>
            <a:prstDash val="solid"/>
          </a:ln>
        </p:spPr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DD535206-7FA8-44A3-BD67-9BF7E10206E0}"/>
              </a:ext>
            </a:extLst>
          </p:cNvPr>
          <p:cNvSpPr>
            <a:spLocks noGrp="1"/>
          </p:cNvSpPr>
          <p:nvPr/>
        </p:nvSpPr>
        <p:spPr>
          <a:xfrm>
            <a:off x="658368" y="5212080"/>
            <a:ext cx="10872216" cy="72237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sz="1400" b="1">
                <a:solidFill>
                  <a:srgbClr val="7A4A17"/>
                </a:solidFill>
                <a:latin typeface="Calibri"/>
                <a:ea typeface="Calibri"/>
                <a:cs typeface="Calibri"/>
              </a:rPr>
              <a:t>Diagnostic caveat   </a:t>
            </a:r>
            <a:r>
              <a:rPr sz="1400">
                <a:solidFill>
                  <a:srgbClr val="7A4A17"/>
                </a:solidFill>
                <a:latin typeface="Calibri"/>
                <a:ea typeface="Calibri"/>
                <a:cs typeface="Calibri"/>
              </a:rPr>
              <a:t>All three saved checkpoints were scored on the first 200 FLEURS test rows. Saved training selections and filters differ across runs, so these results are diagnostic, not a controlled comparison.</a:t>
            </a:r>
            <a:endParaRPr sz="14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D8336D70-23FD-4164-A3A1-DB7552736AE0}"/>
              </a:ext>
            </a:extLst>
          </p:cNvPr>
          <p:cNvSpPr>
            <a:spLocks noGrp="1"/>
          </p:cNvSpPr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Khmer Automatic Speech Recognition — Final Project</a:t>
            </a:r>
            <a:endParaRPr sz="90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229F5AFD-C8D6-4A85-A329-D2EAB31D5CAA}"/>
              </a:ext>
            </a:extLst>
          </p:cNvPr>
          <p:cNvSpPr>
            <a:spLocks noGrp="1"/>
          </p:cNvSpPr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2 / 9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772243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E5F7CFF-9BAC-415A-BC9F-8FBA1AB9C853}"/>
              </a:ext>
            </a:extLst>
          </p:cNvPr>
          <p:cNvSpPr>
            <a:spLocks noGrp="1"/>
          </p:cNvSpPr>
          <p:nvPr/>
        </p:nvSpPr>
        <p:spPr>
          <a:xfrm>
            <a:off x="457200" y="384048"/>
            <a:ext cx="512064" cy="51206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5FDC249-4BD1-4E38-A16D-9B024A56A403}"/>
              </a:ext>
            </a:extLst>
          </p:cNvPr>
          <p:cNvSpPr>
            <a:spLocks noGrp="1"/>
          </p:cNvSpPr>
          <p:nvPr/>
        </p:nvSpPr>
        <p:spPr>
          <a:xfrm>
            <a:off x="457200" y="38404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  <a:endParaRPr sz="2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BF4595B-E4DC-44BE-9C44-145D48F04174}"/>
              </a:ext>
            </a:extLst>
          </p:cNvPr>
          <p:cNvSpPr>
            <a:spLocks noGrp="1"/>
          </p:cNvSpPr>
          <p:nvPr/>
        </p:nvSpPr>
        <p:spPr>
          <a:xfrm>
            <a:off x="1115568" y="347472"/>
            <a:ext cx="10607040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500" b="1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Two Trained Deep Learning Approaches</a:t>
            </a:r>
            <a:endParaRPr sz="25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E2C7A5F-BFE0-4494-B93F-4019D5D9A1BA}"/>
              </a:ext>
            </a:extLst>
          </p:cNvPr>
          <p:cNvSpPr>
            <a:spLocks noGrp="1"/>
          </p:cNvSpPr>
          <p:nvPr/>
        </p:nvSpPr>
        <p:spPr>
          <a:xfrm>
            <a:off x="457200" y="1042416"/>
            <a:ext cx="11274552" cy="0"/>
          </a:xfrm>
          <a:prstGeom prst="line">
            <a:avLst/>
          </a:prstGeom>
          <a:noFill/>
          <a:ln w="12700">
            <a:solidFill>
              <a:srgbClr val="D9DEEA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45792A5-8EA5-481A-A1C2-148244D2C753}"/>
              </a:ext>
            </a:extLst>
          </p:cNvPr>
          <p:cNvSpPr>
            <a:spLocks noGrp="1"/>
          </p:cNvSpPr>
          <p:nvPr/>
        </p:nvSpPr>
        <p:spPr>
          <a:xfrm>
            <a:off x="457200" y="1234440"/>
            <a:ext cx="3611880" cy="452628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12700">
            <a:solidFill>
              <a:srgbClr val="D9DEEA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09F1517-BD34-4CFD-A8C2-AADAC6852138}"/>
              </a:ext>
            </a:extLst>
          </p:cNvPr>
          <p:cNvSpPr>
            <a:spLocks noGrp="1"/>
          </p:cNvSpPr>
          <p:nvPr/>
        </p:nvSpPr>
        <p:spPr>
          <a:xfrm>
            <a:off x="457200" y="1234440"/>
            <a:ext cx="3611880" cy="566928"/>
          </a:xfrm>
          <a:prstGeom prst="roundRect">
            <a:avLst>
              <a:gd name="adj" fmla="val 1129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5DA247A-B28B-4C8F-8AAB-8B8E2AA323F4}"/>
              </a:ext>
            </a:extLst>
          </p:cNvPr>
          <p:cNvSpPr>
            <a:spLocks noGrp="1"/>
          </p:cNvSpPr>
          <p:nvPr/>
        </p:nvSpPr>
        <p:spPr>
          <a:xfrm>
            <a:off x="457200" y="1234440"/>
            <a:ext cx="361188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APPROACH 1 — PRIMARY</a:t>
            </a:r>
            <a:endParaRPr sz="12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A4A7A76-A393-44D1-B6BC-92A274B070F2}"/>
              </a:ext>
            </a:extLst>
          </p:cNvPr>
          <p:cNvSpPr>
            <a:spLocks noGrp="1"/>
          </p:cNvSpPr>
          <p:nvPr/>
        </p:nvSpPr>
        <p:spPr>
          <a:xfrm>
            <a:off x="640080" y="1947672"/>
            <a:ext cx="324612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05000"/>
              </a:lnSpc>
              <a:buNone/>
            </a:pPr>
            <a:r>
              <a:rPr sz="1700" b="1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OpenAI Whisper-Tiny</a:t>
            </a:r>
            <a:endParaRPr sz="1700"/>
          </a:p>
          <a:p>
            <a:pPr marL="0" indent="0">
              <a:lnSpc>
                <a:spcPct val="105000"/>
              </a:lnSpc>
              <a:buNone/>
            </a:pPr>
            <a:r>
              <a:rPr sz="1700" b="1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(Seq2Seq Transformer)</a:t>
            </a:r>
            <a:endParaRPr sz="17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8E7967A-9FFE-4EA4-938A-4718CB3DC4C2}"/>
              </a:ext>
            </a:extLst>
          </p:cNvPr>
          <p:cNvSpPr>
            <a:spLocks noGrp="1"/>
          </p:cNvSpPr>
          <p:nvPr/>
        </p:nvSpPr>
        <p:spPr>
          <a:xfrm>
            <a:off x="640080" y="2770632"/>
            <a:ext cx="3246120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25000"/>
              </a:lnSpc>
              <a:buNone/>
            </a:pPr>
            <a:r>
              <a:rPr sz="1150" b="1">
                <a:solidFill>
                  <a:srgbClr val="B8892B"/>
                </a:solidFill>
                <a:latin typeface="Calibri"/>
                <a:ea typeface="Calibri"/>
                <a:cs typeface="Calibri"/>
              </a:rPr>
              <a:t>Strategy:  </a:t>
            </a:r>
            <a:r>
              <a:rPr sz="11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Full fine-tuning
</a:t>
            </a:r>
            <a:r>
              <a:rPr sz="1150" b="1">
                <a:solidFill>
                  <a:srgbClr val="B8892B"/>
                </a:solidFill>
                <a:latin typeface="Calibri"/>
                <a:ea typeface="Calibri"/>
                <a:cs typeface="Calibri"/>
              </a:rPr>
              <a:t>Parameters:  </a:t>
            </a:r>
            <a:r>
              <a:rPr sz="11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37.8M (100% trainable)</a:t>
            </a:r>
            <a:endParaRPr sz="115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801BBD6-2FAE-4FD2-B846-D267DB7DDA32}"/>
              </a:ext>
            </a:extLst>
          </p:cNvPr>
          <p:cNvSpPr>
            <a:spLocks noGrp="1"/>
          </p:cNvSpPr>
          <p:nvPr/>
        </p:nvSpPr>
        <p:spPr>
          <a:xfrm>
            <a:off x="640080" y="3566160"/>
            <a:ext cx="3246120" cy="0"/>
          </a:xfrm>
          <a:prstGeom prst="line">
            <a:avLst/>
          </a:prstGeom>
          <a:noFill/>
          <a:ln w="12700">
            <a:solidFill>
              <a:srgbClr val="D9DEEA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440ECE8-4FF9-4D60-B4FE-9FFDB736883A}"/>
              </a:ext>
            </a:extLst>
          </p:cNvPr>
          <p:cNvSpPr>
            <a:spLocks noGrp="1"/>
          </p:cNvSpPr>
          <p:nvPr/>
        </p:nvSpPr>
        <p:spPr>
          <a:xfrm>
            <a:off x="640080" y="3703320"/>
            <a:ext cx="3246120" cy="1874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22000"/>
              </a:lnSpc>
              <a:buNone/>
            </a:pPr>
            <a:r>
              <a:rPr sz="11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Autoregressive cross-attention. Encoder maps 80-channel log-mel frames; decoder predicts subwords conditioned on preceding tokens. Implicit internal language model.</a:t>
            </a:r>
            <a:endParaRPr sz="115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3D3B71C5-9644-4D92-B431-95E5ABAB892B}"/>
              </a:ext>
            </a:extLst>
          </p:cNvPr>
          <p:cNvSpPr>
            <a:spLocks noGrp="1"/>
          </p:cNvSpPr>
          <p:nvPr/>
        </p:nvSpPr>
        <p:spPr>
          <a:xfrm>
            <a:off x="4261104" y="1234440"/>
            <a:ext cx="3611880" cy="452628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12700">
            <a:solidFill>
              <a:srgbClr val="D9DEEA"/>
            </a:solidFill>
            <a:prstDash val="solid"/>
          </a:ln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8F50AEEA-19FD-49A7-8E75-A829D22F6BAA}"/>
              </a:ext>
            </a:extLst>
          </p:cNvPr>
          <p:cNvSpPr>
            <a:spLocks noGrp="1"/>
          </p:cNvSpPr>
          <p:nvPr/>
        </p:nvSpPr>
        <p:spPr>
          <a:xfrm>
            <a:off x="4261104" y="1234440"/>
            <a:ext cx="3611880" cy="566928"/>
          </a:xfrm>
          <a:prstGeom prst="roundRect">
            <a:avLst>
              <a:gd name="adj" fmla="val 1129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A69D62A-1A34-441A-88B3-B93C6D6B027E}"/>
              </a:ext>
            </a:extLst>
          </p:cNvPr>
          <p:cNvSpPr>
            <a:spLocks noGrp="1"/>
          </p:cNvSpPr>
          <p:nvPr/>
        </p:nvSpPr>
        <p:spPr>
          <a:xfrm>
            <a:off x="4261104" y="1234440"/>
            <a:ext cx="361188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APPROACH 2 — COMPARISON</a:t>
            </a:r>
            <a:endParaRPr sz="12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ADF324B-8D83-42EB-B540-33A71666A555}"/>
              </a:ext>
            </a:extLst>
          </p:cNvPr>
          <p:cNvSpPr>
            <a:spLocks noGrp="1"/>
          </p:cNvSpPr>
          <p:nvPr/>
        </p:nvSpPr>
        <p:spPr>
          <a:xfrm>
            <a:off x="4443984" y="1947672"/>
            <a:ext cx="324612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05000"/>
              </a:lnSpc>
              <a:buNone/>
            </a:pPr>
            <a:r>
              <a:rPr sz="1700" b="1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Meta MMS-1B Khmer</a:t>
            </a:r>
            <a:endParaRPr sz="1700"/>
          </a:p>
          <a:p>
            <a:pPr marL="0" indent="0">
              <a:lnSpc>
                <a:spcPct val="105000"/>
              </a:lnSpc>
              <a:buNone/>
            </a:pPr>
            <a:r>
              <a:rPr sz="1700" b="1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(Acoustic CTC Model)</a:t>
            </a:r>
            <a:endParaRPr sz="17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0359C514-2F58-4DA8-97E9-4DDBECC9AE19}"/>
              </a:ext>
            </a:extLst>
          </p:cNvPr>
          <p:cNvSpPr>
            <a:spLocks noGrp="1"/>
          </p:cNvSpPr>
          <p:nvPr/>
        </p:nvSpPr>
        <p:spPr>
          <a:xfrm>
            <a:off x="4443984" y="2770632"/>
            <a:ext cx="3246120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25000"/>
              </a:lnSpc>
              <a:buNone/>
            </a:pPr>
            <a:r>
              <a:rPr sz="1150" b="1">
                <a:solidFill>
                  <a:srgbClr val="B8892B"/>
                </a:solidFill>
                <a:latin typeface="Calibri"/>
                <a:ea typeface="Calibri"/>
                <a:cs typeface="Calibri"/>
              </a:rPr>
              <a:t>Strategy:  </a:t>
            </a:r>
            <a:r>
              <a:rPr sz="11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Top-4-layer partial fine-tuning
</a:t>
            </a:r>
            <a:r>
              <a:rPr sz="1150" b="1">
                <a:solidFill>
                  <a:srgbClr val="B8892B"/>
                </a:solidFill>
                <a:latin typeface="Calibri"/>
                <a:ea typeface="Calibri"/>
                <a:cs typeface="Calibri"/>
              </a:rPr>
              <a:t>Parameters:  </a:t>
            </a:r>
            <a:r>
              <a:rPr sz="11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79.1M trainable</a:t>
            </a:r>
            <a:endParaRPr sz="115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61E3ADB3-6A11-45DB-AC33-FEE2CF9E9E54}"/>
              </a:ext>
            </a:extLst>
          </p:cNvPr>
          <p:cNvSpPr>
            <a:spLocks noGrp="1"/>
          </p:cNvSpPr>
          <p:nvPr/>
        </p:nvSpPr>
        <p:spPr>
          <a:xfrm>
            <a:off x="4443984" y="3566160"/>
            <a:ext cx="3246120" cy="0"/>
          </a:xfrm>
          <a:prstGeom prst="line">
            <a:avLst/>
          </a:prstGeom>
          <a:noFill/>
          <a:ln w="12700">
            <a:solidFill>
              <a:srgbClr val="D9DEEA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32F5EA9-A25E-485D-9CBA-036474697783}"/>
              </a:ext>
            </a:extLst>
          </p:cNvPr>
          <p:cNvSpPr>
            <a:spLocks noGrp="1"/>
          </p:cNvSpPr>
          <p:nvPr/>
        </p:nvSpPr>
        <p:spPr>
          <a:xfrm>
            <a:off x="4443984" y="3703320"/>
            <a:ext cx="3246120" cy="1874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22000"/>
              </a:lnSpc>
              <a:buNone/>
            </a:pPr>
            <a:r>
              <a:rPr sz="11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Wav2Vec 2.0 with CTC. The saved run unfroze the top four encoder layers plus the CTC head / adapter.</a:t>
            </a:r>
            <a:endParaRPr sz="115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7CE6CB74-E664-4D57-BD9C-E441F5738813}"/>
              </a:ext>
            </a:extLst>
          </p:cNvPr>
          <p:cNvSpPr>
            <a:spLocks noGrp="1"/>
          </p:cNvSpPr>
          <p:nvPr/>
        </p:nvSpPr>
        <p:spPr>
          <a:xfrm>
            <a:off x="8065008" y="1234440"/>
            <a:ext cx="3611880" cy="4526280"/>
          </a:xfrm>
          <a:prstGeom prst="roundRect">
            <a:avLst>
              <a:gd name="adj" fmla="val 1772"/>
            </a:avLst>
          </a:prstGeom>
          <a:solidFill>
            <a:srgbClr val="F1F2F5"/>
          </a:solidFill>
          <a:ln w="12700">
            <a:solidFill>
              <a:srgbClr val="B7BCC7"/>
            </a:solidFill>
            <a:prstDash val="solid"/>
          </a:ln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9C0E157-B745-42D9-9899-DD349013D589}"/>
              </a:ext>
            </a:extLst>
          </p:cNvPr>
          <p:cNvSpPr>
            <a:spLocks noGrp="1"/>
          </p:cNvSpPr>
          <p:nvPr/>
        </p:nvSpPr>
        <p:spPr>
          <a:xfrm>
            <a:off x="8065008" y="1234440"/>
            <a:ext cx="3611880" cy="4526280"/>
          </a:xfrm>
          <a:prstGeom prst="roundRect">
            <a:avLst>
              <a:gd name="adj" fmla="val 1772"/>
            </a:avLst>
          </a:prstGeom>
          <a:ln w="15875">
            <a:solidFill>
              <a:srgbClr val="B7BCC7"/>
            </a:solidFill>
            <a:prstDash val="dash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28681C6F-8C90-4F96-B4FD-3DD0CA36A17C}"/>
              </a:ext>
            </a:extLst>
          </p:cNvPr>
          <p:cNvSpPr>
            <a:spLocks noGrp="1"/>
          </p:cNvSpPr>
          <p:nvPr/>
        </p:nvSpPr>
        <p:spPr>
          <a:xfrm>
            <a:off x="8065008" y="1234440"/>
            <a:ext cx="3611880" cy="566928"/>
          </a:xfrm>
          <a:prstGeom prst="roundRect">
            <a:avLst>
              <a:gd name="adj" fmla="val 11290"/>
            </a:avLst>
          </a:prstGeom>
          <a:solidFill>
            <a:srgbClr val="CBD0D9"/>
          </a:solidFill>
          <a:ln w="12700">
            <a:solidFill>
              <a:srgbClr val="CBD0D9"/>
            </a:solidFill>
            <a:prstDash val="solid"/>
          </a:ln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E590129-F741-4D75-9693-36E44C4253BE}"/>
              </a:ext>
            </a:extLst>
          </p:cNvPr>
          <p:cNvSpPr>
            <a:spLocks noGrp="1"/>
          </p:cNvSpPr>
          <p:nvPr/>
        </p:nvSpPr>
        <p:spPr>
          <a:xfrm>
            <a:off x="8065008" y="1234440"/>
            <a:ext cx="3611880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 b="1">
                <a:solidFill>
                  <a:srgbClr val="4A4F5A"/>
                </a:solidFill>
                <a:latin typeface="Calibri"/>
                <a:ea typeface="Calibri"/>
                <a:cs typeface="Calibri"/>
              </a:rPr>
              <a:t>OPTIONAL ABLATION — NOT REPORTED</a:t>
            </a:r>
            <a:endParaRPr sz="12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CFA811B8-B005-443F-A332-C0013F55911D}"/>
              </a:ext>
            </a:extLst>
          </p:cNvPr>
          <p:cNvSpPr>
            <a:spLocks noGrp="1"/>
          </p:cNvSpPr>
          <p:nvPr/>
        </p:nvSpPr>
        <p:spPr>
          <a:xfrm>
            <a:off x="8247888" y="1947672"/>
            <a:ext cx="3246120" cy="7772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05000"/>
              </a:lnSpc>
              <a:buNone/>
            </a:pPr>
            <a:r>
              <a:rPr sz="1700" b="1">
                <a:solidFill>
                  <a:srgbClr val="6B7080"/>
                </a:solidFill>
                <a:latin typeface="Cambria"/>
                <a:ea typeface="Cambria"/>
                <a:cs typeface="Cambria"/>
              </a:rPr>
              <a:t>Whisper-Tiny</a:t>
            </a:r>
            <a:endParaRPr sz="1700"/>
          </a:p>
          <a:p>
            <a:pPr marL="0" indent="0">
              <a:lnSpc>
                <a:spcPct val="105000"/>
              </a:lnSpc>
              <a:buNone/>
            </a:pPr>
            <a:r>
              <a:rPr sz="1700" b="1">
                <a:solidFill>
                  <a:srgbClr val="6B7080"/>
                </a:solidFill>
                <a:latin typeface="Cambria"/>
                <a:ea typeface="Cambria"/>
                <a:cs typeface="Cambria"/>
              </a:rPr>
              <a:t>(Frozen Encoder)</a:t>
            </a:r>
            <a:endParaRPr sz="17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4D4226EB-1755-4B3B-8B60-D1D3E507F7E7}"/>
              </a:ext>
            </a:extLst>
          </p:cNvPr>
          <p:cNvSpPr>
            <a:spLocks noGrp="1"/>
          </p:cNvSpPr>
          <p:nvPr/>
        </p:nvSpPr>
        <p:spPr>
          <a:xfrm>
            <a:off x="8247888" y="2770632"/>
            <a:ext cx="3246120" cy="685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buNone/>
            </a:pPr>
            <a:r>
              <a:rPr sz="1150" b="1">
                <a:solidFill>
                  <a:srgbClr val="8A2E2E"/>
                </a:solidFill>
                <a:latin typeface="Calibri"/>
                <a:ea typeface="Calibri"/>
                <a:cs typeface="Calibri"/>
              </a:rPr>
              <a:t>Status:  </a:t>
            </a:r>
            <a:r>
              <a:rPr sz="1150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No saved run — no checkpoint or metrics</a:t>
            </a:r>
            <a:endParaRPr sz="115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86E94AF2-A335-4C83-AD6C-754CF4299AF6}"/>
              </a:ext>
            </a:extLst>
          </p:cNvPr>
          <p:cNvSpPr>
            <a:spLocks noGrp="1"/>
          </p:cNvSpPr>
          <p:nvPr/>
        </p:nvSpPr>
        <p:spPr>
          <a:xfrm>
            <a:off x="8247888" y="3566160"/>
            <a:ext cx="3246120" cy="0"/>
          </a:xfrm>
          <a:prstGeom prst="line">
            <a:avLst/>
          </a:prstGeom>
          <a:noFill/>
          <a:ln w="12700">
            <a:solidFill>
              <a:srgbClr val="CBD0D9"/>
            </a:solidFill>
            <a:prstDash val="solid"/>
          </a:ln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FAA202B7-D48A-40F5-870A-F7CEABBB9840}"/>
              </a:ext>
            </a:extLst>
          </p:cNvPr>
          <p:cNvSpPr>
            <a:spLocks noGrp="1"/>
          </p:cNvSpPr>
          <p:nvPr/>
        </p:nvSpPr>
        <p:spPr>
          <a:xfrm>
            <a:off x="8247888" y="3703320"/>
            <a:ext cx="3246120" cy="1874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22000"/>
              </a:lnSpc>
              <a:buNone/>
            </a:pPr>
            <a:r>
              <a:rPr sz="1150" i="1">
                <a:solidFill>
                  <a:srgbClr val="6B7080"/>
                </a:solidFill>
                <a:latin typeface="Calibri"/>
                <a:ea typeface="Calibri"/>
                <a:cs typeface="Calibri"/>
              </a:rPr>
              <a:t>Excluded from this report: no trained checkpoint, predictions, or run logs were available for this configuration.</a:t>
            </a:r>
            <a:endParaRPr sz="115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7879D1DC-2AE2-461A-8508-5B224EDE0FDD}"/>
              </a:ext>
            </a:extLst>
          </p:cNvPr>
          <p:cNvSpPr>
            <a:spLocks noGrp="1"/>
          </p:cNvSpPr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Khmer Automatic Speech Recognition — Final Project</a:t>
            </a:r>
            <a:endParaRPr sz="9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F6FCAAC9-1D2D-42A6-81DB-06F1B1760585}"/>
              </a:ext>
            </a:extLst>
          </p:cNvPr>
          <p:cNvSpPr>
            <a:spLocks noGrp="1"/>
          </p:cNvSpPr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3 / 9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206663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B3B70EB-2BF6-4A28-9BC5-7A40EFE4A748}"/>
              </a:ext>
            </a:extLst>
          </p:cNvPr>
          <p:cNvSpPr>
            <a:spLocks noGrp="1"/>
          </p:cNvSpPr>
          <p:nvPr/>
        </p:nvSpPr>
        <p:spPr>
          <a:xfrm>
            <a:off x="457200" y="384048"/>
            <a:ext cx="512064" cy="51206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CCE941B-6230-4231-98C6-B9401D29F3C7}"/>
              </a:ext>
            </a:extLst>
          </p:cNvPr>
          <p:cNvSpPr>
            <a:spLocks noGrp="1"/>
          </p:cNvSpPr>
          <p:nvPr/>
        </p:nvSpPr>
        <p:spPr>
          <a:xfrm>
            <a:off x="457200" y="38404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  <a:endParaRPr sz="2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F45FFC6-06C1-461D-9FD8-8EA4BC240A23}"/>
              </a:ext>
            </a:extLst>
          </p:cNvPr>
          <p:cNvSpPr>
            <a:spLocks noGrp="1"/>
          </p:cNvSpPr>
          <p:nvPr/>
        </p:nvSpPr>
        <p:spPr>
          <a:xfrm>
            <a:off x="1115568" y="347472"/>
            <a:ext cx="10607040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500" b="1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Saved Training Setup &amp; Tuning Evidence</a:t>
            </a:r>
            <a:endParaRPr sz="25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1775A22-8E81-4783-A3D1-937F12D7EB66}"/>
              </a:ext>
            </a:extLst>
          </p:cNvPr>
          <p:cNvSpPr>
            <a:spLocks noGrp="1"/>
          </p:cNvSpPr>
          <p:nvPr/>
        </p:nvSpPr>
        <p:spPr>
          <a:xfrm>
            <a:off x="457200" y="1042416"/>
            <a:ext cx="11274552" cy="0"/>
          </a:xfrm>
          <a:prstGeom prst="line">
            <a:avLst/>
          </a:prstGeom>
          <a:noFill/>
          <a:ln w="12700">
            <a:solidFill>
              <a:srgbClr val="D9DEEA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2E7BBC6-BACD-4A45-B0A9-37F3921B5B80}"/>
              </a:ext>
            </a:extLst>
          </p:cNvPr>
          <p:cNvSpPr>
            <a:spLocks noGrp="1"/>
          </p:cNvSpPr>
          <p:nvPr/>
        </p:nvSpPr>
        <p:spPr>
          <a:xfrm>
            <a:off x="457200" y="120700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Training infrastructure &amp; hardware</a:t>
            </a:r>
            <a:endParaRPr sz="14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12B8294-A58B-4860-BC59-072CFCD8F960}"/>
              </a:ext>
            </a:extLst>
          </p:cNvPr>
          <p:cNvSpPr>
            <a:spLocks noGrp="1"/>
          </p:cNvSpPr>
          <p:nvPr/>
        </p:nvSpPr>
        <p:spPr>
          <a:xfrm>
            <a:off x="457200" y="1572768"/>
            <a:ext cx="5422392" cy="2331720"/>
          </a:xfrm>
          <a:prstGeom prst="roundRect">
            <a:avLst>
              <a:gd name="adj" fmla="val 2745"/>
            </a:avLst>
          </a:prstGeom>
          <a:solidFill>
            <a:srgbClr val="F6F7FB"/>
          </a:solidFill>
          <a:ln w="12700">
            <a:solidFill>
              <a:srgbClr val="D9DEEA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2046309-8960-4E75-B46E-10EE47277EF1}"/>
              </a:ext>
            </a:extLst>
          </p:cNvPr>
          <p:cNvSpPr>
            <a:spLocks noGrp="1"/>
          </p:cNvSpPr>
          <p:nvPr/>
        </p:nvSpPr>
        <p:spPr>
          <a:xfrm>
            <a:off x="658368" y="1700784"/>
            <a:ext cx="5029200" cy="2103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2400" indent="-1524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sz="12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Original runs: Google Colab T4 GPU. Whisper warmup rerun: RTX 4050 Laptop GPU.</a:t>
            </a:r>
            <a:endParaRPr sz="1250"/>
          </a:p>
          <a:p>
            <a:pPr marL="152400" indent="-1524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sz="12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Framework: PyTorch, Transformers, Hugging Face Datasets, and Accelerate.</a:t>
            </a:r>
            <a:endParaRPr sz="1250"/>
          </a:p>
          <a:p>
            <a:pPr marL="152400" indent="-152400">
              <a:lnSpc>
                <a:spcPct val="120000"/>
              </a:lnSpc>
              <a:spcAft>
                <a:spcPts val="800"/>
              </a:spcAft>
              <a:buSzPct val="100000"/>
              <a:buChar char="●"/>
            </a:pPr>
            <a:r>
              <a:rPr sz="12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Mixed precision: FP16 used in the saved training configurations.</a:t>
            </a:r>
            <a:endParaRPr sz="1250"/>
          </a:p>
          <a:p>
            <a:pPr marL="152400" indent="-152400">
              <a:lnSpc>
                <a:spcPct val="120000"/>
              </a:lnSpc>
              <a:buSzPct val="100000"/>
              <a:buChar char="●"/>
            </a:pPr>
            <a:r>
              <a:rPr sz="12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Seed 42 set for Python, NumPy, PyTorch, and Transformers.</a:t>
            </a:r>
            <a:endParaRPr sz="125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E7B7F55-5861-4B6F-83F4-9AE682B67C69}"/>
              </a:ext>
            </a:extLst>
          </p:cNvPr>
          <p:cNvSpPr>
            <a:spLocks noGrp="1"/>
          </p:cNvSpPr>
          <p:nvPr/>
        </p:nvSpPr>
        <p:spPr>
          <a:xfrm>
            <a:off x="6309360" y="120700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Saved run settings (not a complete sweep)</a:t>
            </a:r>
            <a:endParaRPr sz="1400"/>
          </a:p>
        </p:txBody>
      </p:sp>
      <p:graphicFrame>
        <p:nvGraphicFramePr>
          <p:cNvPr id="26" name="Table 0"/>
          <p:cNvGraphicFramePr/>
          <p:nvPr/>
        </p:nvGraphicFramePr>
        <p:xfrm>
          <a:off x="6309360" y="1572768"/>
          <a:ext cx="5422392" cy="178308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84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Setting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Whisper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MMS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Epochs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15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Learning rate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1e-5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5e-5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Warmup steps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500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50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Batch size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8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Grad. accumulation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115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8</a:t>
                      </a:r>
                      <a:endParaRPr sz="115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Shape 8">
            <a:extLst>
              <a:ext uri="{FF2B5EF4-FFF2-40B4-BE49-F238E27FC236}">
                <a16:creationId xmlns:a16="http://schemas.microsoft.com/office/drawing/2014/main" id="{AE8DA51F-7971-49C8-9059-091567D8048B}"/>
              </a:ext>
            </a:extLst>
          </p:cNvPr>
          <p:cNvSpPr>
            <a:spLocks noGrp="1"/>
          </p:cNvSpPr>
          <p:nvPr/>
        </p:nvSpPr>
        <p:spPr>
          <a:xfrm>
            <a:off x="6309360" y="3456432"/>
            <a:ext cx="5422392" cy="457200"/>
          </a:xfrm>
          <a:prstGeom prst="roundRect">
            <a:avLst>
              <a:gd name="adj" fmla="val 14000"/>
            </a:avLst>
          </a:prstGeom>
          <a:solidFill>
            <a:srgbClr val="FBF2E9"/>
          </a:solidFill>
          <a:ln w="12700">
            <a:solidFill>
              <a:srgbClr val="C08A3E"/>
            </a:solidFill>
            <a:prstDash val="solid"/>
          </a:ln>
        </p:spPr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7D0C1C5F-4B9F-4FA0-90D0-97260B15EB03}"/>
              </a:ext>
            </a:extLst>
          </p:cNvPr>
          <p:cNvSpPr>
            <a:spLocks noGrp="1"/>
          </p:cNvSpPr>
          <p:nvPr/>
        </p:nvSpPr>
        <p:spPr>
          <a:xfrm>
            <a:off x="6419088" y="3456432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30">
                <a:solidFill>
                  <a:srgbClr val="7A4A17"/>
                </a:solidFill>
                <a:latin typeface="Calibri"/>
                <a:ea typeface="Calibri"/>
                <a:cs typeface="Calibri"/>
              </a:rPr>
              <a:t>MMS unfroze the top four encoder layers and CTC head/adapter; SpecAugment was enabled.</a:t>
            </a:r>
            <a:endParaRPr sz="103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DF3581D0-DD6D-4B86-804A-639380E11B60}"/>
              </a:ext>
            </a:extLst>
          </p:cNvPr>
          <p:cNvSpPr>
            <a:spLocks noGrp="1"/>
          </p:cNvSpPr>
          <p:nvPr/>
        </p:nvSpPr>
        <p:spPr>
          <a:xfrm>
            <a:off x="457200" y="4114800"/>
            <a:ext cx="11274552" cy="868680"/>
          </a:xfrm>
          <a:prstGeom prst="roundRect">
            <a:avLst>
              <a:gd name="adj" fmla="val 6316"/>
            </a:avLst>
          </a:prstGeom>
          <a:solidFill>
            <a:srgbClr val="FBF2E9"/>
          </a:solidFill>
          <a:ln w="12700">
            <a:solidFill>
              <a:srgbClr val="C08A3E"/>
            </a:solidFill>
            <a:prstDash val="solid"/>
          </a:ln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E69072DA-0AED-4D00-9ECD-E7CC409DFCAA}"/>
              </a:ext>
            </a:extLst>
          </p:cNvPr>
          <p:cNvSpPr>
            <a:spLocks noGrp="1"/>
          </p:cNvSpPr>
          <p:nvPr/>
        </p:nvSpPr>
        <p:spPr>
          <a:xfrm>
            <a:off x="658368" y="4187952"/>
            <a:ext cx="10872216" cy="72237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sz="1150" b="1">
                <a:solidFill>
                  <a:srgbClr val="7A4A17"/>
                </a:solidFill>
                <a:latin typeface="Calibri"/>
                <a:ea typeface="Calibri"/>
                <a:cs typeface="Calibri"/>
              </a:rPr>
              <a:t>Diagnostic caveat   </a:t>
            </a:r>
            <a:r>
              <a:rPr sz="1150">
                <a:solidFill>
                  <a:srgbClr val="7A4A17"/>
                </a:solidFill>
                <a:latin typeface="Calibri"/>
                <a:ea typeface="Calibri"/>
                <a:cs typeface="Calibri"/>
              </a:rPr>
              <a:t>No complete tuning sweep is saved. Original run times were not recorded; the Whisper warmup rerun took about 11 minutes.</a:t>
            </a:r>
            <a:endParaRPr sz="115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0C2BCBD0-CE13-4637-A2B1-F0F4AA5F8EC0}"/>
              </a:ext>
            </a:extLst>
          </p:cNvPr>
          <p:cNvSpPr>
            <a:spLocks noGrp="1"/>
          </p:cNvSpPr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Khmer Automatic Speech Recognition — Final Project</a:t>
            </a:r>
            <a:endParaRPr sz="90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6757C444-6385-413B-915F-9ACC4150B82E}"/>
              </a:ext>
            </a:extLst>
          </p:cNvPr>
          <p:cNvSpPr>
            <a:spLocks noGrp="1"/>
          </p:cNvSpPr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4 / 9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416348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8B6ADAB-937C-4DD5-9AD8-F8208BDA154C}"/>
              </a:ext>
            </a:extLst>
          </p:cNvPr>
          <p:cNvSpPr>
            <a:spLocks noGrp="1"/>
          </p:cNvSpPr>
          <p:nvPr/>
        </p:nvSpPr>
        <p:spPr>
          <a:xfrm>
            <a:off x="457200" y="384048"/>
            <a:ext cx="512064" cy="51206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FD00096-F8CE-4AC6-ACDE-62EB7395287B}"/>
              </a:ext>
            </a:extLst>
          </p:cNvPr>
          <p:cNvSpPr>
            <a:spLocks noGrp="1"/>
          </p:cNvSpPr>
          <p:nvPr/>
        </p:nvSpPr>
        <p:spPr>
          <a:xfrm>
            <a:off x="457200" y="38404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  <a:endParaRPr sz="2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56EB772-1137-4A60-9E80-9A8D61922028}"/>
              </a:ext>
            </a:extLst>
          </p:cNvPr>
          <p:cNvSpPr>
            <a:spLocks noGrp="1"/>
          </p:cNvSpPr>
          <p:nvPr/>
        </p:nvSpPr>
        <p:spPr>
          <a:xfrm>
            <a:off x="1115568" y="347472"/>
            <a:ext cx="10607040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500" b="1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Saved Checkpoints: Shared-Test Diagnostic</a:t>
            </a:r>
            <a:endParaRPr sz="25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7A7E0D9-3574-4559-A19C-8D609F84FEA2}"/>
              </a:ext>
            </a:extLst>
          </p:cNvPr>
          <p:cNvSpPr>
            <a:spLocks noGrp="1"/>
          </p:cNvSpPr>
          <p:nvPr/>
        </p:nvSpPr>
        <p:spPr>
          <a:xfrm>
            <a:off x="457200" y="1042416"/>
            <a:ext cx="11274552" cy="0"/>
          </a:xfrm>
          <a:prstGeom prst="line">
            <a:avLst/>
          </a:prstGeom>
          <a:noFill/>
          <a:ln w="12700">
            <a:solidFill>
              <a:srgbClr val="D9DEEA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E80843B-B978-40FD-BED9-8CF241CC2965}"/>
              </a:ext>
            </a:extLst>
          </p:cNvPr>
          <p:cNvSpPr>
            <a:spLocks noGrp="1"/>
          </p:cNvSpPr>
          <p:nvPr/>
        </p:nvSpPr>
        <p:spPr>
          <a:xfrm>
            <a:off x="457200" y="1207008"/>
            <a:ext cx="3657600" cy="914400"/>
          </a:xfrm>
          <a:prstGeom prst="roundRect">
            <a:avLst>
              <a:gd name="adj" fmla="val 7000"/>
            </a:avLst>
          </a:prstGeom>
          <a:solidFill>
            <a:srgbClr val="E3EA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6A6FD54-678A-4E25-9CB2-8AEAC75D8543}"/>
              </a:ext>
            </a:extLst>
          </p:cNvPr>
          <p:cNvSpPr>
            <a:spLocks noGrp="1"/>
          </p:cNvSpPr>
          <p:nvPr/>
        </p:nvSpPr>
        <p:spPr>
          <a:xfrm>
            <a:off x="457200" y="1243584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6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83.89%</a:t>
            </a:r>
            <a:endParaRPr sz="26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367A763-7B92-4764-A6DA-F0CA365B6F0F}"/>
              </a:ext>
            </a:extLst>
          </p:cNvPr>
          <p:cNvSpPr>
            <a:spLocks noGrp="1"/>
          </p:cNvSpPr>
          <p:nvPr/>
        </p:nvSpPr>
        <p:spPr>
          <a:xfrm>
            <a:off x="457200" y="173736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Whisper — original  (CER, n = 200)</a:t>
            </a:r>
            <a:endParaRPr sz="12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D4C933F-A561-42AC-8154-1626CDCEA698}"/>
              </a:ext>
            </a:extLst>
          </p:cNvPr>
          <p:cNvSpPr>
            <a:spLocks noGrp="1"/>
          </p:cNvSpPr>
          <p:nvPr/>
        </p:nvSpPr>
        <p:spPr>
          <a:xfrm>
            <a:off x="4261104" y="1207008"/>
            <a:ext cx="3657600" cy="914400"/>
          </a:xfrm>
          <a:prstGeom prst="roundRect">
            <a:avLst>
              <a:gd name="adj" fmla="val 7000"/>
            </a:avLst>
          </a:prstGeom>
          <a:solidFill>
            <a:srgbClr val="E3EA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BAD85A4-D623-4337-9330-B3ABD9E7A01C}"/>
              </a:ext>
            </a:extLst>
          </p:cNvPr>
          <p:cNvSpPr>
            <a:spLocks noGrp="1"/>
          </p:cNvSpPr>
          <p:nvPr/>
        </p:nvSpPr>
        <p:spPr>
          <a:xfrm>
            <a:off x="4261104" y="1243584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6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83.67%</a:t>
            </a:r>
            <a:endParaRPr sz="26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CF1C078-DE94-4DCD-BE6C-368215A23D26}"/>
              </a:ext>
            </a:extLst>
          </p:cNvPr>
          <p:cNvSpPr>
            <a:spLocks noGrp="1"/>
          </p:cNvSpPr>
          <p:nvPr/>
        </p:nvSpPr>
        <p:spPr>
          <a:xfrm>
            <a:off x="4261104" y="173736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Whisper — rerun (warmup 35)  (CER, n = 200)</a:t>
            </a:r>
            <a:endParaRPr sz="120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82CA2A6-992C-4231-865F-D02CAC0EDE52}"/>
              </a:ext>
            </a:extLst>
          </p:cNvPr>
          <p:cNvSpPr>
            <a:spLocks noGrp="1"/>
          </p:cNvSpPr>
          <p:nvPr/>
        </p:nvSpPr>
        <p:spPr>
          <a:xfrm>
            <a:off x="8065008" y="1207008"/>
            <a:ext cx="3657600" cy="914400"/>
          </a:xfrm>
          <a:prstGeom prst="roundRect">
            <a:avLst>
              <a:gd name="adj" fmla="val 7000"/>
            </a:avLst>
          </a:prstGeom>
          <a:solidFill>
            <a:srgbClr val="E6F3EE"/>
          </a:solidFill>
          <a:ln w="12700">
            <a:solidFill>
              <a:srgbClr val="1E7A5F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5AAFE56-126F-4693-BAA8-2DC77EB259C9}"/>
              </a:ext>
            </a:extLst>
          </p:cNvPr>
          <p:cNvSpPr>
            <a:spLocks noGrp="1"/>
          </p:cNvSpPr>
          <p:nvPr/>
        </p:nvSpPr>
        <p:spPr>
          <a:xfrm>
            <a:off x="8065008" y="1243584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600" b="1">
                <a:solidFill>
                  <a:srgbClr val="1E7A5F"/>
                </a:solidFill>
                <a:latin typeface="Cambria"/>
                <a:ea typeface="Cambria"/>
                <a:cs typeface="Cambria"/>
              </a:rPr>
              <a:t>15.96%</a:t>
            </a:r>
            <a:endParaRPr sz="26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6414D1E-13E9-461C-A611-955917EDAF0B}"/>
              </a:ext>
            </a:extLst>
          </p:cNvPr>
          <p:cNvSpPr>
            <a:spLocks noGrp="1"/>
          </p:cNvSpPr>
          <p:nvPr/>
        </p:nvSpPr>
        <p:spPr>
          <a:xfrm>
            <a:off x="8065008" y="1737360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2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MMS — CTC  (CER, n = 200)</a:t>
            </a:r>
            <a:endParaRPr sz="1200"/>
          </a:p>
        </p:txBody>
      </p:sp>
      <p:graphicFrame>
        <p:nvGraphicFramePr>
          <p:cNvPr id="38" name="Table 0"/>
          <p:cNvGraphicFramePr/>
          <p:nvPr>
            <p:extLst>
              <p:ext uri="{D42A27DB-BD31-4B8C-83A1-F6EECF244321}">
                <p14:modId xmlns:p14="http://schemas.microsoft.com/office/powerpoint/2010/main" val="2391098430"/>
              </p:ext>
            </p:extLst>
          </p:nvPr>
        </p:nvGraphicFramePr>
        <p:xfrm>
          <a:off x="457200" y="2331720"/>
          <a:ext cx="11274552" cy="1325880"/>
        </p:xfrm>
        <a:graphic>
          <a:graphicData uri="http://schemas.openxmlformats.org/drawingml/2006/table">
            <a:tbl>
              <a:tblPr/>
              <a:tblGrid>
                <a:gridCol w="153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Approach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Model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Training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Params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Train / val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Epochs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CER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Test n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Whisper original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Whisper-Tiny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Full tuning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37.8M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~941 / ~189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83.89%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200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MMS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MMS-1B CTC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Top 4 + head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79.1M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≤1000 / ≤200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15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15.96%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200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Whisper rerun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Whisper-Tiny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Full; warmup 35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37.8M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941 / 189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 b="1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83.67%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200">
                          <a:solidFill>
                            <a:srgbClr val="222633"/>
                          </a:solidFill>
                          <a:latin typeface="Calibri"/>
                          <a:ea typeface="Calibri"/>
                          <a:cs typeface="Calibri"/>
                        </a:rPr>
                        <a:t>200</a:t>
                      </a:r>
                      <a:endParaRPr sz="12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9525" cmpd="sng">
                      <a:solidFill>
                        <a:srgbClr val="D9DEEA"/>
                      </a:solidFill>
                      <a:prstDash val="solid"/>
                    </a:lnL>
                    <a:lnR w="9525" cmpd="sng">
                      <a:solidFill>
                        <a:srgbClr val="D9DEEA"/>
                      </a:solidFill>
                      <a:prstDash val="solid"/>
                    </a:lnR>
                    <a:lnT w="9525" cmpd="sng">
                      <a:solidFill>
                        <a:srgbClr val="D9DEEA"/>
                      </a:solidFill>
                      <a:prstDash val="solid"/>
                    </a:lnT>
                    <a:lnB w="9525" cmpd="sng">
                      <a:solidFill>
                        <a:srgbClr val="D9DE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Shape 13">
            <a:extLst>
              <a:ext uri="{FF2B5EF4-FFF2-40B4-BE49-F238E27FC236}">
                <a16:creationId xmlns:a16="http://schemas.microsoft.com/office/drawing/2014/main" id="{8A4F9526-D8C2-4C24-BBC0-ADB28325A943}"/>
              </a:ext>
            </a:extLst>
          </p:cNvPr>
          <p:cNvSpPr>
            <a:spLocks noGrp="1"/>
          </p:cNvSpPr>
          <p:nvPr/>
        </p:nvSpPr>
        <p:spPr>
          <a:xfrm>
            <a:off x="457200" y="3822192"/>
            <a:ext cx="11274552" cy="804672"/>
          </a:xfrm>
          <a:prstGeom prst="roundRect">
            <a:avLst>
              <a:gd name="adj" fmla="val 7955"/>
            </a:avLst>
          </a:prstGeom>
          <a:solidFill>
            <a:srgbClr val="F6F7FB"/>
          </a:solidFill>
          <a:ln w="12700">
            <a:solidFill>
              <a:srgbClr val="D9DEEA"/>
            </a:solidFill>
            <a:prstDash val="solid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055F9770-0E98-44DD-BACB-23DDA58F67E1}"/>
              </a:ext>
            </a:extLst>
          </p:cNvPr>
          <p:cNvSpPr>
            <a:spLocks noGrp="1"/>
          </p:cNvSpPr>
          <p:nvPr/>
        </p:nvSpPr>
        <p:spPr>
          <a:xfrm>
            <a:off x="658368" y="3886200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20000"/>
              </a:lnSpc>
              <a:buNone/>
            </a:pPr>
            <a:r>
              <a:rPr sz="13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All three checkpoints were scored on the first 200 FLEURS test rows. </a:t>
            </a:r>
            <a:r>
              <a:rPr sz="1350" b="1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The Whisper rerun saved 59 character edits</a:t>
            </a:r>
            <a:r>
              <a:rPr sz="13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 relative to the original run.</a:t>
            </a:r>
            <a:endParaRPr sz="135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47947189-7A27-4E95-AF18-D0F929376FA0}"/>
              </a:ext>
            </a:extLst>
          </p:cNvPr>
          <p:cNvSpPr>
            <a:spLocks noGrp="1"/>
          </p:cNvSpPr>
          <p:nvPr/>
        </p:nvSpPr>
        <p:spPr>
          <a:xfrm>
            <a:off x="457200" y="4773168"/>
            <a:ext cx="11274552" cy="960120"/>
          </a:xfrm>
          <a:prstGeom prst="roundRect">
            <a:avLst>
              <a:gd name="adj" fmla="val 5714"/>
            </a:avLst>
          </a:prstGeom>
          <a:solidFill>
            <a:srgbClr val="FBF2E9"/>
          </a:solidFill>
          <a:ln w="12700">
            <a:solidFill>
              <a:srgbClr val="C08A3E"/>
            </a:solidFill>
            <a:prstDash val="solid"/>
          </a:ln>
        </p:spPr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7496531D-017B-4CF3-99C5-394A9D682EE4}"/>
              </a:ext>
            </a:extLst>
          </p:cNvPr>
          <p:cNvSpPr>
            <a:spLocks noGrp="1"/>
          </p:cNvSpPr>
          <p:nvPr/>
        </p:nvSpPr>
        <p:spPr>
          <a:xfrm>
            <a:off x="658368" y="4846320"/>
            <a:ext cx="10872216" cy="8138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sz="1350" b="1">
                <a:solidFill>
                  <a:srgbClr val="7A4A17"/>
                </a:solidFill>
                <a:latin typeface="Calibri"/>
                <a:ea typeface="Calibri"/>
                <a:cs typeface="Calibri"/>
              </a:rPr>
              <a:t>Diagnostic caveat   </a:t>
            </a:r>
            <a:r>
              <a:rPr sz="1350">
                <a:solidFill>
                  <a:srgbClr val="7A4A17"/>
                </a:solidFill>
                <a:latin typeface="Calibri"/>
                <a:ea typeface="Calibri"/>
                <a:cs typeface="Calibri"/>
              </a:rPr>
              <a:t>Training selections and filters differed across architecture runs, so these scores are diagnostic, not a controlled ranking of architectures.</a:t>
            </a:r>
            <a:endParaRPr sz="135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9030E7E9-E50D-4234-A8B3-48BF4984310D}"/>
              </a:ext>
            </a:extLst>
          </p:cNvPr>
          <p:cNvSpPr>
            <a:spLocks noGrp="1"/>
          </p:cNvSpPr>
          <p:nvPr/>
        </p:nvSpPr>
        <p:spPr>
          <a:xfrm>
            <a:off x="457200" y="5870448"/>
            <a:ext cx="11274552" cy="530352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D9DEEA"/>
            </a:solidFill>
            <a:prstDash val="solid"/>
          </a:ln>
        </p:spPr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23B2240B-123C-4410-98CC-E8C739159668}"/>
              </a:ext>
            </a:extLst>
          </p:cNvPr>
          <p:cNvSpPr>
            <a:spLocks noGrp="1"/>
          </p:cNvSpPr>
          <p:nvPr/>
        </p:nvSpPr>
        <p:spPr>
          <a:xfrm>
            <a:off x="621792" y="5870448"/>
            <a:ext cx="10972800" cy="53035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950" i="1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CER values are rounded to two decimals. Scoring uses NFC normalization and removes whitespace.</a:t>
            </a:r>
            <a:endParaRPr sz="95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94158122-C127-4A64-928F-9DE8D77D8E7F}"/>
              </a:ext>
            </a:extLst>
          </p:cNvPr>
          <p:cNvSpPr>
            <a:spLocks noGrp="1"/>
          </p:cNvSpPr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Khmer Automatic Speech Recognition — Final Project</a:t>
            </a:r>
            <a:endParaRPr sz="90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5234A559-6DC9-4885-A632-2016373DC9FE}"/>
              </a:ext>
            </a:extLst>
          </p:cNvPr>
          <p:cNvSpPr>
            <a:spLocks noGrp="1"/>
          </p:cNvSpPr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5 / 9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859977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30D6435-23C2-47FF-9039-C0FE1724AAB8}"/>
              </a:ext>
            </a:extLst>
          </p:cNvPr>
          <p:cNvSpPr>
            <a:spLocks noGrp="1"/>
          </p:cNvSpPr>
          <p:nvPr/>
        </p:nvSpPr>
        <p:spPr>
          <a:xfrm>
            <a:off x="457200" y="384048"/>
            <a:ext cx="512064" cy="51206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76ED86D-C374-4405-8081-F91E5C89FA19}"/>
              </a:ext>
            </a:extLst>
          </p:cNvPr>
          <p:cNvSpPr>
            <a:spLocks noGrp="1"/>
          </p:cNvSpPr>
          <p:nvPr/>
        </p:nvSpPr>
        <p:spPr>
          <a:xfrm>
            <a:off x="457200" y="38404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</a:t>
            </a:r>
            <a:endParaRPr sz="2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D498AF9-F813-4397-A085-3D0ACBA28C34}"/>
              </a:ext>
            </a:extLst>
          </p:cNvPr>
          <p:cNvSpPr>
            <a:spLocks noGrp="1"/>
          </p:cNvSpPr>
          <p:nvPr/>
        </p:nvSpPr>
        <p:spPr>
          <a:xfrm>
            <a:off x="1115568" y="347472"/>
            <a:ext cx="10607040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500" b="1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Learning Curves &amp; Error Rate Comparison</a:t>
            </a:r>
            <a:endParaRPr sz="25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091F159-47EC-4E03-8F02-1E2B1E2F5333}"/>
              </a:ext>
            </a:extLst>
          </p:cNvPr>
          <p:cNvSpPr>
            <a:spLocks noGrp="1"/>
          </p:cNvSpPr>
          <p:nvPr/>
        </p:nvSpPr>
        <p:spPr>
          <a:xfrm>
            <a:off x="457200" y="1042416"/>
            <a:ext cx="11274552" cy="0"/>
          </a:xfrm>
          <a:prstGeom prst="line">
            <a:avLst/>
          </a:prstGeom>
          <a:noFill/>
          <a:ln w="12700">
            <a:solidFill>
              <a:srgbClr val="D9DEEA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4951887-8791-423C-ADB3-FC0617EEF594}"/>
              </a:ext>
            </a:extLst>
          </p:cNvPr>
          <p:cNvSpPr>
            <a:spLocks noGrp="1"/>
          </p:cNvSpPr>
          <p:nvPr/>
        </p:nvSpPr>
        <p:spPr>
          <a:xfrm>
            <a:off x="457200" y="1234440"/>
            <a:ext cx="5989320" cy="3703320"/>
          </a:xfrm>
          <a:prstGeom prst="roundRect">
            <a:avLst>
              <a:gd name="adj" fmla="val 1728"/>
            </a:avLst>
          </a:prstGeom>
          <a:solidFill>
            <a:srgbClr val="FFFFFF"/>
          </a:solidFill>
          <a:ln w="12700">
            <a:solidFill>
              <a:srgbClr val="D9DEEA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FB55B1E4-C656-4098-A3CD-09655E719DE7}"/>
              </a:ext>
            </a:extLst>
          </p:cNvPr>
          <p:cNvSpPr>
            <a:spLocks noGrp="1"/>
          </p:cNvSpPr>
          <p:nvPr/>
        </p:nvSpPr>
        <p:spPr>
          <a:xfrm>
            <a:off x="585216" y="4480560"/>
            <a:ext cx="5733288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0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Saved Whisper loss and validation-CER history</a:t>
            </a:r>
            <a:endParaRPr sz="105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D70F917C-D4C7-4AF5-B04A-082BB9B09D17}"/>
              </a:ext>
            </a:extLst>
          </p:cNvPr>
          <p:cNvSpPr>
            <a:spLocks noGrp="1"/>
          </p:cNvSpPr>
          <p:nvPr/>
        </p:nvSpPr>
        <p:spPr>
          <a:xfrm>
            <a:off x="6583680" y="1234440"/>
            <a:ext cx="5148072" cy="3703320"/>
          </a:xfrm>
          <a:prstGeom prst="roundRect">
            <a:avLst>
              <a:gd name="adj" fmla="val 1728"/>
            </a:avLst>
          </a:prstGeom>
          <a:solidFill>
            <a:srgbClr val="FFFFFF"/>
          </a:solidFill>
          <a:ln w="12700">
            <a:solidFill>
              <a:srgbClr val="D9DEEA"/>
            </a:solidFill>
            <a:prstDash val="solid"/>
          </a:ln>
        </p:spPr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33ADEE2E-4BB7-42EA-99E3-32E6FBAB6638}"/>
              </a:ext>
            </a:extLst>
          </p:cNvPr>
          <p:cNvSpPr>
            <a:spLocks noGrp="1"/>
          </p:cNvSpPr>
          <p:nvPr/>
        </p:nvSpPr>
        <p:spPr>
          <a:xfrm>
            <a:off x="6766560" y="1325880"/>
            <a:ext cx="480060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1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Saved checkpoints on the first 200 FLEURS test rows</a:t>
            </a:r>
            <a:endParaRPr sz="1100"/>
          </a:p>
        </p:txBody>
      </p:sp>
      <p:graphicFrame>
        <p:nvGraphicFramePr>
          <p:cNvPr id="27" name="Chart 0"/>
          <p:cNvGraphicFramePr/>
          <p:nvPr>
            <p:extLst>
              <p:ext uri="{D42A27DB-BD31-4B8C-83A1-F6EECF244321}">
                <p14:modId xmlns:p14="http://schemas.microsoft.com/office/powerpoint/2010/main" val="3932098766"/>
              </p:ext>
            </p:extLst>
          </p:nvPr>
        </p:nvGraphicFramePr>
        <p:xfrm>
          <a:off x="6720840" y="1645920"/>
          <a:ext cx="48920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Shape 8">
            <a:extLst>
              <a:ext uri="{FF2B5EF4-FFF2-40B4-BE49-F238E27FC236}">
                <a16:creationId xmlns:a16="http://schemas.microsoft.com/office/drawing/2014/main" id="{A9CD9FD6-B760-4CA7-ACAA-513028A7BF16}"/>
              </a:ext>
            </a:extLst>
          </p:cNvPr>
          <p:cNvSpPr>
            <a:spLocks noGrp="1"/>
          </p:cNvSpPr>
          <p:nvPr/>
        </p:nvSpPr>
        <p:spPr>
          <a:xfrm>
            <a:off x="457200" y="5102352"/>
            <a:ext cx="11274552" cy="1170432"/>
          </a:xfrm>
          <a:prstGeom prst="roundRect">
            <a:avLst>
              <a:gd name="adj" fmla="val 5469"/>
            </a:avLst>
          </a:prstGeom>
          <a:solidFill>
            <a:srgbClr val="F6F7FB"/>
          </a:solidFill>
          <a:ln w="12700">
            <a:solidFill>
              <a:srgbClr val="D9DEEA"/>
            </a:solidFill>
            <a:prstDash val="solid"/>
          </a:ln>
        </p:spPr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68F3685B-68A5-49C7-8D2D-1855A016484D}"/>
              </a:ext>
            </a:extLst>
          </p:cNvPr>
          <p:cNvSpPr>
            <a:spLocks noGrp="1"/>
          </p:cNvSpPr>
          <p:nvPr/>
        </p:nvSpPr>
        <p:spPr>
          <a:xfrm>
            <a:off x="658368" y="5193792"/>
            <a:ext cx="1088136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>
              <a:lnSpc>
                <a:spcPct val="122000"/>
              </a:lnSpc>
              <a:buNone/>
            </a:pPr>
            <a:r>
              <a:rPr sz="113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Left:  </a:t>
            </a:r>
            <a:r>
              <a:rPr sz="113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historical validation CER retained spaces; current test CER removes them, so the two are not directly comparable. MMS trainer history was not retained.
</a:t>
            </a:r>
            <a:r>
              <a:rPr sz="113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Right:  </a:t>
            </a:r>
            <a:r>
              <a:rPr sz="113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both checkpoints are scored on the same 200 test rows, but different training subsets limit interpretation.</a:t>
            </a:r>
            <a:endParaRPr sz="113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F5EA7740-7568-4BB7-B0BF-793AB2D44273}"/>
              </a:ext>
            </a:extLst>
          </p:cNvPr>
          <p:cNvSpPr>
            <a:spLocks noGrp="1"/>
          </p:cNvSpPr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Khmer Automatic Speech Recognition — Final Project</a:t>
            </a:r>
            <a:endParaRPr sz="90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AD2956C4-DA08-486F-98F5-C8F80FDA9436}"/>
              </a:ext>
            </a:extLst>
          </p:cNvPr>
          <p:cNvSpPr>
            <a:spLocks noGrp="1"/>
          </p:cNvSpPr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6 / 9</a:t>
            </a:r>
            <a:endParaRPr sz="900"/>
          </a:p>
        </p:txBody>
      </p:sp>
      <p:pic>
        <p:nvPicPr>
          <p:cNvPr id="11" name="Whisper learning curve">
            <a:extLst>
              <a:ext uri="{FF2B5EF4-FFF2-40B4-BE49-F238E27FC236}">
                <a16:creationId xmlns:a16="http://schemas.microsoft.com/office/drawing/2014/main" id="{E2158F32-65EA-3988-66EF-9C955763B1AA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216" y="1344168"/>
            <a:ext cx="5733288" cy="3099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373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6A57F36-D17B-4C19-853C-76E823B90484}"/>
              </a:ext>
            </a:extLst>
          </p:cNvPr>
          <p:cNvSpPr>
            <a:spLocks noGrp="1"/>
          </p:cNvSpPr>
          <p:nvPr/>
        </p:nvSpPr>
        <p:spPr>
          <a:xfrm>
            <a:off x="457200" y="384048"/>
            <a:ext cx="512064" cy="51206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F7C1B6D-CB55-418F-A35D-CF736CC4DA53}"/>
              </a:ext>
            </a:extLst>
          </p:cNvPr>
          <p:cNvSpPr>
            <a:spLocks noGrp="1"/>
          </p:cNvSpPr>
          <p:nvPr/>
        </p:nvSpPr>
        <p:spPr>
          <a:xfrm>
            <a:off x="457200" y="38404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6</a:t>
            </a:r>
            <a:endParaRPr sz="2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0E31F0C-CE40-40EE-8549-A07A738E6336}"/>
              </a:ext>
            </a:extLst>
          </p:cNvPr>
          <p:cNvSpPr>
            <a:spLocks noGrp="1"/>
          </p:cNvSpPr>
          <p:nvPr/>
        </p:nvSpPr>
        <p:spPr>
          <a:xfrm>
            <a:off x="1115568" y="347472"/>
            <a:ext cx="10607040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500" b="1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Error Analysis: FLEURS and Live Voices</a:t>
            </a:r>
            <a:endParaRPr sz="25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D8F463C-5983-47C0-BA07-77D7BE84986F}"/>
              </a:ext>
            </a:extLst>
          </p:cNvPr>
          <p:cNvSpPr>
            <a:spLocks noGrp="1"/>
          </p:cNvSpPr>
          <p:nvPr/>
        </p:nvSpPr>
        <p:spPr>
          <a:xfrm>
            <a:off x="457200" y="1042416"/>
            <a:ext cx="11274552" cy="0"/>
          </a:xfrm>
          <a:prstGeom prst="line">
            <a:avLst/>
          </a:prstGeom>
          <a:noFill/>
          <a:ln w="12700">
            <a:solidFill>
              <a:srgbClr val="D9DEEA"/>
            </a:solidFill>
            <a:prstDash val="solid"/>
          </a:ln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1906BA5-47CB-4E51-AFFD-9524E53F0D9E}"/>
              </a:ext>
            </a:extLst>
          </p:cNvPr>
          <p:cNvSpPr>
            <a:spLocks noGrp="1"/>
          </p:cNvSpPr>
          <p:nvPr/>
        </p:nvSpPr>
        <p:spPr>
          <a:xfrm>
            <a:off x="457200" y="1188720"/>
            <a:ext cx="109728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Whisper errors on 200 FLEURS test clips</a:t>
            </a:r>
            <a:endParaRPr sz="14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51B9687-7E55-4D2D-98B6-00120FC97A9E}"/>
              </a:ext>
            </a:extLst>
          </p:cNvPr>
          <p:cNvSpPr>
            <a:spLocks noGrp="1"/>
          </p:cNvSpPr>
          <p:nvPr/>
        </p:nvSpPr>
        <p:spPr>
          <a:xfrm>
            <a:off x="457200" y="1572768"/>
            <a:ext cx="3657600" cy="960120"/>
          </a:xfrm>
          <a:prstGeom prst="roundRect">
            <a:avLst>
              <a:gd name="adj" fmla="val 6667"/>
            </a:avLst>
          </a:prstGeom>
          <a:solidFill>
            <a:srgbClr val="E3EA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895833B-F30D-4AB7-BA2F-CE9A5259AB38}"/>
              </a:ext>
            </a:extLst>
          </p:cNvPr>
          <p:cNvSpPr>
            <a:spLocks noGrp="1"/>
          </p:cNvSpPr>
          <p:nvPr/>
        </p:nvSpPr>
        <p:spPr>
          <a:xfrm>
            <a:off x="457200" y="1627632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5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13,424</a:t>
            </a:r>
            <a:endParaRPr sz="25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B27DE48-C06D-48BA-B405-5210BB2A0EB4}"/>
              </a:ext>
            </a:extLst>
          </p:cNvPr>
          <p:cNvSpPr>
            <a:spLocks noGrp="1"/>
          </p:cNvSpPr>
          <p:nvPr/>
        </p:nvSpPr>
        <p:spPr>
          <a:xfrm>
            <a:off x="457200" y="2130552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Substitutions</a:t>
            </a:r>
            <a:endParaRPr sz="11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CF4199C-193A-4AB6-B9BB-815C19EE4124}"/>
              </a:ext>
            </a:extLst>
          </p:cNvPr>
          <p:cNvSpPr>
            <a:spLocks noGrp="1"/>
          </p:cNvSpPr>
          <p:nvPr/>
        </p:nvSpPr>
        <p:spPr>
          <a:xfrm>
            <a:off x="4261104" y="1572768"/>
            <a:ext cx="3657600" cy="960120"/>
          </a:xfrm>
          <a:prstGeom prst="roundRect">
            <a:avLst>
              <a:gd name="adj" fmla="val 6667"/>
            </a:avLst>
          </a:prstGeom>
          <a:solidFill>
            <a:srgbClr val="E3EA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B0F34A1-0EB1-44E7-B8B7-03D1C39B2B3E}"/>
              </a:ext>
            </a:extLst>
          </p:cNvPr>
          <p:cNvSpPr>
            <a:spLocks noGrp="1"/>
          </p:cNvSpPr>
          <p:nvPr/>
        </p:nvSpPr>
        <p:spPr>
          <a:xfrm>
            <a:off x="4261104" y="1627632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5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8,741</a:t>
            </a:r>
            <a:endParaRPr sz="25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7593A59-79BB-46DF-928D-D8347D9E90EC}"/>
              </a:ext>
            </a:extLst>
          </p:cNvPr>
          <p:cNvSpPr>
            <a:spLocks noGrp="1"/>
          </p:cNvSpPr>
          <p:nvPr/>
        </p:nvSpPr>
        <p:spPr>
          <a:xfrm>
            <a:off x="4261104" y="2130552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Deletions</a:t>
            </a:r>
            <a:endParaRPr sz="11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2CEFF82-55EA-4C5B-B901-CAF1B9D3303D}"/>
              </a:ext>
            </a:extLst>
          </p:cNvPr>
          <p:cNvSpPr>
            <a:spLocks noGrp="1"/>
          </p:cNvSpPr>
          <p:nvPr/>
        </p:nvSpPr>
        <p:spPr>
          <a:xfrm>
            <a:off x="8065008" y="1572768"/>
            <a:ext cx="3657600" cy="960120"/>
          </a:xfrm>
          <a:prstGeom prst="roundRect">
            <a:avLst>
              <a:gd name="adj" fmla="val 6667"/>
            </a:avLst>
          </a:prstGeom>
          <a:solidFill>
            <a:srgbClr val="E3EA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0F30800-A877-4220-AF58-43C8F5E3B6BB}"/>
              </a:ext>
            </a:extLst>
          </p:cNvPr>
          <p:cNvSpPr>
            <a:spLocks noGrp="1"/>
          </p:cNvSpPr>
          <p:nvPr/>
        </p:nvSpPr>
        <p:spPr>
          <a:xfrm>
            <a:off x="8065008" y="1627632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5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286</a:t>
            </a:r>
            <a:endParaRPr sz="25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319B944-883F-4A75-B851-E32F217155A5}"/>
              </a:ext>
            </a:extLst>
          </p:cNvPr>
          <p:cNvSpPr>
            <a:spLocks noGrp="1"/>
          </p:cNvSpPr>
          <p:nvPr/>
        </p:nvSpPr>
        <p:spPr>
          <a:xfrm>
            <a:off x="8065008" y="2130552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1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Insertions</a:t>
            </a:r>
            <a:endParaRPr sz="110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88807FC-2152-4371-853B-8584D4E69B95}"/>
              </a:ext>
            </a:extLst>
          </p:cNvPr>
          <p:cNvSpPr>
            <a:spLocks noGrp="1"/>
          </p:cNvSpPr>
          <p:nvPr/>
        </p:nvSpPr>
        <p:spPr>
          <a:xfrm>
            <a:off x="457200" y="2761488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MMS on student recordings</a:t>
            </a:r>
            <a:endParaRPr sz="135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CA4E067A-A468-4C99-BDF6-0619E01FEF4F}"/>
              </a:ext>
            </a:extLst>
          </p:cNvPr>
          <p:cNvSpPr>
            <a:spLocks noGrp="1"/>
          </p:cNvSpPr>
          <p:nvPr/>
        </p:nvSpPr>
        <p:spPr>
          <a:xfrm>
            <a:off x="457200" y="3108960"/>
            <a:ext cx="11274552" cy="685800"/>
          </a:xfrm>
          <a:prstGeom prst="roundRect">
            <a:avLst>
              <a:gd name="adj" fmla="val 9333"/>
            </a:avLst>
          </a:prstGeom>
          <a:solidFill>
            <a:srgbClr val="F6F7FB"/>
          </a:solidFill>
          <a:ln w="12700">
            <a:solidFill>
              <a:srgbClr val="D9DEEA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61DD70F-D1E4-4FE0-991D-598519ACD641}"/>
              </a:ext>
            </a:extLst>
          </p:cNvPr>
          <p:cNvSpPr>
            <a:spLocks noGrp="1"/>
          </p:cNvSpPr>
          <p:nvPr/>
        </p:nvSpPr>
        <p:spPr>
          <a:xfrm>
            <a:off x="658368" y="3108960"/>
            <a:ext cx="10881360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25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Names and numbers appear in several high-error clips. A separate eleventh recording lacks a reference and was not scored.</a:t>
            </a:r>
            <a:endParaRPr sz="125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59E4B1E-3F27-4AD0-A4CC-BC999BD3C5D9}"/>
              </a:ext>
            </a:extLst>
          </p:cNvPr>
          <p:cNvSpPr>
            <a:spLocks noGrp="1"/>
          </p:cNvSpPr>
          <p:nvPr/>
        </p:nvSpPr>
        <p:spPr>
          <a:xfrm>
            <a:off x="457200" y="3950208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Live audio experiment</a:t>
            </a:r>
            <a:endParaRPr sz="135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EE2D4CCF-3577-40AE-9B4D-A14828962C16}"/>
              </a:ext>
            </a:extLst>
          </p:cNvPr>
          <p:cNvSpPr>
            <a:spLocks noGrp="1"/>
          </p:cNvSpPr>
          <p:nvPr/>
        </p:nvSpPr>
        <p:spPr>
          <a:xfrm>
            <a:off x="457200" y="4279392"/>
            <a:ext cx="11274552" cy="1051560"/>
          </a:xfrm>
          <a:prstGeom prst="roundRect">
            <a:avLst>
              <a:gd name="adj" fmla="val 608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FB991AA-A600-4210-B738-024370C822A7}"/>
              </a:ext>
            </a:extLst>
          </p:cNvPr>
          <p:cNvSpPr>
            <a:spLocks noGrp="1"/>
          </p:cNvSpPr>
          <p:nvPr/>
        </p:nvSpPr>
        <p:spPr>
          <a:xfrm>
            <a:off x="731520" y="4407408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lnSpc>
                <a:spcPct val="130000"/>
              </a:lnSpc>
              <a:buNone/>
            </a:pPr>
            <a:r>
              <a:rPr sz="1250" b="1">
                <a:solidFill>
                  <a:srgbClr val="B8892B"/>
                </a:solidFill>
                <a:latin typeface="Calibri"/>
                <a:ea typeface="Calibri"/>
                <a:cs typeface="Calibri"/>
              </a:rPr>
              <a:t>Full clips:  </a:t>
            </a: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24.17% CER on 10 recordings.
</a:t>
            </a:r>
            <a:r>
              <a:rPr sz="1250" b="1">
                <a:solidFill>
                  <a:srgbClr val="B8892B"/>
                </a:solidFill>
                <a:latin typeface="Calibri"/>
                <a:ea typeface="Calibri"/>
                <a:cs typeface="Calibri"/>
              </a:rPr>
              <a:t>Pause-based split:  </a:t>
            </a: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25.83% CER; not adopted.</a:t>
            </a:r>
            <a:r>
              <a:rPr sz="1250">
                <a:solidFill>
                  <a:srgbClr val="FFFFFF"/>
                </a:solidFill>
                <a:latin typeface="Khmer OS Battambang"/>
                <a:ea typeface="Khmer OS Battambang"/>
                <a:cs typeface="Khmer OS Battambang"/>
              </a:rPr>
              <a:t/>
            </a: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/>
            </a:r>
            <a:endParaRPr sz="125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280A7BA4-5A1D-4D92-B7A0-51594588BACF}"/>
              </a:ext>
            </a:extLst>
          </p:cNvPr>
          <p:cNvSpPr>
            <a:spLocks noGrp="1"/>
          </p:cNvSpPr>
          <p:nvPr/>
        </p:nvSpPr>
        <p:spPr>
          <a:xfrm>
            <a:off x="457200" y="5486400"/>
            <a:ext cx="11274552" cy="896112"/>
          </a:xfrm>
          <a:prstGeom prst="roundRect">
            <a:avLst>
              <a:gd name="adj" fmla="val 6122"/>
            </a:avLst>
          </a:prstGeom>
          <a:solidFill>
            <a:srgbClr val="FBF2E9"/>
          </a:solidFill>
          <a:ln w="12700">
            <a:solidFill>
              <a:srgbClr val="C08A3E"/>
            </a:solidFill>
            <a:prstDash val="solid"/>
          </a:ln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7F1F07D7-33CC-43CF-AF0D-28EFEC3CD885}"/>
              </a:ext>
            </a:extLst>
          </p:cNvPr>
          <p:cNvSpPr>
            <a:spLocks noGrp="1"/>
          </p:cNvSpPr>
          <p:nvPr/>
        </p:nvSpPr>
        <p:spPr>
          <a:xfrm>
            <a:off x="658368" y="5559552"/>
            <a:ext cx="10872216" cy="7498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sz="1150" b="1">
                <a:solidFill>
                  <a:srgbClr val="7A4A17"/>
                </a:solidFill>
                <a:latin typeface="Calibri"/>
                <a:ea typeface="Calibri"/>
                <a:cs typeface="Calibri"/>
              </a:rPr>
              <a:t>Diagnostic caveat   </a:t>
            </a:r>
            <a:r>
              <a:rPr sz="1150">
                <a:solidFill>
                  <a:srgbClr val="7A4A17"/>
                </a:solidFill>
                <a:latin typeface="Calibri"/>
                <a:ea typeface="Calibri"/>
                <a:cs typeface="Calibri"/>
              </a:rPr>
              <a:t>Live references came from student-provided text and still need audio verification. One extra clip has no reference.</a:t>
            </a:r>
            <a:endParaRPr sz="115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7DBD156D-81B3-43C7-8306-C55D7A993432}"/>
              </a:ext>
            </a:extLst>
          </p:cNvPr>
          <p:cNvSpPr>
            <a:spLocks noGrp="1"/>
          </p:cNvSpPr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Khmer Automatic Speech Recognition — Final Project</a:t>
            </a:r>
            <a:endParaRPr sz="90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07D44D9F-A678-4097-AB94-6A6E178AC2A2}"/>
              </a:ext>
            </a:extLst>
          </p:cNvPr>
          <p:cNvSpPr>
            <a:spLocks noGrp="1"/>
          </p:cNvSpPr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7 / 9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2142681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84D3E99-D6B3-4FC1-A21F-08FB1405FA58}"/>
              </a:ext>
            </a:extLst>
          </p:cNvPr>
          <p:cNvSpPr>
            <a:spLocks noGrp="1"/>
          </p:cNvSpPr>
          <p:nvPr/>
        </p:nvSpPr>
        <p:spPr>
          <a:xfrm>
            <a:off x="457200" y="384048"/>
            <a:ext cx="512064" cy="51206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FA27AAB-B50E-4CBC-B8C2-1942A9B3EA60}"/>
              </a:ext>
            </a:extLst>
          </p:cNvPr>
          <p:cNvSpPr>
            <a:spLocks noGrp="1"/>
          </p:cNvSpPr>
          <p:nvPr/>
        </p:nvSpPr>
        <p:spPr>
          <a:xfrm>
            <a:off x="457200" y="38404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7</a:t>
            </a:r>
            <a:endParaRPr sz="2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2EB74E3-9EDD-410F-A975-77DCE735AD16}"/>
              </a:ext>
            </a:extLst>
          </p:cNvPr>
          <p:cNvSpPr>
            <a:spLocks noGrp="1"/>
          </p:cNvSpPr>
          <p:nvPr/>
        </p:nvSpPr>
        <p:spPr>
          <a:xfrm>
            <a:off x="1115568" y="347472"/>
            <a:ext cx="10607040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500" b="1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Limitations &amp; Prioritized Future Work</a:t>
            </a:r>
            <a:endParaRPr sz="25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50E9D412-786A-49C5-B527-44989AA1E110}"/>
              </a:ext>
            </a:extLst>
          </p:cNvPr>
          <p:cNvSpPr>
            <a:spLocks noGrp="1"/>
          </p:cNvSpPr>
          <p:nvPr/>
        </p:nvSpPr>
        <p:spPr>
          <a:xfrm>
            <a:off x="457200" y="1042416"/>
            <a:ext cx="11274552" cy="0"/>
          </a:xfrm>
          <a:prstGeom prst="line">
            <a:avLst/>
          </a:prstGeom>
          <a:noFill/>
          <a:ln w="12700">
            <a:solidFill>
              <a:srgbClr val="D9DEEA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7CD6C92-8B5C-4E77-B044-13007382631E}"/>
              </a:ext>
            </a:extLst>
          </p:cNvPr>
          <p:cNvSpPr>
            <a:spLocks noGrp="1"/>
          </p:cNvSpPr>
          <p:nvPr/>
        </p:nvSpPr>
        <p:spPr>
          <a:xfrm>
            <a:off x="457200" y="1234440"/>
            <a:ext cx="5422392" cy="3840480"/>
          </a:xfrm>
          <a:prstGeom prst="roundRect">
            <a:avLst>
              <a:gd name="adj" fmla="val 1667"/>
            </a:avLst>
          </a:prstGeom>
          <a:solidFill>
            <a:srgbClr val="FBEFEF"/>
          </a:solidFill>
          <a:ln w="12700">
            <a:solidFill>
              <a:srgbClr val="C97A7A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02593E3-CC11-4910-9846-9A5D5979CA19}"/>
              </a:ext>
            </a:extLst>
          </p:cNvPr>
          <p:cNvSpPr>
            <a:spLocks noGrp="1"/>
          </p:cNvSpPr>
          <p:nvPr/>
        </p:nvSpPr>
        <p:spPr>
          <a:xfrm>
            <a:off x="457200" y="1371600"/>
            <a:ext cx="5422392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8A2E2E"/>
                </a:solidFill>
                <a:latin typeface="Cambria"/>
                <a:ea typeface="Cambria"/>
                <a:cs typeface="Cambria"/>
              </a:rPr>
              <a:t>Limitations of the saved study</a:t>
            </a:r>
            <a:endParaRPr sz="15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87B40A9-11E0-4A7E-8CDF-1DB3E7E0E87A}"/>
              </a:ext>
            </a:extLst>
          </p:cNvPr>
          <p:cNvSpPr>
            <a:spLocks noGrp="1"/>
          </p:cNvSpPr>
          <p:nvPr/>
        </p:nvSpPr>
        <p:spPr>
          <a:xfrm>
            <a:off x="777240" y="1874520"/>
            <a:ext cx="4800600" cy="3017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2400" indent="-1524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sz="1300">
                <a:solidFill>
                  <a:srgbClr val="5A2222"/>
                </a:solidFill>
                <a:latin typeface="Calibri"/>
                <a:ea typeface="Calibri"/>
                <a:cs typeface="Calibri"/>
              </a:rPr>
              <a:t>Original Whisper row counts are inferred; MMS retained counts were not logged.</a:t>
            </a:r>
            <a:endParaRPr sz="1300"/>
          </a:p>
          <a:p>
            <a:pPr marL="152400" indent="-1524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sz="1300">
                <a:solidFill>
                  <a:srgbClr val="5A2222"/>
                </a:solidFill>
                <a:latin typeface="Calibri"/>
                <a:ea typeface="Calibri"/>
                <a:cs typeface="Calibri"/>
              </a:rPr>
              <a:t>MMS training history was not retained; only selected FLEURS predictions were saved.</a:t>
            </a:r>
            <a:endParaRPr sz="1300"/>
          </a:p>
          <a:p>
            <a:pPr marL="152400" indent="-152400">
              <a:lnSpc>
                <a:spcPct val="125000"/>
              </a:lnSpc>
              <a:buSzPct val="100000"/>
              <a:buChar char="●"/>
            </a:pPr>
            <a:r>
              <a:rPr sz="1300">
                <a:solidFill>
                  <a:srgbClr val="5A2222"/>
                </a:solidFill>
                <a:latin typeface="Calibri"/>
                <a:ea typeface="Calibri"/>
                <a:cs typeface="Calibri"/>
              </a:rPr>
              <a:t>The frozen-encoder run has no saved checkpoint or metrics.</a:t>
            </a:r>
            <a:endParaRPr sz="13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6524128-658F-4F68-B026-7EE7F0B0B631}"/>
              </a:ext>
            </a:extLst>
          </p:cNvPr>
          <p:cNvSpPr>
            <a:spLocks noGrp="1"/>
          </p:cNvSpPr>
          <p:nvPr/>
        </p:nvSpPr>
        <p:spPr>
          <a:xfrm>
            <a:off x="6309360" y="1234440"/>
            <a:ext cx="5422392" cy="3840480"/>
          </a:xfrm>
          <a:prstGeom prst="roundRect">
            <a:avLst>
              <a:gd name="adj" fmla="val 1667"/>
            </a:avLst>
          </a:prstGeom>
          <a:solidFill>
            <a:srgbClr val="EAF4EF"/>
          </a:solidFill>
          <a:ln w="12700">
            <a:solidFill>
              <a:srgbClr val="7FB59A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BCC1635-560C-485C-928C-A255E1D3F8FE}"/>
              </a:ext>
            </a:extLst>
          </p:cNvPr>
          <p:cNvSpPr>
            <a:spLocks noGrp="1"/>
          </p:cNvSpPr>
          <p:nvPr/>
        </p:nvSpPr>
        <p:spPr>
          <a:xfrm>
            <a:off x="6309360" y="1371600"/>
            <a:ext cx="5422392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1E7A5F"/>
                </a:solidFill>
                <a:latin typeface="Cambria"/>
                <a:ea typeface="Cambria"/>
                <a:cs typeface="Cambria"/>
              </a:rPr>
              <a:t>Next steps</a:t>
            </a:r>
            <a:endParaRPr sz="15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5A0BD24-6756-483B-A8CA-62E358AE4C01}"/>
              </a:ext>
            </a:extLst>
          </p:cNvPr>
          <p:cNvSpPr>
            <a:spLocks noGrp="1"/>
          </p:cNvSpPr>
          <p:nvPr/>
        </p:nvSpPr>
        <p:spPr>
          <a:xfrm>
            <a:off x="6629400" y="1874520"/>
            <a:ext cx="4800600" cy="3017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2400" indent="-1524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sz="1300">
                <a:solidFill>
                  <a:srgbClr val="204A38"/>
                </a:solidFill>
                <a:latin typeface="Calibri"/>
                <a:ea typeface="Calibri"/>
                <a:cs typeface="Calibri"/>
              </a:rPr>
              <a:t>Rerun both models on matched, seeded train / validation / test subsets.</a:t>
            </a:r>
            <a:endParaRPr sz="1300"/>
          </a:p>
          <a:p>
            <a:pPr marL="152400" indent="-1524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sz="1300">
                <a:solidFill>
                  <a:srgbClr val="204A38"/>
                </a:solidFill>
                <a:latin typeface="Calibri"/>
                <a:ea typeface="Calibri"/>
                <a:cs typeface="Calibri"/>
              </a:rPr>
              <a:t>For reruns, save both trainer states and full predictions.</a:t>
            </a:r>
            <a:endParaRPr sz="1300"/>
          </a:p>
          <a:p>
            <a:pPr marL="152400" indent="-1524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sz="1300">
                <a:solidFill>
                  <a:srgbClr val="204A38"/>
                </a:solidFill>
                <a:latin typeface="Calibri"/>
                <a:ea typeface="Calibri"/>
                <a:cs typeface="Calibri"/>
              </a:rPr>
              <a:t>Document learning-rate and regularization experiments.</a:t>
            </a:r>
            <a:endParaRPr sz="1300"/>
          </a:p>
          <a:p>
            <a:pPr marL="152400" indent="-152400">
              <a:lnSpc>
                <a:spcPct val="125000"/>
              </a:lnSpc>
              <a:buSzPct val="100000"/>
              <a:buChar char="●"/>
            </a:pPr>
            <a:r>
              <a:rPr sz="1300">
                <a:solidFill>
                  <a:srgbClr val="204A38"/>
                </a:solidFill>
                <a:latin typeface="Calibri"/>
                <a:ea typeface="Calibri"/>
                <a:cs typeface="Calibri"/>
              </a:rPr>
              <a:t>Make the Whisper download accessible and record training runtimes.</a:t>
            </a:r>
            <a:endParaRPr sz="13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6CD6B9F-DE72-456C-9505-0D1433EC4122}"/>
              </a:ext>
            </a:extLst>
          </p:cNvPr>
          <p:cNvSpPr>
            <a:spLocks noGrp="1"/>
          </p:cNvSpPr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Khmer Automatic Speech Recognition — Final Project</a:t>
            </a:r>
            <a:endParaRPr sz="9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E521F9D-F230-408C-9D59-A79011C36DA5}"/>
              </a:ext>
            </a:extLst>
          </p:cNvPr>
          <p:cNvSpPr>
            <a:spLocks noGrp="1"/>
          </p:cNvSpPr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8 / 9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1016225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7E27073-7F59-4ADD-A861-E3363DD8273D}"/>
              </a:ext>
            </a:extLst>
          </p:cNvPr>
          <p:cNvSpPr>
            <a:spLocks noGrp="1"/>
          </p:cNvSpPr>
          <p:nvPr/>
        </p:nvSpPr>
        <p:spPr>
          <a:xfrm>
            <a:off x="457200" y="384048"/>
            <a:ext cx="512064" cy="512064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67DEA97-F704-4536-A0AA-D7A7521E604C}"/>
              </a:ext>
            </a:extLst>
          </p:cNvPr>
          <p:cNvSpPr>
            <a:spLocks noGrp="1"/>
          </p:cNvSpPr>
          <p:nvPr/>
        </p:nvSpPr>
        <p:spPr>
          <a:xfrm>
            <a:off x="457200" y="384048"/>
            <a:ext cx="512064" cy="51206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8</a:t>
            </a:r>
            <a:endParaRPr sz="20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C2A327A-C286-490F-9395-1820BD4EE491}"/>
              </a:ext>
            </a:extLst>
          </p:cNvPr>
          <p:cNvSpPr>
            <a:spLocks noGrp="1"/>
          </p:cNvSpPr>
          <p:nvPr/>
        </p:nvSpPr>
        <p:spPr>
          <a:xfrm>
            <a:off x="1115568" y="347472"/>
            <a:ext cx="10607040" cy="5852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500" b="1">
                <a:solidFill>
                  <a:srgbClr val="222633"/>
                </a:solidFill>
                <a:latin typeface="Cambria"/>
                <a:ea typeface="Cambria"/>
                <a:cs typeface="Cambria"/>
              </a:rPr>
              <a:t>Progress Review &amp; Teacher Feedback</a:t>
            </a:r>
            <a:endParaRPr sz="25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BF35C99-752A-4173-8D26-FB368F48CB9C}"/>
              </a:ext>
            </a:extLst>
          </p:cNvPr>
          <p:cNvSpPr>
            <a:spLocks noGrp="1"/>
          </p:cNvSpPr>
          <p:nvPr/>
        </p:nvSpPr>
        <p:spPr>
          <a:xfrm>
            <a:off x="457200" y="1042416"/>
            <a:ext cx="11274552" cy="0"/>
          </a:xfrm>
          <a:prstGeom prst="line">
            <a:avLst/>
          </a:prstGeom>
          <a:noFill/>
          <a:ln w="12700">
            <a:solidFill>
              <a:srgbClr val="D9DEEA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C40C375-A9B9-4687-BBFB-7DD9B28D9D66}"/>
              </a:ext>
            </a:extLst>
          </p:cNvPr>
          <p:cNvSpPr>
            <a:spLocks noGrp="1"/>
          </p:cNvSpPr>
          <p:nvPr/>
        </p:nvSpPr>
        <p:spPr>
          <a:xfrm>
            <a:off x="457200" y="1234440"/>
            <a:ext cx="5422392" cy="3840480"/>
          </a:xfrm>
          <a:prstGeom prst="roundRect">
            <a:avLst>
              <a:gd name="adj" fmla="val 1667"/>
            </a:avLst>
          </a:prstGeom>
          <a:solidFill>
            <a:srgbClr val="F6F7FB"/>
          </a:solidFill>
          <a:ln w="12700">
            <a:solidFill>
              <a:srgbClr val="D9DEEA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BB720B2-91D2-4596-A605-D8D09CC77074}"/>
              </a:ext>
            </a:extLst>
          </p:cNvPr>
          <p:cNvSpPr>
            <a:spLocks noGrp="1"/>
          </p:cNvSpPr>
          <p:nvPr/>
        </p:nvSpPr>
        <p:spPr>
          <a:xfrm>
            <a:off x="457200" y="1371600"/>
            <a:ext cx="5422392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Current demo and evidence</a:t>
            </a:r>
            <a:endParaRPr sz="15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FAB81A9-365C-499C-BF01-BE55CE0FB5B2}"/>
              </a:ext>
            </a:extLst>
          </p:cNvPr>
          <p:cNvSpPr>
            <a:spLocks noGrp="1"/>
          </p:cNvSpPr>
          <p:nvPr/>
        </p:nvSpPr>
        <p:spPr>
          <a:xfrm>
            <a:off x="777240" y="1874520"/>
            <a:ext cx="4800600" cy="3017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2400" indent="-1524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sz="130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Gradio accepts microphone input or uploaded audio.</a:t>
            </a:r>
            <a:endParaRPr sz="1300"/>
          </a:p>
          <a:p>
            <a:pPr marL="152400" indent="-152400">
              <a:lnSpc>
                <a:spcPct val="125000"/>
              </a:lnSpc>
              <a:spcAft>
                <a:spcPts val="1200"/>
              </a:spcAft>
              <a:buSzPct val="100000"/>
              <a:buChar char="●"/>
            </a:pPr>
            <a:r>
              <a:rPr sz="130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MMS: 15.96% CER on 200 FLEURS clips; 24.17% provisional CER on 10 new recordings.</a:t>
            </a:r>
            <a:endParaRPr sz="1300"/>
          </a:p>
          <a:p>
            <a:pPr marL="152400" indent="-152400">
              <a:lnSpc>
                <a:spcPct val="125000"/>
              </a:lnSpc>
              <a:buSzPct val="100000"/>
              <a:buChar char="●"/>
            </a:pPr>
            <a:r>
              <a:rPr sz="1300">
                <a:solidFill>
                  <a:srgbClr val="222633"/>
                </a:solidFill>
                <a:latin typeface="Calibri"/>
                <a:ea typeface="Calibri"/>
                <a:cs typeface="Calibri"/>
              </a:rPr>
              <a:t>Training selections differed, so the architecture comparison remains diagnostic.</a:t>
            </a:r>
            <a:endParaRPr sz="130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A04AC39-AC9A-463F-B9B5-997E0E150742}"/>
              </a:ext>
            </a:extLst>
          </p:cNvPr>
          <p:cNvSpPr>
            <a:spLocks noGrp="1"/>
          </p:cNvSpPr>
          <p:nvPr/>
        </p:nvSpPr>
        <p:spPr>
          <a:xfrm>
            <a:off x="6309360" y="1234440"/>
            <a:ext cx="5422392" cy="3840480"/>
          </a:xfrm>
          <a:prstGeom prst="roundRect">
            <a:avLst>
              <a:gd name="adj" fmla="val 166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5B67275-62A0-455A-965F-5BC992916EDF}"/>
              </a:ext>
            </a:extLst>
          </p:cNvPr>
          <p:cNvSpPr>
            <a:spLocks noGrp="1"/>
          </p:cNvSpPr>
          <p:nvPr/>
        </p:nvSpPr>
        <p:spPr>
          <a:xfrm>
            <a:off x="6309360" y="1371600"/>
            <a:ext cx="5422392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Advice requested from teacher</a:t>
            </a:r>
            <a:endParaRPr sz="15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F2CB2A2-B3F8-437F-A177-1C7CA9E1945F}"/>
              </a:ext>
            </a:extLst>
          </p:cNvPr>
          <p:cNvSpPr>
            <a:spLocks noGrp="1"/>
          </p:cNvSpPr>
          <p:nvPr/>
        </p:nvSpPr>
        <p:spPr>
          <a:xfrm>
            <a:off x="6629400" y="1874520"/>
            <a:ext cx="4800600" cy="30175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2400" indent="-152400">
              <a:lnSpc>
                <a:spcPct val="130000"/>
              </a:lnSpc>
              <a:spcAft>
                <a:spcPts val="1200"/>
              </a:spcAft>
              <a:buSzPct val="100000"/>
              <a:buChar char="●"/>
            </a:pPr>
            <a:r>
              <a:rPr sz="13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Is current real-speech quality acceptable with honest limitations?</a:t>
            </a:r>
            <a:endParaRPr sz="1350"/>
          </a:p>
          <a:p>
            <a:pPr marL="152400" indent="-152400">
              <a:lnSpc>
                <a:spcPct val="130000"/>
              </a:lnSpc>
              <a:buSzPct val="100000"/>
              <a:buChar char="●"/>
            </a:pPr>
            <a:r>
              <a:rPr sz="13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Prioritize a general decoder / new labeled speech, or matched reruns, tuning, and MMS curves?</a:t>
            </a:r>
            <a:endParaRPr sz="135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A6950C1-0574-4421-A702-52F322E09711}"/>
              </a:ext>
            </a:extLst>
          </p:cNvPr>
          <p:cNvSpPr>
            <a:spLocks noGrp="1"/>
          </p:cNvSpPr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Khmer Automatic Speech Recognition — Final Project</a:t>
            </a:r>
            <a:endParaRPr sz="9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F6D31C2-BD6E-4379-9D41-6D440365FB8C}"/>
              </a:ext>
            </a:extLst>
          </p:cNvPr>
          <p:cNvSpPr>
            <a:spLocks noGrp="1"/>
          </p:cNvSpPr>
          <p:nvPr/>
        </p:nvSpPr>
        <p:spPr>
          <a:xfrm>
            <a:off x="11002975" y="6547104"/>
            <a:ext cx="7315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900">
                <a:solidFill>
                  <a:srgbClr val="5B6472"/>
                </a:solidFill>
                <a:latin typeface="Calibri"/>
                <a:ea typeface="Calibri"/>
                <a:cs typeface="Calibri"/>
              </a:rPr>
              <a:t>9 / 9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922445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1667</Words>
  <Application>Microsoft Office PowerPoint</Application>
  <DocSecurity>0</DocSecurity>
  <PresentationFormat>Widescreen</PresentationFormat>
  <Paragraphs>221</Paragraphs>
  <Slides>13</Slides>
  <Notes>13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Khmer OS Battambang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Khemrak Pasey</cp:lastModifiedBy>
  <cp:revision>4</cp:revision>
  <dcterms:created xsi:type="dcterms:W3CDTF">2026-09-23T06:35:39Z</dcterms:created>
  <dcterms:modified xsi:type="dcterms:W3CDTF">2026-09-23T06:55:00Z</dcterms:modified>
</cp:coreProperties>
</file>