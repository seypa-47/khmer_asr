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aa83072e464c24" /><Relationship Type="http://schemas.openxmlformats.org/officeDocument/2006/relationships/extended-properties" Target="/docProps/app.xml" Id="R131f1eacc6e5485c" /><Relationship Type="http://schemas.openxmlformats.org/officeDocument/2006/relationships/officeDocument" Target="/ppt/presentation.xml" Id="Rbca6c4a23bc0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c08d7d48044d9d"/>
  </p:sldMasterIdLst>
  <p:notesMasterIdLst>
    <p:notesMasterId xmlns:r="http://schemas.openxmlformats.org/officeDocument/2006/relationships" r:id="R6b145a080ec04505"/>
  </p:notesMasterIdLst>
  <p:sldIdLst>
    <p:sldId xmlns:r="http://schemas.openxmlformats.org/officeDocument/2006/relationships" id="256" r:id="Rac7f116da9ea4b8b"/>
    <p:sldId xmlns:r="http://schemas.openxmlformats.org/officeDocument/2006/relationships" id="257" r:id="Rc2d9b3bfc874444e"/>
    <p:sldId xmlns:r="http://schemas.openxmlformats.org/officeDocument/2006/relationships" id="258" r:id="R9ee826ce912a46a3"/>
    <p:sldId xmlns:r="http://schemas.openxmlformats.org/officeDocument/2006/relationships" id="259" r:id="Rd15c93514bb94f21"/>
    <p:sldId xmlns:r="http://schemas.openxmlformats.org/officeDocument/2006/relationships" id="260" r:id="Rbf4620c37a2c41ef"/>
    <p:sldId xmlns:r="http://schemas.openxmlformats.org/officeDocument/2006/relationships" id="261" r:id="R4b3f5b67bee04a64"/>
    <p:sldId xmlns:r="http://schemas.openxmlformats.org/officeDocument/2006/relationships" id="262" r:id="R6945dcd016c34fa3"/>
    <p:sldId xmlns:r="http://schemas.openxmlformats.org/officeDocument/2006/relationships" id="263" r:id="R616c33784901441d"/>
    <p:sldId xmlns:r="http://schemas.openxmlformats.org/officeDocument/2006/relationships" id="264" r:id="Rd9c517f7e7454222"/>
    <p:sldId xmlns:r="http://schemas.openxmlformats.org/officeDocument/2006/relationships" id="265" r:id="Ra1dc6854b58a4a4f"/>
    <p:sldId xmlns:r="http://schemas.openxmlformats.org/officeDocument/2006/relationships" id="266" r:id="Rae6fcc785c1c49e2"/>
    <p:sldId xmlns:r="http://schemas.openxmlformats.org/officeDocument/2006/relationships" id="267" r:id="R7db1845fbb6548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84a75235164380" /><Relationship Type="http://schemas.openxmlformats.org/officeDocument/2006/relationships/slideMaster" Target="/ppt/slideMasters/slideMaster1.xml" Id="R6ac08d7d48044d9d" /><Relationship Type="http://schemas.openxmlformats.org/officeDocument/2006/relationships/notesMaster" Target="/ppt/notesMasters/notesMaster1.xml" Id="R6b145a080ec04505" /><Relationship Type="http://schemas.openxmlformats.org/officeDocument/2006/relationships/presProps" Target="/ppt/presProps.xml" Id="Rfe1e4ca58ecd4bd5" /><Relationship Type="http://schemas.openxmlformats.org/officeDocument/2006/relationships/viewProps" Target="/ppt/viewProps.xml" Id="Ra2af496b64974efb" /><Relationship Type="http://schemas.openxmlformats.org/officeDocument/2006/relationships/tableStyles" Target="/ppt/tableStyles.xml" Id="Re7082b25274144d0" /><Relationship Type="http://schemas.openxmlformats.org/officeDocument/2006/relationships/slide" Target="/ppt/slides/slide1.xml" Id="Rac7f116da9ea4b8b" /><Relationship Type="http://schemas.openxmlformats.org/officeDocument/2006/relationships/slide" Target="/ppt/slides/slide2.xml" Id="Rc2d9b3bfc874444e" /><Relationship Type="http://schemas.openxmlformats.org/officeDocument/2006/relationships/slide" Target="/ppt/slides/slide3.xml" Id="R9ee826ce912a46a3" /><Relationship Type="http://schemas.openxmlformats.org/officeDocument/2006/relationships/slide" Target="/ppt/slides/slide4.xml" Id="Rd15c93514bb94f21" /><Relationship Type="http://schemas.openxmlformats.org/officeDocument/2006/relationships/slide" Target="/ppt/slides/slide5.xml" Id="Rbf4620c37a2c41ef" /><Relationship Type="http://schemas.openxmlformats.org/officeDocument/2006/relationships/slide" Target="/ppt/slides/slide6.xml" Id="R4b3f5b67bee04a64" /><Relationship Type="http://schemas.openxmlformats.org/officeDocument/2006/relationships/slide" Target="/ppt/slides/slide7.xml" Id="R6945dcd016c34fa3" /><Relationship Type="http://schemas.openxmlformats.org/officeDocument/2006/relationships/slide" Target="/ppt/slides/slide8.xml" Id="R616c33784901441d" /><Relationship Type="http://schemas.openxmlformats.org/officeDocument/2006/relationships/slide" Target="/ppt/slides/slide9.xml" Id="Rd9c517f7e7454222" /><Relationship Type="http://schemas.openxmlformats.org/officeDocument/2006/relationships/slide" Target="/ppt/slides/slide10.xml" Id="Ra1dc6854b58a4a4f" /><Relationship Type="http://schemas.openxmlformats.org/officeDocument/2006/relationships/slide" Target="/ppt/slides/slide11.xml" Id="Rae6fcc785c1c49e2" /><Relationship Type="http://schemas.openxmlformats.org/officeDocument/2006/relationships/slide" Target="/ppt/slides/slide12.xml" Id="R7db1845fbb6548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15963925ea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3f7a0d7c6246d0" /><Relationship Type="http://schemas.openxmlformats.org/officeDocument/2006/relationships/notesMaster" Target="/ppt/notesMasters/notesMaster1.xml" Id="Rbee77f36a1d444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c75bffecaa416a" /><Relationship Type="http://schemas.openxmlformats.org/officeDocument/2006/relationships/notesMaster" Target="/ppt/notesMasters/notesMaster1.xml" Id="Rbbc38ccce0e84d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f6a1f4634b42ee" /><Relationship Type="http://schemas.openxmlformats.org/officeDocument/2006/relationships/notesMaster" Target="/ppt/notesMasters/notesMaster1.xml" Id="Ra40e618974af49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96b3f9e68d4c25" /><Relationship Type="http://schemas.openxmlformats.org/officeDocument/2006/relationships/notesMaster" Target="/ppt/notesMasters/notesMaster1.xml" Id="Rf9f73f66e7ed47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128904f20d4a81" /><Relationship Type="http://schemas.openxmlformats.org/officeDocument/2006/relationships/notesMaster" Target="/ppt/notesMasters/notesMaster1.xml" Id="R9657543aab69468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d6283ea41d411b" /><Relationship Type="http://schemas.openxmlformats.org/officeDocument/2006/relationships/notesMaster" Target="/ppt/notesMasters/notesMaster1.xml" Id="Rf0212781a4e646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3e5c82a6214855" /><Relationship Type="http://schemas.openxmlformats.org/officeDocument/2006/relationships/notesMaster" Target="/ppt/notesMasters/notesMaster1.xml" Id="R5f63c4d905b148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93f04c77ea4339" /><Relationship Type="http://schemas.openxmlformats.org/officeDocument/2006/relationships/notesMaster" Target="/ppt/notesMasters/notesMaster1.xml" Id="R67f68715610b47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0bd16dfd9b4f2f" /><Relationship Type="http://schemas.openxmlformats.org/officeDocument/2006/relationships/notesMaster" Target="/ppt/notesMasters/notesMaster1.xml" Id="R9bbc25975b0647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68650c8c6b4c64" /><Relationship Type="http://schemas.openxmlformats.org/officeDocument/2006/relationships/notesMaster" Target="/ppt/notesMasters/notesMaster1.xml" Id="Rce09e5ca6dd24d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96a940ab224b4e" /><Relationship Type="http://schemas.openxmlformats.org/officeDocument/2006/relationships/notesMaster" Target="/ppt/notesMasters/notesMaster1.xml" Id="Rcebd6774b2cd44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fb13ce7d5a84e30" /><Relationship Type="http://schemas.openxmlformats.org/officeDocument/2006/relationships/notesMaster" Target="/ppt/notesMasters/notesMaster1.xml" Id="R0ff048fb79e249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Khmer writing and consonant-series references: https://seasite.niu.edu/khmer/writingsystem/vowhtm/vowels.htm ; https://unstats.un.org/unsd/geoinfo/ungegn/docs/3rd-gegn-docs/3rd_gegn_inf12.pdf. The slide describes potential applications, not deployed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Third approach run evidence: results/mms_frozen_metrics.json and results/mms_frozen_trainer_state.json. The head-only MMS run changes training strategy while retaining the same architecture. The first two approaches use distinct architectures.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WER method: ICU Khmer word boundary analysis, https://unicode-org.github.io/icu/userguide/boundaryanalysis/. Python binding: pyicu-wheels 2.15.2. Both references and predictions use the same tokenizer.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results/matched_cer_wer_three_approaches.json, computed from three sets of 114 saved public FLEURS reference/prediction pairs. Target interpretation: above 80% character and word correctness corresponds to CER and WER below 20%. Frozen MMS selected checkpoint 100 on validation ICU WER.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b9ae0665a74e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53091a0ec485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53abcd82a64c55" /><Relationship Type="http://schemas.openxmlformats.org/officeDocument/2006/relationships/slideLayout" Target="/ppt/slideLayouts/slideLayout1.xml" Id="Reeb2730ec6424601" /><Relationship Type="http://schemas.openxmlformats.org/officeDocument/2006/relationships/slideLayout" Target="/ppt/slideLayouts/slideLayout2.xml" Id="Rd7e37be89f474a5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b2730ec6424601"/>
    <p:sldLayoutId xmlns:r="http://schemas.openxmlformats.org/officeDocument/2006/relationships" id="2147483650" r:id="Rd7e37be89f474a5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9c6b6873c402d" /><Relationship Type="http://schemas.openxmlformats.org/officeDocument/2006/relationships/notesSlide" Target="/ppt/notesSlides/notesSlide1.xml" Id="R4f6500f733ee45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1bba8aee547de" /><Relationship Type="http://schemas.openxmlformats.org/officeDocument/2006/relationships/notesSlide" Target="/ppt/notesSlides/notesSlide2.xml" Id="R2c05bccfeaf242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384e27d474113" /><Relationship Type="http://schemas.openxmlformats.org/officeDocument/2006/relationships/notesSlide" Target="/ppt/notesSlides/notesSlide3.xml" Id="R84a4c93df56840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a418089964c12" /><Relationship Type="http://schemas.openxmlformats.org/officeDocument/2006/relationships/notesSlide" Target="/ppt/notesSlides/notesSlide4.xml" Id="Rc31542b3015c4e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8d5fa24a3442f" /><Relationship Type="http://schemas.openxmlformats.org/officeDocument/2006/relationships/notesSlide" Target="/ppt/notesSlides/notesSlide5.xml" Id="Rb46eed6898ef47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8df1f1a1243f5" /><Relationship Type="http://schemas.openxmlformats.org/officeDocument/2006/relationships/notesSlide" Target="/ppt/notesSlides/notesSlide6.xml" Id="R91baba25641444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7a7933db04391" /><Relationship Type="http://schemas.openxmlformats.org/officeDocument/2006/relationships/notesSlide" Target="/ppt/notesSlides/notesSlide7.xml" Id="R30544ae6ffbd45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3c8d319fb4309" /><Relationship Type="http://schemas.openxmlformats.org/officeDocument/2006/relationships/notesSlide" Target="/ppt/notesSlides/notesSlide8.xml" Id="R82c40610589347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2c222b51746d5" /><Relationship Type="http://schemas.openxmlformats.org/officeDocument/2006/relationships/notesSlide" Target="/ppt/notesSlides/notesSlide9.xml" Id="R73191ca9fe1440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d46a54fbc445bf" /><Relationship Type="http://schemas.openxmlformats.org/officeDocument/2006/relationships/notesSlide" Target="/ppt/notesSlides/notesSlide10.xml" Id="R653d32a838564c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468c60deb4c25" /><Relationship Type="http://schemas.openxmlformats.org/officeDocument/2006/relationships/notesSlide" Target="/ppt/notesSlides/notesSlide11.xml" Id="R6b324e1879db4b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493690b4949e5" /><Relationship Type="http://schemas.openxmlformats.org/officeDocument/2006/relationships/notesSlide" Target="/ppt/notesSlides/notesSlide12.xml" Id="R709a180bb3f346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80C0BF4-4BDB-4FCF-B232-85ED01EF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A47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F6D32E-DDF4-4280-8881-748CC011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088" y="-91440"/>
            <a:ext cx="12191695" cy="5394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C704D30-6100-44D0-ADDB-9D84A843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-1005840"/>
            <a:ext cx="3291840" cy="329184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B889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4C7E240-FF33-4AF0-861D-949B799F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-411480"/>
            <a:ext cx="2103120" cy="2103120"/>
          </a:xfrm>
          <a:prstGeom xmlns:a="http://schemas.openxmlformats.org/drawingml/2006/main" prst="ellipse">
            <a:avLst/>
          </a:prstGeom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08879CF-36A1-494E-8122-79608CAA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FINAL PROJECT — DEEP LEARNING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950172F-591A-4CC2-8B78-912F1742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57775"/>
            <a:ext cx="96926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Khmer Automatic Speech Recognition</a:t>
            </a:r>
            <a:endParaRPr sz="3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A6B75BC-A30D-44E2-85C4-DC2187A0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88515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892B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19C5022-AABA-43F2-919F-E6FD208A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79956"/>
            <a:ext cx="7337814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Matched test comparison of Seq2Seq and CTC with CER and WER</a:t>
            </a:r>
            <a:endParaRPr sz="16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D371901-C8CA-469C-9302-A7075CD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515600" cy="105156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141A47"/>
          </a:solidFill>
          <a:ln xmlns:a="http://schemas.openxmlformats.org/drawingml/2006/main" w="12700">
            <a:solidFill>
              <a:srgbClr val="141A47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0567644-88D8-4FDD-AF6C-5D3FBBF2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394960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of Engineering  |  Bachelor of Software Engineering
</a:t>
            </a: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Lecturer: Mr. </a:t>
            </a: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Soklong</a:t>
            </a: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HIM
Student: </a:t>
            </a:r>
            <a:r>
              <a:rPr sz="12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Khemrak Pasey 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4640356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F85E47C-677A-43FA-914D-5413D711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6E948B-99EA-49FF-9C5D-81E0CE0E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C9AEC5F-0AFA-404C-8075-B6F94BF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Problem Definition &amp; Practical Motivation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A9AEFA7-6B61-4E70-A147-5CEBC5C3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08C3140-134B-4A44-8E06-3AF44EA6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11274552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3425F63-15E5-40FF-AE73-6CF11177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8016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Formal formulation   </a:t>
            </a:r>
            <a:r>
              <a:rPr sz="1350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Given a 16 kHz raw audio waveform X = (x1, x2, ..., xT), the model optimizes the posterior P(Y | X) to output the correct Khmer Unicode orthographic sequence Y = (y1, y2, ..., yU).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2B56658-6EE9-4DC7-B06C-764D3242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572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linguistic challenge of Khmer</a:t>
            </a:r>
            <a:endParaRPr sz="15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ECD6C3-D36A-4DEF-92F5-D5C1ECB2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635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AE2F5C-82CD-42A2-A192-C298F8EC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635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4AD08F9-2D52-4D67-978A-54807180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1488"/>
            <a:ext cx="5166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Scriptio continua
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Written without consistent spaces between words; context helps identify word boundaries.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B35F88E-3FFB-4CB8-99E3-C20A59B1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990289-8D45-4462-BDEA-81372FFF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E43A71C-214A-4A96-9C8B-8F554C40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5166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Intricate 
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Consonant series, 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dependent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 vowels, and stacked subscript consonants (Cheung).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6D2DCE1-CD1D-47F8-AECA-1E378C3E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17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A548FD1-A0E8-40C2-A7BD-802C8909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17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7411F3D-671E-4A7B-9EDD-69281101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6864"/>
            <a:ext cx="5166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Acoustic ambiguity
</a:t>
            </a:r>
            <a:r>
              <a:rPr sz="11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The same vowel sign can be pronounced differently with first- and second-series consonants.</a:t>
            </a:r>
            <a:endParaRPr sz="13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28CBB7-7510-4957-9F50-6486D411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95728"/>
            <a:ext cx="5422392" cy="3794760"/>
          </a:xfrm>
          <a:prstGeom xmlns:a="http://schemas.openxmlformats.org/drawingml/2006/main" prst="roundRect">
            <a:avLst>
              <a:gd name="adj" fmla="val 168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5D71A8E-8943-4843-B529-9A3350B0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78608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Real-world impact in Cambodia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9839F07-C24E-461A-BC86-27E637B1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063240"/>
            <a:ext cx="489204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Can improve speech-based access for Khmer speakers.</a:t>
            </a:r>
            <a:endParaRPr sz="1350"/>
          </a:p>
          <a:p xmlns:a="http://schemas.openxmlformats.org/drawingml/2006/main">
            <a:pPr marL="152400" indent="-152400">
              <a:lnSpc>
                <a:spcPct val="120000"/>
              </a:lnSpc>
              <a:spcAft>
                <a:spcPts val="1400"/>
              </a:spcAft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Potential uses include dictation, transcription, and voice interfaces.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729FEED-8F0B-4D2F-BC43-A06B1C0A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07EA7D7-8D99-4176-A38B-E28E3279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35767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22596F7-0409-4F0B-9482-80DAA60C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8435F8-CA91-472B-A853-48BCBFDA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21FDA42-6E27-4DC3-B37C-A2B1258A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Dataset Description &amp; Preprocessing Pipeline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28D68ED-5DA4-4578-8AEC-D9B444CD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F296595-C1DA-42FB-995E-DB49A40D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0432"/>
            <a:ext cx="2331720" cy="86868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F190DD-A845-4E32-B704-FEABA342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615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1,675</a:t>
            </a:r>
            <a:endParaRPr sz="2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740CD2-0D52-49E4-880C-8CA1899B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3352"/>
            <a:ext cx="2331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train examples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357B19D-3692-41DF-844C-0DD2769D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170432"/>
            <a:ext cx="2331720" cy="86868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0BCFD6-FF5E-41B0-8F79-944A6BBC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21615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326</a:t>
            </a:r>
            <a:endParaRPr sz="2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2C0FAE6-CD54-48FA-A90E-9A01E8B9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673352"/>
            <a:ext cx="2331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validation examples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4F8C2A1-692A-44F2-A373-D9887FF5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1170432"/>
            <a:ext cx="2331720" cy="86868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178F6E1-00F4-4859-8FE4-2888686B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1216152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771</a:t>
            </a:r>
            <a:endParaRPr sz="2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62DDE9-7676-449A-9747-700EC8AE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1673352"/>
            <a:ext cx="2331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test examples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623429-E84C-4EB7-A44C-4184CA6A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1170432"/>
            <a:ext cx="386791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Google FLEURS Khmer (km_kh)
</a:t>
            </a:r>
            <a:r>
              <a:rPr sz="108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Hugging Face Datasets (google/fleurs), CC-BY 4.0. Audio processed at 16 kHz mono across multiple speakers.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65F3C89-E543-4C0D-AA28-EDD7578D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2848"/>
            <a:ext cx="7315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Unified audio &amp; text preprocessing pipeline</a:t>
            </a:r>
            <a:endParaRPr sz="14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838DB51-AE2D-4BEB-90B2-614BBC2E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5184"/>
            <a:ext cx="2761488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BF07CC7-8CC1-4179-AFE9-E378A16A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706624"/>
            <a:ext cx="24688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1. Audio standardization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Resampled to 16,000 Hz, single-channel.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C350C3C-6D10-478B-8E20-71943682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4" y="2615184"/>
            <a:ext cx="2761488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9528948-651B-464C-A293-8B36544A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706624"/>
            <a:ext cx="24688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2. Unicode normalization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NFC normalization applied to all transcripts.</a:t>
            </a:r>
            <a:endParaRPr sz="14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726F971-042B-413F-B11C-75F39F3C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15184"/>
            <a:ext cx="2761488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25A6E8-D272-4852-886F-0A9EC023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706624"/>
            <a:ext cx="24688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3. Text sanitization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Strips zero-width / non-breaking spaces (U+200B, U+FEFF) and compacts whitespace.</a:t>
            </a:r>
            <a:endParaRPr sz="14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189B06A-135D-453A-9E84-E564A530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2615184"/>
            <a:ext cx="2761488" cy="1298448"/>
          </a:xfrm>
          <a:prstGeom xmlns:a="http://schemas.openxmlformats.org/drawingml/2006/main" prst="roundRect">
            <a:avLst>
              <a:gd name="adj" fmla="val 4930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DE7C12D-51B8-4812-BF7A-C43DFD2D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706624"/>
            <a:ext cx="2468880" cy="11155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4. Scoring convention
CER removes spaces; WER uses identical ICU Khmer word breaks for all three runs.</a:t>
            </a:r>
            <a:endParaRPr sz="14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71E22C6-D2CC-4853-B252-DDB7B859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41648"/>
            <a:ext cx="11274552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D6CD4D3-316D-484A-B4B4-AD02DFFF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14800"/>
            <a:ext cx="10881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Whisper:  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80-channel log-mel spectrograms, 25 ms Hann windows, 10 ms hop length.
</a:t>
            </a: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MMS:  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normalized 1D temporal representations, extracted directly by a 7-layer convolutional feature encoder.</a:t>
            </a:r>
            <a:endParaRPr sz="14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D8C994BA-7DB1-414F-8628-0C50D9AB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38928"/>
            <a:ext cx="11274552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535206-7FA8-44A3-BD67-9BF7E102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12080"/>
            <a:ext cx="108722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40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Matched experiment   All three approaches use 531 train, 124 validation, and 114 untouched test clips from one saved FLEURS row manifest.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8336D70-23FD-4164-A3A1-DB755273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229F5AFD-C8D6-4A85-A329-D2EAB31D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3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722436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E5F7CFF-9BAC-415A-BC9F-8FBA1AB9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5FDC249-4BD1-4E38-A16D-9B024A56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BF4595B-E4DC-44BE-9C44-145D48F0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Three Trained Deep Learning Approaches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E2C7A5F-BFE0-4494-B93F-4019D5D9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45792A5-8EA5-481A-A1C2-148244D2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3611880" cy="4526280"/>
          </a:xfrm>
          <a:prstGeom xmlns:a="http://schemas.openxmlformats.org/drawingml/2006/main" prst="roundRect">
            <a:avLst>
              <a:gd name="adj" fmla="val 17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09F1517-BD34-4CFD-A8C2-AADAC685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36118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5DA247A-B28B-4C8F-8AAB-8B8E2AA3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36118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 1 — PRIMARY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A4A7A76-A393-44D1-B6BC-92A274B0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47672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OpenAI Whisper-Tiny</a:t>
            </a:r>
            <a:endParaRPr sz="17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(Seq2Seq Transformer)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8E7967A-9FFE-4EA4-938A-4718CB3D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70632"/>
            <a:ext cx="3246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Strategy: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Full fine-tuning
</a:t>
            </a: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Parameters: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37.8M (100% trainable)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801BBD6-2FAE-4FD2-B846-D267DB7D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66160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440ECE8-4FF9-4D60-B4FE-9FFDB736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324612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Autoregressive cross-attention. Encoder maps 80-channel log-mel frames; decoder predicts subwords conditioned on preceding tokens. Implicit internal language model.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D3B71C5-9644-4D92-B431-95E5ABAB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234440"/>
            <a:ext cx="3611880" cy="4526280"/>
          </a:xfrm>
          <a:prstGeom xmlns:a="http://schemas.openxmlformats.org/drawingml/2006/main" prst="roundRect">
            <a:avLst>
              <a:gd name="adj" fmla="val 17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F50AEEA-19FD-49A7-8E75-A829D22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234440"/>
            <a:ext cx="36118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A69D62A-1A34-441A-88B3-B93C6D6B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234440"/>
            <a:ext cx="36118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 2 — COMPARISON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ADF324B-8D83-42EB-B540-33A71666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1947672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Meta MMS-1B Khmer</a:t>
            </a:r>
            <a:endParaRPr sz="17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(Acoustic CTC Model)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359C514-2F58-4DA8-97E9-4DDBECC9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2770632"/>
            <a:ext cx="3246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Strategy: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Top-4-layer partial fine-tuning
</a:t>
            </a: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Parameters: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79.1M trainable</a:t>
            </a:r>
            <a:endParaRPr sz="11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1E3ADB3-6A11-45DB-AC33-FEE2CF9E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3566160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32F5EA9-A25E-485D-9CBA-03647469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3984" y="3703320"/>
            <a:ext cx="324612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Wav2Vec 2.0 with CTC. The saved run unfroze the top four encoder layers plus the CTC head / adapter.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CE6CB74-E664-4D57-BD9C-E441F573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34440"/>
            <a:ext cx="3611880" cy="4526280"/>
          </a:xfrm>
          <a:prstGeom xmlns:a="http://schemas.openxmlformats.org/drawingml/2006/main" prst="roundRect">
            <a:avLst>
              <a:gd name="adj" fmla="val 1772"/>
            </a:avLst>
          </a:prstGeom>
          <a:solidFill xmlns:a="http://schemas.openxmlformats.org/drawingml/2006/main">
            <a:srgbClr val="F1F2F5"/>
          </a:solidFill>
          <a:ln xmlns:a="http://schemas.openxmlformats.org/drawingml/2006/main" w="12700">
            <a:solidFill>
              <a:srgbClr val="B7BCC7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9C0E157-B745-42D9-9899-DD349013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34440"/>
            <a:ext cx="3611880" cy="4526280"/>
          </a:xfrm>
          <a:prstGeom xmlns:a="http://schemas.openxmlformats.org/drawingml/2006/main" prst="roundRect">
            <a:avLst>
              <a:gd name="adj" fmla="val 1772"/>
            </a:avLst>
          </a:prstGeom>
          <a:ln xmlns:a="http://schemas.openxmlformats.org/drawingml/2006/main" w="15875">
            <a:solidFill>
              <a:srgbClr val="B7BCC7"/>
            </a:solidFill>
            <a:prstDash val="dash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8681C6F-8C90-4F96-B4FD-3DD0CA36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34440"/>
            <a:ext cx="36118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CBD0D9"/>
          </a:solidFill>
          <a:ln xmlns:a="http://schemas.openxmlformats.org/drawingml/2006/main" w="12700">
            <a:solidFill>
              <a:srgbClr val="CBD0D9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E590129-F741-4D75-9693-36E44C42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34440"/>
            <a:ext cx="36118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4A4F5A"/>
                </a:solidFill>
                <a:latin typeface="Calibri"/>
                <a:ea typeface="Calibri"/>
                <a:cs typeface="Calibri"/>
              </a:rPr>
              <a:t>APPROACH 3 — TRAINING STRATEGY</a:t>
            </a:r>
            <a:endParaRPr sz="12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FA811B8-B005-443F-A332-C0013F55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1947672"/>
            <a:ext cx="3246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6B7080"/>
                </a:solidFill>
                <a:latin typeface="Cambria"/>
                <a:ea typeface="Cambria"/>
                <a:cs typeface="Cambria"/>
              </a:rPr>
              <a:t>Meta MMS-1B Khmer</a:t>
            </a:r>
            <a:endParaRPr sz="1700"/>
          </a:p>
          <a:p xmlns:a="http://schemas.openxmlformats.org/drawingml/2006/main"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6B7080"/>
                </a:solidFill>
                <a:latin typeface="Cambria"/>
                <a:ea typeface="Cambria"/>
                <a:cs typeface="Cambria"/>
              </a:rPr>
              <a:t>(Frozen Encoder + CTC)</a:t>
            </a:r>
            <a:endParaRPr sz="17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D4226EB-1755-4B3B-8B60-D1D3E507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770632"/>
            <a:ext cx="324612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8A2E2E"/>
                </a:solidFill>
                <a:latin typeface="Calibri"/>
                <a:ea typeface="Calibri"/>
                <a:cs typeface="Calibri"/>
              </a:rPr>
              <a:t>Strategy:  Train CTC head only
Parameters:  0.195M trainable</a:t>
            </a:r>
            <a:endParaRPr sz="11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86E94AF2-A335-4C83-AD6C-754CF429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566160"/>
            <a:ext cx="3246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BD0D9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AA202B7-D48A-40F5-870A-F7CEABBB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3703320"/>
            <a:ext cx="324612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5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Same MMS architecture as approach 2. The encoder and adapter stayed frozen; validation WER selected checkpoint 100 after five epochs.</a:t>
            </a:r>
            <a:endParaRPr sz="11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79D1DC-2AE2-461A-8508-5B224EDE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6FCAAC9-1D2D-42A6-81DB-06F1B176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4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066638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23CCEB7-65D3-452D-843A-11E9E9FB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B5B924-3E6E-4F4C-A611-0F46EB3D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A9D6A75-BC59-44E9-8ED0-E547C605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Theoretical Justification: Why Compare Seq2Seq vs. CTC?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632BBD1-9789-4B79-A5E3-41621A43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E1362C1-8440-4DEA-98EF-4484329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5422392" cy="3246120"/>
          </a:xfrm>
          <a:prstGeom xmlns:a="http://schemas.openxmlformats.org/drawingml/2006/main" prst="roundRect">
            <a:avLst>
              <a:gd name="adj" fmla="val 1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05AB27D-6479-4068-B08E-A4028F38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5422392" cy="50292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18C062-059C-4E37-9F82-4D52B3BE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54223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Seq2Seq Transformers</a:t>
            </a:r>
            <a:endParaRPr sz="14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B81C83A-38A2-4151-8F4F-176E91B2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92808"/>
            <a:ext cx="4910328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Autoregressive decoders that learn semantic dependencies.</a:t>
            </a:r>
            <a:endParaRPr sz="1250"/>
          </a:p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With limited fine-tuning data, outputs may repeat or contain unsupported text.</a:t>
            </a:r>
            <a:endParaRPr sz="1250"/>
          </a:p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Predicts tokens autoregressively, using prior output tokens as context.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9FE1051-391C-4875-84E7-7ADA4093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5422392" cy="3246120"/>
          </a:xfrm>
          <a:prstGeom xmlns:a="http://schemas.openxmlformats.org/drawingml/2006/main" prst="roundRect">
            <a:avLst>
              <a:gd name="adj" fmla="val 19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52D5D80-3EC4-468E-B516-D031003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5422392" cy="502920"/>
          </a:xfrm>
          <a:prstGeom xmlns:a="http://schemas.openxmlformats.org/drawingml/2006/main" prst="roundRect">
            <a:avLst>
              <a:gd name="adj" fmla="val 12727"/>
            </a:avLst>
          </a:prstGeom>
          <a:solidFill xmlns:a="http://schemas.openxmlformats.org/drawingml/2006/main">
            <a:srgbClr val="B8892B"/>
          </a:solidFill>
          <a:ln xmlns:a="http://schemas.openxmlformats.org/drawingml/2006/main" w="12700">
            <a:solidFill>
              <a:srgbClr val="B8892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4E27A12-9A76-4B9E-90C3-0B04306F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542239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CTC Models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1412F9C-030E-4D66-82D0-65256AFD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92808"/>
            <a:ext cx="4910328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Use monotonic frame-to-token alignment without autoregressive decoding.</a:t>
            </a:r>
            <a:endParaRPr sz="1250"/>
          </a:p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Greedy CTC decoding avoids a token-by-token text decoder.</a:t>
            </a:r>
            <a:endParaRPr sz="1250"/>
          </a:p>
          <a:p xmlns:a="http://schemas.openxmlformats.org/drawingml/2006/main">
            <a:pPr marL="152400" indent="-152400">
              <a:lnSpc>
                <a:spcPct val="118000"/>
              </a:lnSpc>
              <a:spcAft>
                <a:spcPts val="6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Output tokens are decoded from acoustic frames using CTC.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2B2D737-ADC4-4749-B3E0-80FEF8AD6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5152"/>
            <a:ext cx="11274552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4142743-34AA-43B6-AFC5-E9A13CA4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718304"/>
            <a:ext cx="1088136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What the models illustrate:  Seq2Seq uses prior output tokens; CTC decodes aligned acoustic frames without that text loop.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C5D334E-41AE-4A4D-BEC5-2EFCE22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9280"/>
            <a:ext cx="11274552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2D35620-592E-487D-B004-D2938D45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42432"/>
            <a:ext cx="10872216" cy="630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Comparison limit   Training rows match, but pretraining, model size, and decoding also differ. The score gap does not isolate architecture.</a:t>
            </a:r>
            <a:endParaRPr sz="11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A9FC305-E4EA-450E-A6A2-4C74C95D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8BB8DCF-3F06-40AF-ADC1-2290F821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5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78259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B3B70EB-2BF6-4A28-9BC5-7A40EFE4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CE941B-6230-4231-98C6-B9401D29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45FFC6-06C1-461D-9FD8-8EA4BC24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Saved Training Setup &amp; Tuning Evidence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775A22-8E81-4783-A3D1-937F12D7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2E7BBC6-BACD-4A45-B0A9-37F3921B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Training infrastructure &amp; hardware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12B8294-A58B-4860-BC59-072CFCD8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2768"/>
            <a:ext cx="5422392" cy="2331720"/>
          </a:xfrm>
          <a:prstGeom xmlns:a="http://schemas.openxmlformats.org/drawingml/2006/main" prst="roundRect">
            <a:avLst>
              <a:gd name="adj" fmla="val 2745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2046309-8960-4E75-B46E-10EE4727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02920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Matched runs: Google Colab T4 GPU.</a:t>
            </a:r>
            <a:endParaRPr sz="1250"/>
          </a:p>
          <a:p xmlns:a="http://schemas.openxmlformats.org/drawingml/2006/main"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Framework: PyTorch, Transformers, Hugging Face Datasets, and Accelerate.</a:t>
            </a:r>
            <a:endParaRPr sz="1250"/>
          </a:p>
          <a:p xmlns:a="http://schemas.openxmlformats.org/drawingml/2006/main"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All three used FP16 and seed 42.</a:t>
            </a:r>
            <a:endParaRPr sz="1250"/>
          </a:p>
          <a:p xmlns:a="http://schemas.openxmlformats.org/drawingml/2006/main">
            <a:pPr marL="152400" indent="-152400">
              <a:lnSpc>
                <a:spcPct val="120000"/>
              </a:lnSpc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Shared split: 531 train, 124 validation, 114 test clips.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7B7F55-5861-4B6F-83F4-9AE682B6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0700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Saved run settings (not a complete sweep)</a:t>
            </a:r>
            <a:endParaRPr sz="1400"/>
          </a:p>
        </p:txBody>
      </p:sp>
      <p:graphicFrame>
        <p:nvGraphicFramePr>
          <p:cNvPr id="26" name="Table 0"/>
          <p:cNvGraphicFramePr/>
          <p:nvPr/>
        </p:nvGraphicFramePr>
        <p:xfrm>
          <a:off xmlns:a="http://schemas.openxmlformats.org/drawingml/2006/main" x="6309360" y="1572768"/>
          <a:ext xmlns:a="http://schemas.openxmlformats.org/drawingml/2006/main" cx="5422392" cy="17830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4560"/>
                <a:gridCol w="1618488"/>
                <a:gridCol w="1609344"/>
              </a:tblGrid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Setting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Whisper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Epochs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Learning rate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1e-5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3e-5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Warmup steps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Batch size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Grad. accumulation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E8DA51F-7971-49C8-9059-091567D8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456432"/>
            <a:ext cx="5422392" cy="4572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D0C1C5F-4B9F-4FA0-90D0-97260B15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456432"/>
            <a:ext cx="5212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3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Top-four MMS trained the encoder layers and CTC head. Frozen MMS trained only the CTC head.</a:t>
            </a:r>
            <a:endParaRPr sz="103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3581D0-DD6D-4B86-804A-639380E1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274552" cy="86868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69072DA-0AED-4D00-9ECD-E7CC409D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87952"/>
            <a:ext cx="10872216" cy="722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Tuning evidence   Top-four MMS selected step 300 by validation CER. Frozen MMS selected step 100 by validation ICU WER.</a:t>
            </a:r>
            <a:endParaRPr sz="115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C2BCBD0-CE13-4637-A2B1-F0F4AA5F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757C444-6385-413B-915F-9ACC4150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6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163483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90ACE1D-0838-4A01-8711-E5150EB5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640EB7-8775-4372-B1B8-C41A1641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7D85AD4-4347-4291-A706-C0B3CFB0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Evaluation Metrics: CER vs. WER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953D3C1-0E32-4054-B528-1D59CAB3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5659D8B-BAB5-4386-AD58-35BEE0F0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80160"/>
            <a:ext cx="11274552" cy="2057400"/>
          </a:xfrm>
          <a:prstGeom xmlns:a="http://schemas.openxmlformats.org/drawingml/2006/main" prst="roundRect">
            <a:avLst>
              <a:gd name="adj" fmla="val 3111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637CA3-C52C-4D35-A9F6-32711936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Character Error Rate (CER)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0DD3CBF-E82B-4065-BDCC-52AF30E8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20"/>
            <a:ext cx="106984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i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CER</a:t>
            </a:r>
            <a:r>
              <a:rPr sz="30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 = </a:t>
            </a:r>
            <a:r>
              <a:rPr sz="3000" b="1" i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(S + D + I)</a:t>
            </a:r>
            <a:r>
              <a:rPr sz="30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 ⁄ </a:t>
            </a:r>
            <a:r>
              <a:rPr sz="3000" b="1" i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N</a:t>
            </a:r>
            <a:r>
              <a:rPr sz="30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  × 100%</a:t>
            </a:r>
            <a:endParaRPr sz="3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4669F5-D905-43D8-A6E4-D346FC59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7860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substitutions,   </a:t>
            </a: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deletions,   </a:t>
            </a: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insertions,   </a:t>
            </a:r>
            <a:r>
              <a:rPr sz="13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N</a:t>
            </a: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= total reference Unicode characters.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C91983-C8D6-48CC-83A1-B28DDBA7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62656"/>
            <a:ext cx="10698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Computed after NFC normalization and whitespace removal.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9C02F28-B89C-43AF-A3C5-6836755B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Word Error Rate (WER) for Khmer</a:t>
            </a:r>
            <a:endParaRPr sz="15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19D45A8-7E0E-4103-8EA3-99F8F10A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5072"/>
            <a:ext cx="11274552" cy="196596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05A6E3-48E9-4F2B-A87C-29CD19D0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60520"/>
            <a:ext cx="10789920" cy="1691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Khmer spaces mark phrases, so raw whitespace WER is misleading.</a:t>
            </a:r>
            <a:endParaRPr sz="135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We segment references and predictions with the same ICU km_KH word-break method.</a:t>
            </a:r>
            <a:endParaRPr sz="135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600"/>
              </a:spcAft>
              <a:buSzPct val="100000"/>
              <a:buChar char="●"/>
            </a:pPr>
            <a:r>
              <a:rPr sz="135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WER = (S + D + I) / reference words × 100%. </a:t>
            </a:r>
            <a:r>
              <a:rPr sz="135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Target: below 20% for CER and WER.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0D4DA1B-0230-494B-9802-3380A6F7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309837-501E-4E38-A93C-E1493223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7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509261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6ADAB-937C-4DD5-9AD8-F8208BDA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FD00096-F8CE-4AC6-ACDE-62EB7395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6EB772-1137-4A60-9E80-9A8D6192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Matched Test Results: CER and WER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7A7E0D9-3574-4559-A19C-8D609F84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E80843B-B978-40FD-BED9-8CF241CC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7008"/>
            <a:ext cx="3657600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6A6FD54-678A-4E25-9CB2-8AEAC75D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43584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86.76%</a:t>
            </a:r>
            <a:endParaRPr sz="2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67A763-7B92-4764-A6DA-F0CA365B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Whisper-Tiny  (CER, n = 114)</a:t>
            </a:r>
            <a:endParaRPr sz="12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D4C933F-A561-42AC-8154-1626CDCE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207008"/>
            <a:ext cx="3657600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BAD85A4-D623-4337-9330-B3ABD9E7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243584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15.71%</a:t>
            </a:r>
            <a:endParaRPr sz="2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CF1C078-DE94-4DCD-BE6C-368215A2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737360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Frozen MMS  (CER, n = 114)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82CA2A6-992C-4231-865F-D02CAC0E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07008"/>
            <a:ext cx="3657600" cy="9144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6F3EE"/>
          </a:solidFill>
          <a:ln xmlns:a="http://schemas.openxmlformats.org/drawingml/2006/main" w="12700">
            <a:solidFill>
              <a:srgbClr val="1E7A5F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5AAFE56-126F-4693-BAA8-2DC77EB2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243584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E7A5F"/>
                </a:solidFill>
                <a:latin typeface="Cambria"/>
                <a:ea typeface="Cambria"/>
                <a:cs typeface="Cambria"/>
              </a:rPr>
              <a:t>65.80%</a:t>
            </a:r>
            <a:endParaRPr sz="2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6414D1E-13E9-461C-A611-955917ED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737360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Frozen MMS  (WER, n = 114)</a:t>
            </a:r>
            <a:endParaRPr sz="1200"/>
          </a:p>
        </p:txBody>
      </p:sp>
      <p:graphicFrame>
        <p:nvGraphicFramePr>
          <p:cNvPr id="38" name="Table 0"/>
          <p:cNvGraphicFramePr/>
          <p:nvPr/>
        </p:nvGraphicFramePr>
        <p:xfrm>
          <a:off xmlns:a="http://schemas.openxmlformats.org/drawingml/2006/main" x="457200" y="2331720"/>
          <a:ext xmlns:a="http://schemas.openxmlformats.org/drawingml/2006/main" cx="11274552" cy="1325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36192"/>
                <a:gridCol w="1874520"/>
                <a:gridCol w="1874520"/>
                <a:gridCol w="1417320"/>
                <a:gridCol w="1417320"/>
                <a:gridCol w="777240"/>
                <a:gridCol w="1051560"/>
                <a:gridCol w="1325880"/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Architecture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Tuning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Train / val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 n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Selection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Whisper-Tiny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Seq2Seq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Full tuning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531 / 124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114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86.76%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106.27%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Final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MMS-1B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CTC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Top 4 + head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531 / 124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114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15.84%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67.16%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Best CER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MMS-1B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CTC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Head only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531 / 124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114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15.71%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65.80%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Best WER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A4F9526-D8C2-4C24-BBC0-ADB28325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2192"/>
            <a:ext cx="11274552" cy="804672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55F9770-0E98-44DD-BACB-23DDA58F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86200"/>
            <a:ext cx="10881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All three approaches used the same 114 held-out FLEURS clips. The two MMS training strategies had similar error rates.</a:t>
            </a:r>
            <a:endParaRPr sz="13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7947189-7A27-4E95-AF18-D0F92937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3168"/>
            <a:ext cx="11274552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7496531D-017B-4CF3-99C5-394A9D68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46320"/>
            <a:ext cx="10872216" cy="8138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3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Target   Both CER and WER must be below 20%. Frozen MMS reaches 15.71% CER but 65.80% WER.</a:t>
            </a:r>
            <a:endParaRPr sz="13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9030E7E9-E50D-4234-A8B3-48BF4984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0448"/>
            <a:ext cx="11274552" cy="530352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3B2240B-123C-4410-98CC-E8C73915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870448"/>
            <a:ext cx="10972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CER removes whitespace. WER uses ICU km_KH word breaks. Both scores are corpus edit rates; lower is better.</a:t>
            </a:r>
            <a:endParaRPr sz="9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4158122-C127-4A64-928F-9DE8D77D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5234A559-6DC9-4885-A632-2016373D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8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599775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A57F36-D17B-4C19-853C-76E823B9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F7C1B6D-CB55-418F-A35D-CF736CC4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0E31F0C-CE40-40EE-8549-A07A738E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Earlier Whisper Failure Examples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D8F463C-5983-47C0-BA07-77D7BE8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1906BA5-47CB-4E51-AFFD-9524E53F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Whisper character errors across 200 test examples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51B9687-7E55-4D2D-98B6-00120FC9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2768"/>
            <a:ext cx="365760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895833B-F30D-4AB7-BA2F-CE9A5259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7632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13,424</a:t>
            </a:r>
            <a:endParaRPr sz="2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B27DE48-C06D-48BA-B405-5210BB2A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0552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Substitutions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CF4199C-193A-4AB6-B9BB-815C19EE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572768"/>
            <a:ext cx="365760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0F34A1-0EB1-44E7-B8B7-03D1C39B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1627632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8,741</a:t>
            </a:r>
            <a:endParaRPr sz="2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7593A59-79BB-46DF-928D-D8347D9E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2130552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Deletions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2CEFF82-55EA-4C5B-B901-CAF1B9D3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572768"/>
            <a:ext cx="3657600" cy="96012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3EAFB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0F30800-A877-4220-AF58-43C8F5E3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627632"/>
            <a:ext cx="3657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286</a:t>
            </a:r>
            <a:endParaRPr sz="2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19B944-883F-4A75-B851-E32F2171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130552"/>
            <a:ext cx="3657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Insertions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88807FC-2152-4371-853B-8584D4E6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1488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Observed pattern in high-error outputs</a:t>
            </a:r>
            <a:endParaRPr sz="13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4E067A-A468-4C99-BDF6-0619E01F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11274552" cy="68580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61DD70F-D1E4-4FE0-991D-598519AC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08960"/>
            <a:ext cx="10881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Several examples contain repeated Khmer token strings, suggesting decoding collapse in the observed transcripts.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59E4B1E-3F27-4AD0-A4CC-BC999BD3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50208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Example — FLEURS test row 66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E2D4CCF-3577-40AE-9B4D-A1482896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9392"/>
            <a:ext cx="11274552" cy="105156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FB991AA-A600-4210-B738-024370C8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07408"/>
            <a:ext cx="10698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0000"/>
              </a:lnSpc>
              <a:buNone/>
            </a:pPr>
            <a:r>
              <a:rPr sz="12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Reference:  </a:t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contains “802.11n … 5.0ghz”
</a:t>
            </a:r>
            <a:r>
              <a:rPr sz="12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Output:  </a:t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repeats “</a:t>
            </a:r>
            <a:r>
              <a:rPr sz="1250">
                <a:solidFill>
                  <a:srgbClr val="FFFFFF"/>
                </a:solidFill>
                <a:latin typeface="Khmer OS Battambang"/>
                <a:ea typeface="Khmer OS Battambang"/>
                <a:cs typeface="Khmer OS Battambang"/>
              </a:rPr>
              <a:t>បាន</a:t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” until decoding stops.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80A7BA4-5A1D-4D92-B7A0-51594588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00"/>
            <a:ext cx="11274552" cy="896112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BF2E9"/>
          </a:solidFill>
          <a:ln xmlns:a="http://schemas.openxmlformats.org/drawingml/2006/main" w="12700">
            <a:solidFill>
              <a:srgbClr val="C08A3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F1F07D7-33CC-43CF-AF0D-28EFEC3C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59552"/>
            <a:ext cx="1087221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000"/>
              </a:lnSpc>
              <a:buNone/>
            </a:pP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Historical example   Text alone cannot establish an acoustic cause. </a:t>
            </a: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Final matched predictions for all three approaches are saved.</a:t>
            </a:r>
            <a:endParaRPr sz="11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DBD156D-81B3-43C7-8306-C55D7A99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7D44D9F-A678-4097-AB94-6A6E178A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9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426811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84D3E99-D6B3-4FC1-A21F-08FB1405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FA27AAB-B50E-4CBC-B8C2-1942A9B3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9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2EB74E3-9EDD-410F-A975-77DCE735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Limitations &amp; Prioritized Future Work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E9D412-786A-49C5-B527-44989AA1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7CD6C92-8B5C-4E77-B044-13007382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5422392" cy="384048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BEFEF"/>
          </a:solidFill>
          <a:ln xmlns:a="http://schemas.openxmlformats.org/drawingml/2006/main" w="12700">
            <a:solidFill>
              <a:srgbClr val="C97A7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2593E3-CC11-4910-9846-9A5D5979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5422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8A2E2E"/>
                </a:solidFill>
                <a:latin typeface="Cambria"/>
                <a:ea typeface="Cambria"/>
                <a:cs typeface="Cambria"/>
              </a:rPr>
              <a:t>Limitations of the saved study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87B40A9-11E0-4A7E-8CDF-1DB3E7E0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48006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The 114-clip test set is small and drawn only from FLEURS.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Phone recordings lack verified reference transcripts.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Khmer WER depends on a declared word-segmentation method.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6524128-658F-4F68-B026-7EE7F0B0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5422392" cy="384048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7FB59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BCC1635-560C-485C-928C-A255E1D3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422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E7A5F"/>
                </a:solidFill>
                <a:latin typeface="Cambria"/>
                <a:ea typeface="Cambria"/>
                <a:cs typeface="Cambria"/>
              </a:rPr>
              <a:t>Next steps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A0BD24-6756-483B-A8CA-62E358AE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48006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Listen to high-error test clips and classify causes.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Obtain consented Khmer audio with exact transcripts.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Benchmark stronger Khmer ASR on validation data.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If promising, fine-tune and evaluate once on held-out test.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CD6B9F-DE72-456C-9505-0D1433EC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E521F9D-F230-408C-9D59-A79011C3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10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016225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E27073-7F59-4ADD-A861-E3363DD8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7DEA97-F704-4536-A0AA-D7A7521E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5120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10</a:t>
            </a:r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C2A327A-C286-490F-9395-1820BD4E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7472"/>
            <a:ext cx="1060704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Live Demonstration &amp; Q&amp;A Preparation</a:t>
            </a:r>
            <a:endParaRPr sz="2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BF35C99-752A-4173-8D26-FB368F48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2416"/>
            <a:ext cx="11274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C40C375-A9B9-4687-BBFB-7DD9B28D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5422392" cy="384048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12700">
            <a:solidFill>
              <a:srgbClr val="D9DEE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B720B2-91D2-4596-A605-D8D09CC7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5422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Demo — Gradio web app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FAB81A9-365C-499C-BF01-BE55CE0F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48006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Accepts microphone input or an uploaded audio file.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The demo loads the locally installed top-four MMS checkpoint.</a:t>
            </a:r>
            <a:endParaRPr sz="1300"/>
          </a:p>
          <a:p xmlns:a="http://schemas.openxmlformats.org/drawingml/2006/main"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The live demo result is separate from the 114-clip test score.</a:t>
            </a:r>
            <a:endParaRPr sz="13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A04AC39-AC9A-463F-B9B5-997E0E15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34440"/>
            <a:ext cx="5422392" cy="384048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B67275-62A0-455A-965F-5BC99291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371600"/>
            <a:ext cx="542239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Q&amp;A topics to be ready for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F2CB2A2-B3F8-437F-A177-1C7CA9E1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74520"/>
            <a:ext cx="4800600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Explain three approaches, CER, WER, and the word-error gap.</a:t>
            </a:r>
            <a:endParaRPr sz="1350"/>
          </a:p>
          <a:p xmlns:a="http://schemas.openxmlformats.org/drawingml/2006/main"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State the limits of FLEURS and the small held-out test set.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A6950C1-0574-4421-A702-52F322E0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F6D31C2-BD6E-4379-9D41-6D440365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11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224450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75EE3F-D95D-403A-ACC1-FC447532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4008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Q&amp;A BACKUP SLIDE</a:t>
            </a:r>
            <a:endParaRPr sz="13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E9B051-DB1B-480B-A6B1-B16FCEBE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87552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Appendix: Hyperparameters and References</a:t>
            </a:r>
            <a:endParaRPr sz="28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1EE524-5A1B-4364-A84C-289DEC35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10515600" cy="242316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141A47"/>
          </a:solidFill>
          <a:ln xmlns:a="http://schemas.openxmlformats.org/drawingml/2006/main" w="12700">
            <a:solidFill>
              <a:srgbClr val="141A47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D6E1F29-F42E-42C0-A7E6-42133D2B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01168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Saved run parameters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8D28D27-DBEC-4BD0-95E3-85E7C424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377440"/>
            <a:ext cx="9784080" cy="187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Matched split: 531 train / 124 validation / 114 test clips.</a:t>
            </a:r>
            <a:endParaRPr sz="1500"/>
          </a:p>
          <a:p xmlns:a="http://schemas.openxmlformats.org/drawingml/2006/main"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Whisper: 3 epochs; lr 1e-5; warmup 35; batch 1; accumulation 8.</a:t>
            </a:r>
            <a:endParaRPr sz="1500"/>
          </a:p>
          <a:p xmlns:a="http://schemas.openxmlformats.org/drawingml/2006/main"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Top-four MMS: 15 epochs; lr 3e-5; best step 300 by val CER.</a:t>
            </a:r>
            <a:endParaRPr sz="1500"/>
          </a:p>
          <a:p xmlns:a="http://schemas.openxmlformats.org/drawingml/2006/main">
            <a:pPr marL="152400" indent="-152400">
              <a:lnSpc>
                <a:spcPct val="128000"/>
              </a:lnSpc>
              <a:spcAft>
                <a:spcPts val="800"/>
              </a:spcAft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Frozen MMS: 5 epochs; lr 3e-5; head only; best step 100 by val WER.</a:t>
            </a:r>
            <a:endParaRPr sz="1500"/>
          </a:p>
          <a:p xmlns:a="http://schemas.openxmlformats.org/drawingml/2006/main">
            <a:pPr marL="152400" indent="-152400">
              <a:lnSpc>
                <a:spcPct val="128000"/>
              </a:lnSpc>
              <a:buSzPct val="100000"/>
              <a:buChar char="●"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All three use the same test references and metric policy.</a:t>
            </a:r>
            <a:endParaRPr sz="15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9CAECFD-15C3-4653-8BB3-1902CEAA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10515600" cy="1874520"/>
          </a:xfrm>
          <a:prstGeom xmlns:a="http://schemas.openxmlformats.org/drawingml/2006/main" prst="roundRect">
            <a:avLst>
              <a:gd name="adj" fmla="val 3415"/>
            </a:avLst>
          </a:prstGeom>
          <a:solidFill xmlns:a="http://schemas.openxmlformats.org/drawingml/2006/main">
            <a:srgbClr val="141A47"/>
          </a:solidFill>
          <a:ln xmlns:a="http://schemas.openxmlformats.org/drawingml/2006/main" w="12700">
            <a:solidFill>
              <a:srgbClr val="141A47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F7FABA7-D995-4A6D-8A61-7383FD88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590288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B8892B"/>
                </a:solidFill>
                <a:latin typeface="Cambria"/>
                <a:ea typeface="Cambria"/>
                <a:cs typeface="Cambria"/>
              </a:rPr>
              <a:t>References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7A3655-2651-494F-896D-290691FB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956048"/>
            <a:ext cx="97840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Radford et al. (2023), </a:t>
            </a:r>
            <a:r>
              <a:rPr sz="14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Robust Speech Recognition via Large-Scale Weak Supervision</a:t>
            </a:r>
            <a:endParaRPr sz="1400"/>
          </a:p>
          <a:p xmlns:a="http://schemas.openxmlformats.org/drawingml/2006/main"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Pratap et al. (2023), </a:t>
            </a:r>
            <a:r>
              <a:rPr sz="14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Scaling Speech Technology to 1,000+ Languages</a:t>
            </a:r>
            <a:endParaRPr sz="1400"/>
          </a:p>
          <a:p xmlns:a="http://schemas.openxmlformats.org/drawingml/2006/main"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Conneau et al. (2023)</a:t>
            </a:r>
            <a:endParaRPr sz="1400"/>
          </a:p>
          <a:p xmlns:a="http://schemas.openxmlformats.org/drawingml/2006/main">
            <a:pPr marL="0" indent="0">
              <a:lnSpc>
                <a:spcPct val="132000"/>
              </a:lnSpc>
              <a:spcAft>
                <a:spcPts val="400"/>
              </a:spcAft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Graves et al. (2006)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600E72B-85EB-4AAC-801E-10B52630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7104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AA3E24-B65F-4E40-A02F-91E2BFC3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75" y="6547104"/>
            <a:ext cx="731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12 / 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059805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2026-09-25T14:09:29.6900000Z</dcterms:created>
  <dcterms:modified xsi:type="dcterms:W3CDTF">2026-09-25T14:09:29.6900000Z</dcterms:modified>
</coreProperties>
</file>