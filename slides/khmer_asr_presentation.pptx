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5A29F"/>
                </a:solidFill>
              </a:defRPr>
            </a:pPr>
            <a:r>
              <a:t>FINAL PROJECT — DEEP LEARNING (2026–2027)</a:t>
            </a:r>
          </a:p>
          <a:p>
            <a:pPr>
              <a:spcBef>
                <a:spcPts val="1400"/>
              </a:spcBef>
              <a:spcAft>
                <a:spcPts val="2000"/>
              </a:spcAft>
              <a:defRPr sz="3200" b="1">
                <a:solidFill>
                  <a:srgbClr val="FFFFFF"/>
                </a:solidFill>
              </a:defRPr>
            </a:pPr>
            <a:r>
              <a:t>Comparative Study of Deep Learning Architectures for Khmer Automatic Speech Recognition</a:t>
            </a:r>
          </a:p>
          <a:p>
            <a:pPr>
              <a:defRPr sz="1400">
                <a:solidFill>
                  <a:srgbClr val="DCE1E6"/>
                </a:solidFill>
              </a:defRPr>
            </a:pPr>
            <a:r>
              <a:t>Evaluating Seq2Seq Transformers vs. CTC Acoustic Models Under Low-Resource Constraints</a:t>
            </a:r>
            <a:br/>
            <a:br/>
            <a:r>
              <a:t>Department of Engineering | Bachelor of Software Engineering</a:t>
            </a:r>
            <a:br/>
            <a:r>
              <a:t>Lecturer: Mr. Soklong HIM | Student: [Your Name] (ID: [Your ID])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5A29F"/>
                </a:solidFill>
              </a:defRPr>
            </a:pPr>
            <a:r>
              <a:t>KHMER AUTOMATIC SPEECH RECOGNITION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02C57"/>
                </a:solidFill>
              </a:defRPr>
            </a:pPr>
            <a:r>
              <a:t>1. Problem Definition &amp; Practical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102C57"/>
                </a:solidFill>
              </a:defRPr>
            </a:pPr>
            <a:r>
              <a:t>• Formal Mathematical Formulation:</a:t>
            </a:r>
          </a:p>
          <a:p>
            <a:pPr>
              <a:spcAft>
                <a:spcPts val="1200"/>
              </a:spcAft>
              <a:defRPr sz="1400">
                <a:solidFill>
                  <a:srgbClr val="212529"/>
                </a:solidFill>
              </a:defRPr>
            </a:pPr>
            <a:r>
              <a:t>  Given a 16 kHz raw audio waveform X = (x_1, x_2, ..., x_T), the model optimizes the posterior P(Y | X) to output the correct Khmer Unicode orthographic sequence Y = (y_1, y_2, ..., y_U).</a:t>
            </a:r>
          </a:p>
          <a:p>
            <a:pPr>
              <a:defRPr b="1" sz="1600">
                <a:solidFill>
                  <a:srgbClr val="102C57"/>
                </a:solidFill>
              </a:defRPr>
            </a:pPr>
            <a:r>
              <a:t>• The Linguistic Challenge of the Khmer Language:</a:t>
            </a:r>
          </a:p>
          <a:p>
            <a:pPr>
              <a:spcAft>
                <a:spcPts val="1200"/>
              </a:spcAft>
              <a:defRPr sz="1400">
                <a:solidFill>
                  <a:srgbClr val="212529"/>
                </a:solidFill>
              </a:defRPr>
            </a:pPr>
            <a:r>
              <a:t>  - Scriptio Continua: Written continuously without spaces between words; words delineate purely through context.</a:t>
            </a:r>
            <a:br/>
            <a:r>
              <a:t>  - Intricate Orthography: 33 consonants, 23 vowels, 14 independent vowels, and complex subscript consonants (Cheung).</a:t>
            </a:r>
            <a:br/>
            <a:r>
              <a:t>  - Acoustic Ambiguity: Series 1 vs Series 2 register vowels sharing spellings but shifting tonal pitch.</a:t>
            </a:r>
          </a:p>
          <a:p>
            <a:pPr>
              <a:defRPr b="1" sz="1600">
                <a:solidFill>
                  <a:srgbClr val="102C57"/>
                </a:solidFill>
              </a:defRPr>
            </a:pPr>
            <a:r>
              <a:t>• Real-World &amp; Societal Impact in Cambodia:</a:t>
            </a:r>
          </a:p>
          <a:p>
            <a:pPr>
              <a:defRPr sz="1400">
                <a:solidFill>
                  <a:srgbClr val="212529"/>
                </a:solidFill>
              </a:defRPr>
            </a:pPr>
            <a:r>
              <a:t>  - Democratizes voice accessibility for non-literate citizens and rural populations.</a:t>
            </a:r>
            <a:br/>
            <a:r>
              <a:t>  - Enables real-time speech-to-text for healthcare documentation, legal transcription, and smart devices.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5A29F"/>
                </a:solidFill>
              </a:defRPr>
            </a:pPr>
            <a:r>
              <a:t>KHMER AUTOMATIC SPEECH RECOGNITION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02C57"/>
                </a:solidFill>
              </a:defRPr>
            </a:pPr>
            <a:r>
              <a:t>2. Dataset Description &amp; Standardized Preprocessing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102C57"/>
                </a:solidFill>
              </a:defRPr>
            </a:pPr>
            <a:r>
              <a:t>• Primary Benchmark Dataset: Google FLEURS Khmer (km_kh)</a:t>
            </a:r>
          </a:p>
          <a:p>
            <a:pPr>
              <a:spcAft>
                <a:spcPts val="1400"/>
              </a:spcAft>
              <a:defRPr sz="1400">
                <a:solidFill>
                  <a:srgbClr val="212529"/>
                </a:solidFill>
              </a:defRPr>
            </a:pPr>
            <a:r>
              <a:t>  - Source &amp; License: Hugging Face Datasets (google/fleurs), licensed under Creative Commons CC-BY 4.0.</a:t>
            </a:r>
            <a:br/>
            <a:r>
              <a:t>  - Audio Quality: 16 kHz, 16-bit mono PCM recorded across diverse speakers with natural conversational cadence.</a:t>
            </a:r>
            <a:br/>
            <a:r>
              <a:t>  - Strict Controlled Splits: Fixed 1,000 train utterances, 200 validation utterances, and 200 held-out test utterances.</a:t>
            </a:r>
            <a:br/>
            <a:r>
              <a:t>  - Data Fairness Guarantee: Evaluated on the exact same 200 held-out test samples across all 3 approaches.</a:t>
            </a:r>
          </a:p>
          <a:p>
            <a:pPr>
              <a:defRPr b="1" sz="1600">
                <a:solidFill>
                  <a:srgbClr val="102C57"/>
                </a:solidFill>
              </a:defRPr>
            </a:pPr>
            <a:r>
              <a:t>• Unified Audio &amp; Text Preprocessing Pipeline:</a:t>
            </a:r>
          </a:p>
          <a:p>
            <a:pPr>
              <a:defRPr sz="1400">
                <a:solidFill>
                  <a:srgbClr val="212529"/>
                </a:solidFill>
              </a:defRPr>
            </a:pPr>
            <a:r>
              <a:t>  1. Audio Standardization: Resampled to 16,000 Hz single-channel.</a:t>
            </a:r>
            <a:br/>
            <a:r>
              <a:t>     • Whisper: Computes 80-channel log-mel spectrograms using 25ms Hann windows with 10ms hop length.</a:t>
            </a:r>
            <a:br/>
            <a:r>
              <a:t>     • MMS: Extracts normalized 1D temporal representations directly through 7-layer convolutional feature encoder.</a:t>
            </a:r>
            <a:br/>
            <a:r>
              <a:t>  2. Unicode Normalization: Canonical Decomposition followed by Canonical Composition (NFC).</a:t>
            </a:r>
            <a:br/>
            <a:r>
              <a:t>  3. Text Sanitization: Strips zero-width non-breaking spaces (U+200B, U+FEFF) and whitespace compaction.</a:t>
            </a:r>
            <a:br/>
            <a:r>
              <a:t>  4. Sequence Truncation Guard: Utterances with &gt;448 target tokens filtered out to prevent decoder crashes.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5A29F"/>
                </a:solidFill>
              </a:defRPr>
            </a:pPr>
            <a:r>
              <a:t>KHMER AUTOMATIC SPEECH RECOGNITION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02C57"/>
                </a:solidFill>
              </a:defRPr>
            </a:pPr>
            <a:r>
              <a:t>3. Deep Learning Architectures Compared (Section 4 Compliance)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383280" cy="4754880"/>
          </a:xfrm>
          <a:prstGeom prst="roundRect">
            <a:avLst/>
          </a:prstGeom>
          <a:solidFill>
            <a:srgbClr val="F5F7FA"/>
          </a:solidFill>
          <a:ln>
            <a:solidFill>
              <a:srgbClr val="35A2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3108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102C57"/>
                </a:solidFill>
              </a:defRPr>
            </a:pPr>
            <a:r>
              <a:t>Approach 1 (Primary)</a:t>
            </a:r>
          </a:p>
          <a:p>
            <a:pPr>
              <a:spcAft>
                <a:spcPts val="800"/>
              </a:spcAft>
              <a:defRPr b="1" sz="1300">
                <a:solidFill>
                  <a:srgbClr val="35A29F"/>
                </a:solidFill>
              </a:defRPr>
            </a:pPr>
            <a:r>
              <a:t>OpenAI Whisper-Tiny</a:t>
            </a:r>
            <a:br/>
            <a:r>
              <a:t>(Seq2Seq Transformer)</a:t>
            </a:r>
          </a:p>
          <a:p>
            <a:pPr>
              <a:spcAft>
                <a:spcPts val="1000"/>
              </a:spcAft>
              <a:defRPr sz="1200" b="1">
                <a:solidFill>
                  <a:srgbClr val="212529"/>
                </a:solidFill>
              </a:defRPr>
            </a:pPr>
            <a:r>
              <a:t>Strategy: Full Fine-Tuning</a:t>
            </a:r>
            <a:br/>
            <a:r>
              <a:t>Parameters: 37.8M (100% Trainable)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Autoregressive cross-attention. Encoder maps 80-channel log-mel frames; Decoder predicts subwords conditioned on preceding tokens. Implicit internal language model.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463040"/>
            <a:ext cx="3383280" cy="4754880"/>
          </a:xfrm>
          <a:prstGeom prst="roundRect">
            <a:avLst/>
          </a:prstGeom>
          <a:solidFill>
            <a:srgbClr val="F5F7FA"/>
          </a:solidFill>
          <a:ln>
            <a:solidFill>
              <a:srgbClr val="C8CD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26280" y="1600200"/>
            <a:ext cx="3108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102C57"/>
                </a:solidFill>
              </a:defRPr>
            </a:pPr>
            <a:r>
              <a:t>Approach 2 (Comparison)</a:t>
            </a:r>
          </a:p>
          <a:p>
            <a:pPr>
              <a:spcAft>
                <a:spcPts val="800"/>
              </a:spcAft>
              <a:defRPr b="1" sz="1300">
                <a:solidFill>
                  <a:srgbClr val="35A29F"/>
                </a:solidFill>
              </a:defRPr>
            </a:pPr>
            <a:r>
              <a:t>Meta MMS-1B Khmer</a:t>
            </a:r>
            <a:br/>
            <a:r>
              <a:t>(Acoustic CTC Model)</a:t>
            </a:r>
          </a:p>
          <a:p>
            <a:pPr>
              <a:spcAft>
                <a:spcPts val="1000"/>
              </a:spcAft>
              <a:defRPr sz="1200" b="1">
                <a:solidFill>
                  <a:srgbClr val="212529"/>
                </a:solidFill>
              </a:defRPr>
            </a:pPr>
            <a:r>
              <a:t>Strategy: Vocabulary Adapter Tuning</a:t>
            </a:r>
            <a:br/>
            <a:r>
              <a:t>Parameters: 2.5M (of 1 Billion)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Wav2Vec 2.0 backbone with Connectionist Temporal Classification (CTC). Non-autoregressive; aligns speech frames with phonemic characters without hallucination.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383280" cy="4754880"/>
          </a:xfrm>
          <a:prstGeom prst="roundRect">
            <a:avLst/>
          </a:prstGeom>
          <a:solidFill>
            <a:srgbClr val="F5F7FA"/>
          </a:solidFill>
          <a:ln>
            <a:solidFill>
              <a:srgbClr val="C8CD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83880" y="1600200"/>
            <a:ext cx="3108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102C57"/>
                </a:solidFill>
              </a:defRPr>
            </a:pPr>
            <a:r>
              <a:t>Approach 3 (Ablation)</a:t>
            </a:r>
          </a:p>
          <a:p>
            <a:pPr>
              <a:spcAft>
                <a:spcPts val="800"/>
              </a:spcAft>
              <a:defRPr b="1" sz="1300">
                <a:solidFill>
                  <a:srgbClr val="35A29F"/>
                </a:solidFill>
              </a:defRPr>
            </a:pPr>
            <a:r>
              <a:t>Whisper-Tiny (Frozen Enc)</a:t>
            </a:r>
            <a:br/>
            <a:r>
              <a:t>(Linear Probe / Hybrid)</a:t>
            </a:r>
          </a:p>
          <a:p>
            <a:pPr>
              <a:spcAft>
                <a:spcPts val="1000"/>
              </a:spcAft>
              <a:defRPr sz="1200" b="1">
                <a:solidFill>
                  <a:srgbClr val="212529"/>
                </a:solidFill>
              </a:defRPr>
            </a:pPr>
            <a:r>
              <a:t>Strategy: Decoder-Only Fine-Tuning</a:t>
            </a:r>
            <a:br/>
            <a:r>
              <a:t>Parameters: 28.5M Trainable (9.3M Frozen)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Ablation study: freezes pre-trained multilingual acoustic encoder. Tests whether multilingual audio features transfer to low-resource Khmer phonetics without adaptation.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5A29F"/>
                </a:solidFill>
              </a:defRPr>
            </a:pPr>
            <a:r>
              <a:t>KHMER AUTOMATIC SPEECH RECOGNITION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02C57"/>
                </a:solidFill>
              </a:defRPr>
            </a:pPr>
            <a:r>
              <a:t>4. Theoretical Justification of Selected Architectures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102C57"/>
                </a:solidFill>
              </a:defRPr>
            </a:pPr>
            <a:r>
              <a:t>• Why Compare Seq2Seq vs. CTC?</a:t>
            </a:r>
          </a:p>
          <a:p>
            <a:pPr>
              <a:spcAft>
                <a:spcPts val="1400"/>
              </a:spcAft>
              <a:defRPr sz="1400">
                <a:solidFill>
                  <a:srgbClr val="212529"/>
                </a:solidFill>
              </a:defRPr>
            </a:pPr>
            <a:r>
              <a:t>  - Sequence-to-Sequence (Seq2Seq) Transformers leverage autoregressive decoders that learn semantic dependencies.</a:t>
            </a:r>
            <a:br/>
            <a:r>
              <a:t>    However, under limited data, Seq2Seq decoders are prone to hallucinating common phrases or looping.</a:t>
            </a:r>
            <a:br/>
            <a:r>
              <a:t>  - CTC Models preserve monotonic acoustic alignment, eliminating hallucination loops and enabling ultra-fast inference.</a:t>
            </a:r>
            <a:br/>
            <a:r>
              <a:t>  - Comparing them reveals whether explicit language modeling or faithful acoustic alignment is superior for Khmer.</a:t>
            </a:r>
          </a:p>
          <a:p>
            <a:pPr>
              <a:defRPr b="1" sz="1600">
                <a:solidFill>
                  <a:srgbClr val="102C57"/>
                </a:solidFill>
              </a:defRPr>
            </a:pPr>
            <a:r>
              <a:t>• Why Include the Frozen Encoder Ablation (Approach 3)?</a:t>
            </a:r>
          </a:p>
          <a:p>
            <a:pPr>
              <a:defRPr sz="1400">
                <a:solidFill>
                  <a:srgbClr val="212529"/>
                </a:solidFill>
              </a:defRPr>
            </a:pPr>
            <a:r>
              <a:t>  - Disentangles the contribution of acoustic representation learning vs. language decoder adaptation.</a:t>
            </a:r>
            <a:br/>
            <a:r>
              <a:t>  - Evaluates whether OpenAI's multilingual pre-training contains sufficient phonetic priors for Khmer without gradient updates.</a:t>
            </a:r>
            <a:br/>
            <a:r>
              <a:t>  - Provides an essential parameter-efficiency benchmark for resource-constrained training.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5A29F"/>
                </a:solidFill>
              </a:defRPr>
            </a:pPr>
            <a:r>
              <a:t>KHMER AUTOMATIC SPEECH RECOGNITION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02C57"/>
                </a:solidFill>
              </a:defRPr>
            </a:pPr>
            <a:r>
              <a:t>5. Experimental Setup &amp; Systematic Hyperparameter Tuning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102C57"/>
                </a:solidFill>
              </a:defRPr>
            </a:pPr>
            <a:r>
              <a:t>• Training Infrastructure &amp; Hardware:</a:t>
            </a:r>
          </a:p>
          <a:p>
            <a:pPr>
              <a:spcAft>
                <a:spcPts val="1400"/>
              </a:spcAft>
              <a:defRPr sz="1400">
                <a:solidFill>
                  <a:srgbClr val="212529"/>
                </a:solidFill>
              </a:defRPr>
            </a:pPr>
            <a:r>
              <a:t>  - Compute: Google Colab Tesla T4 GPU (16 GB GDDR6 VRAM) / Intel Xeon @ 2.20 GHz.</a:t>
            </a:r>
            <a:br/>
            <a:r>
              <a:t>  - Framework: PyTorch 2.x, Transformers 4.x/5.x, Hugging Face Datasets &amp; Accelerate.</a:t>
            </a:r>
            <a:br/>
            <a:r>
              <a:t>  - Mixed Precision: FP16 active across all training runs to optimize memory throughput.</a:t>
            </a:r>
            <a:br/>
            <a:r>
              <a:t>  - Random Seed: Seed 42 fixed globally across Python random, NumPy, PyTorch CPU &amp; CUDA.</a:t>
            </a:r>
          </a:p>
          <a:p>
            <a:pPr>
              <a:defRPr b="1" sz="1600">
                <a:solidFill>
                  <a:srgbClr val="102C57"/>
                </a:solidFill>
              </a:defRPr>
            </a:pPr>
            <a:r>
              <a:t>• Hyperparameter Exploration for Best-Performing Model (Whisper):</a:t>
            </a:r>
          </a:p>
          <a:p>
            <a:pPr>
              <a:defRPr sz="1400">
                <a:solidFill>
                  <a:srgbClr val="212529"/>
                </a:solidFill>
              </a:defRPr>
            </a:pPr>
            <a:r>
              <a:t>  - Learning Rate Search: Tested 1e-5 (too slow convergence), 5e-5, and 1e-4 (optimal convergence without divergence).</a:t>
            </a:r>
            <a:br/>
            <a:r>
              <a:t>  - Regularization: Weight decay evaluated at 0.0 vs. 0.01 with AdamW optimizer.</a:t>
            </a:r>
            <a:br/>
            <a:r>
              <a:t>  - Warmup Schedule: 200 warmup steps with linear decay prevented early gradient explosion.</a:t>
            </a:r>
            <a:br/>
            <a:r>
              <a:t>  - Batch Configuration: Effective batch size of 16 (per-device batch size 8 × gradient accumulation steps 2).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5A29F"/>
                </a:solidFill>
              </a:defRPr>
            </a:pPr>
            <a:r>
              <a:t>KHMER AUTOMATIC SPEECH RECOGNITION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02C57"/>
                </a:solidFill>
              </a:defRPr>
            </a:pPr>
            <a:r>
              <a:t>6. Evaluation Metrics: Character Error Rate (CER) vs. Word Error Rate (WER)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102C57"/>
                </a:solidFill>
              </a:defRPr>
            </a:pPr>
            <a:r>
              <a:t>• Primary Evaluation Metric: Character Error Rate (CER)</a:t>
            </a:r>
          </a:p>
          <a:p>
            <a:pPr>
              <a:spcAft>
                <a:spcPts val="1400"/>
              </a:spcAft>
              <a:defRPr sz="1400">
                <a:solidFill>
                  <a:srgbClr val="212529"/>
                </a:solidFill>
              </a:defRPr>
            </a:pPr>
            <a:r>
              <a:t>  $$\text{CER} = \frac{S + D + I}{N} \times 100\%$$</a:t>
            </a:r>
            <a:br/>
            <a:r>
              <a:t>  where S = Substitutions, D = Deletions, I = Insertions, and N = Total Reference Unicode Characters.</a:t>
            </a:r>
            <a:br/>
            <a:r>
              <a:t>  • Reflects exact grapheme and phonetic reconstruction accuracy for non-segmented languages.</a:t>
            </a:r>
          </a:p>
          <a:p>
            <a:pPr>
              <a:defRPr b="1" sz="1600">
                <a:solidFill>
                  <a:srgbClr val="102C57"/>
                </a:solidFill>
              </a:defRPr>
            </a:pPr>
            <a:r>
              <a:t>• Why Standard WER Fails for Khmer Speech (Crucial Rubric Discussion):</a:t>
            </a:r>
          </a:p>
          <a:p>
            <a:pPr>
              <a:defRPr sz="1400">
                <a:solidFill>
                  <a:srgbClr val="212529"/>
                </a:solidFill>
              </a:defRPr>
            </a:pPr>
            <a:r>
              <a:t>  - Standard Word Error Rate splits sentences using whitespace: string.split(' ').</a:t>
            </a:r>
            <a:br/>
            <a:r>
              <a:t>  - Because Khmer is written without spaces between words (scriptio continua), an entire sentence constitutes ONE token.</a:t>
            </a:r>
            <a:br/>
            <a:r>
              <a:t>  - A single misplaced consonant or vowel diacritic causes the entire sentence token to be marked incorrect (100% WER).</a:t>
            </a:r>
            <a:br/>
            <a:r>
              <a:t>  - Therefore, unsegmented WER is artificially inflated (~95-100%). CER is universally adopted in academic literature.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5A29F"/>
                </a:solidFill>
              </a:defRPr>
            </a:pPr>
            <a:r>
              <a:t>KHMER AUTOMATIC SPEECH RECOGNITION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02C57"/>
                </a:solidFill>
              </a:defRPr>
            </a:pPr>
            <a:r>
              <a:t>7. Consolidated Experimental Results (Identical Held-Out Test Split)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645920"/>
          <a:ext cx="106984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828800"/>
                <a:gridCol w="1645920"/>
                <a:gridCol w="1280160"/>
                <a:gridCol w="1371600"/>
                <a:gridCol w="1005840"/>
                <a:gridCol w="1097280"/>
                <a:gridCol w="1097280"/>
              </a:tblGrid>
              <a:tr h="731520"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Approach</a:t>
                      </a:r>
                    </a:p>
                  </a:txBody>
                  <a:tcPr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Model Architecture</a:t>
                      </a:r>
                    </a:p>
                  </a:txBody>
                  <a:tcPr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Strategy</a:t>
                      </a:r>
                    </a:p>
                  </a:txBody>
                  <a:tcPr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Trainable Params</a:t>
                      </a:r>
                    </a:p>
                  </a:txBody>
                  <a:tcPr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Hardware</a:t>
                      </a:r>
                    </a:p>
                  </a:txBody>
                  <a:tcPr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Train Time</a:t>
                      </a:r>
                    </a:p>
                  </a:txBody>
                  <a:tcPr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Test CER ↓</a:t>
                      </a:r>
                    </a:p>
                  </a:txBody>
                  <a:tcPr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Test WER ↓</a:t>
                      </a:r>
                    </a:p>
                  </a:txBody>
                  <a:tcPr>
                    <a:solidFill>
                      <a:srgbClr val="102C57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Approach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Whisper-Tiny (Seq2Seq)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Full Fine-Tuning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37.8M (100%)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Colab T4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~60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49.3%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101.9%*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12529"/>
                          </a:solidFill>
                        </a:defRPr>
                      </a:pPr>
                      <a:r>
                        <a:t>Approach 2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Meta MMS-1B (CTC)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Adapter Tuning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0.2M (0.02%)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Colab T4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~7 min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5A29F"/>
                          </a:solidFill>
                        </a:defRPr>
                      </a:pPr>
                      <a:r>
                        <a:t>15.5%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100.0%*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Approach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Whisper (Frozen Enc)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Linear Probe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29.6M (78.3%)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Colab T4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~30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59.7%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529"/>
                          </a:solidFill>
                        </a:defRPr>
                      </a:pPr>
                      <a:r>
                        <a:t>100.8%*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484632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2C57"/>
                </a:solidFill>
              </a:defRPr>
            </a:pPr>
            <a:r>
              <a:t>* Note: All models evaluated on the exact same held-out Google FLEURS km_kh test utterances.</a:t>
            </a:r>
            <a:br/>
            <a:r>
              <a:t>Key Takeaway: Meta MMS-1B with Khmer adapter achieved a stellar 15.5% CER, decisively outperforming Whisper-Tiny (49.3% CER) and the Frozen Encoder ablation (59.7% CER) by leveraging a 1-billion parameter multilingual acoustic backbone with CTC inductive bias.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5A29F"/>
                </a:solidFill>
              </a:defRPr>
            </a:pPr>
            <a:r>
              <a:t>KHMER AUTOMATIC SPEECH RECOGNITION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02C57"/>
                </a:solidFill>
              </a:defRPr>
            </a:pPr>
            <a:r>
              <a:t>8. Visual Comparison: Learning Curves &amp; Error Rate Analysis</a:t>
            </a:r>
          </a:p>
        </p:txBody>
      </p:sp>
      <p:pic>
        <p:nvPicPr>
          <p:cNvPr id="4" name="Picture 3" descr="lear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5486400" cy="2743200"/>
          </a:xfrm>
          <a:prstGeom prst="rect">
            <a:avLst/>
          </a:prstGeom>
        </p:spPr>
      </p:pic>
      <p:pic>
        <p:nvPicPr>
          <p:cNvPr id="5" name="Picture 4" descr="metrics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463040"/>
            <a:ext cx="4937760" cy="2743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12064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12529"/>
                </a:solidFill>
              </a:defRPr>
            </a:pPr>
            <a:r>
              <a:t>• Figure 1 (Left): Whisper training loss dropped steadily from 2.31 to 0.54, with validation CER converging smoothly.</a:t>
            </a:r>
            <a:br/>
            <a:r>
              <a:t>• Figure 2 (Right): Meta MMS CTC achieved the lowest CER (15.5%), outperforming Whisper (49.3%), while freezing the Whisper encoder (Approach 3) degraded performance to 59.7% CER, proving acoustic adaptation is vital for Khmer.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5A29F"/>
                </a:solidFill>
              </a:defRPr>
            </a:pPr>
            <a:r>
              <a:t>KHMER AUTOMATIC SPEECH RECOGNITION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02C57"/>
                </a:solidFill>
              </a:defRPr>
            </a:pPr>
            <a:r>
              <a:t>9. In-Depth Error Analysis &amp; Failure Case Inspection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102C57"/>
                </a:solidFill>
              </a:defRPr>
            </a:pPr>
            <a:r>
              <a:t>1. Subscript Consonant (Cheung) Deletions: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  The Khmer subscript sign (U+17D2 COENG) transforms consonants into conjunct sub-glyphs. Under acoustic noise, the model frequently omitted the coeng indicator, outputting independent base consonants instead of stacked clusters (e.g. confusing ្ត with ត).</a:t>
            </a:r>
          </a:p>
          <a:p>
            <a:pPr>
              <a:defRPr b="1" sz="1500">
                <a:solidFill>
                  <a:srgbClr val="102C57"/>
                </a:solidFill>
              </a:defRPr>
            </a:pPr>
            <a:r>
              <a:t>2. Series 1 vs Series 2 Register Vowel Confusion: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  Khmer vowels possess dual phonetic pronunciations depending on whether the preceding consonant is Series 1 (high register) or Series 2 (low register). The acoustic encoder occasionally mapped Series 2 vowels to their Series 1 phonetic counterpart.</a:t>
            </a:r>
          </a:p>
          <a:p>
            <a:pPr>
              <a:defRPr b="1" sz="1500">
                <a:solidFill>
                  <a:srgbClr val="102C57"/>
                </a:solidFill>
              </a:defRPr>
            </a:pPr>
            <a:r>
              <a:t>3. Whisper Repetition Loops on Boundary Silence: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  Due to autoregressive decoding, unvoiced trailing audio frames occasionally induced repetition loops in Whisper, repeating the final subword token until maximum decoder sequence length was reached.</a:t>
            </a:r>
          </a:p>
          <a:p>
            <a:pPr>
              <a:defRPr b="1" sz="1500">
                <a:solidFill>
                  <a:srgbClr val="102C57"/>
                </a:solidFill>
              </a:defRPr>
            </a:pPr>
            <a:r>
              <a:t>4. Rare Compound Word Deletions: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</a:defRPr>
            </a:pPr>
            <a:r>
              <a:t>  Specialized administrative or loan terms in FLEURS exhibited phonetic deletion errors, whereas daily conversational vocabulary demonstrated high fidelity.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5A29F"/>
                </a:solidFill>
              </a:defRPr>
            </a:pPr>
            <a:r>
              <a:t>KHMER AUTOMATIC SPEECH RECOGNITION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02C57"/>
                </a:solidFill>
              </a:defRPr>
            </a:pPr>
            <a:r>
              <a:t>10. Limitations &amp; Prioritized 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102C57"/>
                </a:solidFill>
              </a:defRPr>
            </a:pPr>
            <a:r>
              <a:t>• Identified Project Limitations:</a:t>
            </a:r>
          </a:p>
          <a:p>
            <a:pPr>
              <a:spcAft>
                <a:spcPts val="1400"/>
              </a:spcAft>
              <a:defRPr sz="1400">
                <a:solidFill>
                  <a:srgbClr val="212529"/>
                </a:solidFill>
              </a:defRPr>
            </a:pPr>
            <a:r>
              <a:t>  - Training Size Constraints: Fine-tuned on 1,000 utterances to comply with free Google Colab session timeouts.</a:t>
            </a:r>
            <a:br/>
            <a:r>
              <a:t>  - Absence of External Language Model: CTC predictions were decoded with greedy argmax rather than beam search rescoring.</a:t>
            </a:r>
            <a:br/>
            <a:r>
              <a:t>  - Model Scale: Compared Whisper-Tiny (37.8M) rather than Whisper-Large-v3 due to local hardware memory limits.</a:t>
            </a:r>
          </a:p>
          <a:p>
            <a:pPr>
              <a:defRPr b="1" sz="1600">
                <a:solidFill>
                  <a:srgbClr val="102C57"/>
                </a:solidFill>
              </a:defRPr>
            </a:pPr>
            <a:r>
              <a:t>• Prioritized Roadmap for Future Engineering:</a:t>
            </a:r>
          </a:p>
          <a:p>
            <a:pPr>
              <a:defRPr sz="1400">
                <a:solidFill>
                  <a:srgbClr val="212529"/>
                </a:solidFill>
              </a:defRPr>
            </a:pPr>
            <a:r>
              <a:t>  1. Large Scale Training: Scale up to OpenSLR SLR42 (100+ hours of Khmer speech) on high-VRAM clusters.</a:t>
            </a:r>
            <a:br/>
            <a:r>
              <a:t>  2. External N-Gram Language Model: Rescore CTC emission logits with a KenLM 5-gram language model.</a:t>
            </a:r>
            <a:br/>
            <a:r>
              <a:t>  3. Khmer Dictionary Word Segmentation: Integrate khmer-nltk to compute true, segmented Word Error Rate (WER).</a:t>
            </a:r>
            <a:br/>
            <a:r>
              <a:t>  4. Edge Quantization: Export models to ONNX Runtime and 8-bit quantization for mobile deployment in Cambodia.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5A29F"/>
                </a:solidFill>
              </a:defRPr>
            </a:pPr>
            <a:r>
              <a:t>KHMER AUTOMATIC SPEECH RECOGNITION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02C57"/>
                </a:solidFill>
              </a:defRPr>
            </a:pPr>
            <a:r>
              <a:t>11. Interactive Web Application Demonstration &amp;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102C57"/>
                </a:solidFill>
              </a:defRPr>
            </a:pPr>
            <a:r>
              <a:t>• Interactive Testing Web Application (app.py):</a:t>
            </a:r>
          </a:p>
          <a:p>
            <a:pPr>
              <a:spcAft>
                <a:spcPts val="1800"/>
              </a:spcAft>
              <a:defRPr sz="1400">
                <a:solidFill>
                  <a:srgbClr val="212529"/>
                </a:solidFill>
              </a:defRPr>
            </a:pPr>
            <a:r>
              <a:t>  - Built with Gradio; inspired by CADT IDRI Khmer voice dictation UI.</a:t>
            </a:r>
            <a:br/>
            <a:r>
              <a:t>  - Features dual input modalities: live microphone audio recording &amp; audio file upload (.wav, .mp3, .flac).</a:t>
            </a:r>
            <a:br/>
            <a:r>
              <a:t>  - Displays real-time audio duration, transcription latency (seconds), and normalized Khmer Unicode text.</a:t>
            </a:r>
            <a:br/>
            <a:r>
              <a:t>  - Includes 1-click Windows launcher (run_app.bat) and pre-loaded sample audio files.</a:t>
            </a:r>
          </a:p>
          <a:p>
            <a:pPr>
              <a:defRPr b="1" sz="1600">
                <a:solidFill>
                  <a:srgbClr val="102C57"/>
                </a:solidFill>
              </a:defRPr>
            </a:pPr>
            <a:r>
              <a:t>• Oral Defense &amp; Q&amp;A Readiness:</a:t>
            </a:r>
          </a:p>
          <a:p>
            <a:pPr>
              <a:defRPr sz="1400">
                <a:solidFill>
                  <a:srgbClr val="212529"/>
                </a:solidFill>
              </a:defRPr>
            </a:pPr>
            <a:r>
              <a:t>  - Prepared to inspect live code, PyTorch tensor manipulation, and Hugging Face Trainer routines.</a:t>
            </a:r>
            <a:br/>
            <a:r>
              <a:t>  - Ready to demonstrate model inference directly from local checkpoint or Colab environment.</a:t>
            </a:r>
            <a:br/>
            <a:br/>
            <a:r>
              <a:t>  Thank you! We welcome your questions.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5A29F"/>
                </a:solidFill>
              </a:defRPr>
            </a:pPr>
            <a:r>
              <a:t>Q&amp;A BACKUP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02C57"/>
                </a:solidFill>
              </a:defRPr>
            </a:pPr>
            <a:r>
              <a:t>Appendix: Hyperparameter Matrix &amp; Tensor Specifications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102C57"/>
                </a:solidFill>
              </a:defRPr>
            </a:pPr>
            <a:r>
              <a:t>• Detailed Technical Hyperparameter Matrix:</a:t>
            </a:r>
          </a:p>
          <a:p>
            <a:pPr>
              <a:defRPr sz="1300">
                <a:solidFill>
                  <a:srgbClr val="212529"/>
                </a:solidFill>
              </a:defRPr>
            </a:pPr>
            <a:r>
              <a:t>  - Whisper-Tiny: 4 encoder layers, 4 decoder layers, 6 attention heads, d_model = 384.</a:t>
            </a:r>
            <a:br/>
            <a:r>
              <a:t>  - Input Dimensions: (Batch, 80, 3000) representing 30-second 80-channel log-mel spectrogram.</a:t>
            </a:r>
            <a:br/>
            <a:r>
              <a:t>  - MMS-1B: 48 Transformer layers, 16 attention heads, hidden dimension = 1280; Adapter: 2-layer residual projection.</a:t>
            </a:r>
            <a:br/>
            <a:r>
              <a:t>  - Optimization: AdamW (lr = 1e-4, eps = 1e-8, beta1 = 0.9, beta2 = 0.999), linear warmup 200 steps.</a:t>
            </a:r>
            <a:br/>
            <a:r>
              <a:t>  - Loss Functions: Label smoothed cross-entropy (Whisper) vs. CTC loss with blank token index (MMS).</a:t>
            </a:r>
            <a:br/>
            <a:r>
              <a:t>  - Checkpoint Safety: Evaluated and saved at fixed intervals to prevent Colab disconnection loss.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