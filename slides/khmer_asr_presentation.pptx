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CER (%)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F4-4E78-95BD-58C60F97A556}"/>
              </c:ext>
            </c:extLst>
          </c:dPt>
          <c:dPt>
            <c:idx val="1"/>
            <c:invertIfNegative val="0"/>
            <c:bubble3D val="0"/>
            <c:spPr>
              <a:solidFill>
                <a:srgbClr val="1E7A5F"/>
              </a:solidFill>
            </c:spPr>
            <c:extLst>
              <c:ext xmlns:c16="http://schemas.microsoft.com/office/drawing/2014/chart" uri="{C3380CC4-5D6E-409C-BE32-E72D297353CC}">
                <c16:uniqueId val="{00000003-55F4-4E78-95BD-58C60F97A55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0" i="0" u="none">
                    <a:solidFill>
                      <a:srgbClr val="2226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Whisper-Tiny
full fine-tuning</c:v>
                </c:pt>
                <c:pt idx="1">
                  <c:v>Meta MMS-1B
CTC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83.89</c:v>
                </c:pt>
                <c:pt idx="1">
                  <c:v>15.96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5F4-4E78-95BD-58C60F97A5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D9DEEA"/>
            </a:solidFill>
            <a:prstDash val="solid"/>
          </a:ln>
        </c:spPr>
        <c:txPr>
          <a:bodyPr anchorCtr="1"/>
          <a:lstStyle/>
          <a:p>
            <a:pPr>
              <a:defRPr sz="1050" b="0" i="0" u="none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EEA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000" b="0" i="0" u="none">
                    <a:solidFill>
                      <a:srgbClr val="5B6472"/>
                    </a:solidFill>
                    <a:latin typeface="Arial"/>
                    <a:ea typeface="Arial"/>
                    <a:cs typeface="Arial"/>
                  </a:rPr>
                  <a:t>CER (%) — lower is better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950" b="0" i="0" u="none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Khmer writing and consonant-series references: https://seasite.niu.edu/khmer/writingsystem/vowhtm/vowels.htm ; https://unstats.un.org/unsd/geoinfo/ungegn/docs/3rd-gegn-docs/3rd_gegn_inf12.pdf. The slide describes potential applications, not deployed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0C0BF4-4BDB-4FCF-B232-85ED01EF3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F6D32E-DDF4-4280-8881-748CC0117565}"/>
              </a:ext>
            </a:extLst>
          </p:cNvPr>
          <p:cNvSpPr>
            <a:spLocks noGrp="1"/>
          </p:cNvSpPr>
          <p:nvPr/>
        </p:nvSpPr>
        <p:spPr>
          <a:xfrm>
            <a:off x="-15088" y="-91440"/>
            <a:ext cx="12191695" cy="5394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704D30-6100-44D0-ADDB-9D84A843CAFF}"/>
              </a:ext>
            </a:extLst>
          </p:cNvPr>
          <p:cNvSpPr>
            <a:spLocks noGrp="1"/>
          </p:cNvSpPr>
          <p:nvPr/>
        </p:nvSpPr>
        <p:spPr>
          <a:xfrm>
            <a:off x="9966960" y="-1005840"/>
            <a:ext cx="3291840" cy="3291840"/>
          </a:xfrm>
          <a:prstGeom prst="ellipse">
            <a:avLst/>
          </a:prstGeom>
          <a:ln w="28575">
            <a:solidFill>
              <a:srgbClr val="B8892B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C7E240-FF33-4AF0-861D-949B799FFFD8}"/>
              </a:ext>
            </a:extLst>
          </p:cNvPr>
          <p:cNvSpPr>
            <a:spLocks noGrp="1"/>
          </p:cNvSpPr>
          <p:nvPr/>
        </p:nvSpPr>
        <p:spPr>
          <a:xfrm>
            <a:off x="10561320" y="-411480"/>
            <a:ext cx="2103120" cy="2103120"/>
          </a:xfrm>
          <a:prstGeom prst="ellipse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8879CF-36A1-494E-8122-79608CAA7D33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FINAL PROJECT — DEEP LEARNING</a:t>
            </a:r>
            <a:endParaRPr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50172F-591A-4CC2-8B78-912F17420E95}"/>
              </a:ext>
            </a:extLst>
          </p:cNvPr>
          <p:cNvSpPr>
            <a:spLocks noGrp="1"/>
          </p:cNvSpPr>
          <p:nvPr/>
        </p:nvSpPr>
        <p:spPr>
          <a:xfrm>
            <a:off x="822960" y="2357775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sz="3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Khmer Automatic Speech Recognition</a:t>
            </a:r>
            <a:endParaRPr sz="3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6B75BC-A30D-44E2-85C4-DC2187A0BD65}"/>
              </a:ext>
            </a:extLst>
          </p:cNvPr>
          <p:cNvSpPr>
            <a:spLocks noGrp="1"/>
          </p:cNvSpPr>
          <p:nvPr/>
        </p:nvSpPr>
        <p:spPr>
          <a:xfrm>
            <a:off x="822960" y="2988515"/>
            <a:ext cx="1005840" cy="0"/>
          </a:xfrm>
          <a:prstGeom prst="line">
            <a:avLst/>
          </a:prstGeom>
          <a:noFill/>
          <a:ln w="38100">
            <a:solidFill>
              <a:srgbClr val="B8892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9C5022-AABA-43F2-919F-E6FD208A071F}"/>
              </a:ext>
            </a:extLst>
          </p:cNvPr>
          <p:cNvSpPr>
            <a:spLocks noGrp="1"/>
          </p:cNvSpPr>
          <p:nvPr/>
        </p:nvSpPr>
        <p:spPr>
          <a:xfrm>
            <a:off x="822960" y="3079956"/>
            <a:ext cx="733781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Two trained architectures, with a transparent review of the saved evaluation evidence</a:t>
            </a:r>
            <a:endParaRPr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371901-C8CA-469C-9302-A7075CDF79F7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567644-88D8-4FDD-AF6C-5D3FBBF2A5E4}"/>
              </a:ext>
            </a:extLst>
          </p:cNvPr>
          <p:cNvSpPr>
            <a:spLocks noGrp="1"/>
          </p:cNvSpPr>
          <p:nvPr/>
        </p:nvSpPr>
        <p:spPr>
          <a:xfrm>
            <a:off x="1051560" y="53949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Engineering  |  Bachelor of Software Engineering
</a:t>
            </a:r>
            <a:r>
              <a:rPr sz="12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Lecturer: Mr. </a:t>
            </a:r>
            <a:r>
              <a:rPr sz="125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Soklong</a:t>
            </a:r>
            <a:r>
              <a:rPr sz="12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HIM
Student: </a:t>
            </a:r>
            <a:r>
              <a:rPr lang="en-US" sz="12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Khemrak Pasey </a:t>
            </a:r>
            <a:endParaRPr sz="1350" dirty="0"/>
          </a:p>
        </p:txBody>
      </p:sp>
    </p:spTree>
    <p:extLst>
      <p:ext uri="{BB962C8B-B14F-4D97-AF65-F5344CB8AC3E}">
        <p14:creationId xmlns:p14="http://schemas.microsoft.com/office/powerpoint/2010/main" val="146403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85E47C-677A-43FA-914D-5413D7113FDF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6E948B-99EA-49FF-9C5D-81E0CE0E9E02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9AEC5F-0AFA-404C-8075-B6F94BF577B4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Problem Definition &amp; Practical Motivation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9AEFA7-6B61-4E70-A147-5CEBC5C36590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08C3140-134B-4A44-8E06-3AF44EA6D6E4}"/>
              </a:ext>
            </a:extLst>
          </p:cNvPr>
          <p:cNvSpPr>
            <a:spLocks noGrp="1"/>
          </p:cNvSpPr>
          <p:nvPr/>
        </p:nvSpPr>
        <p:spPr>
          <a:xfrm>
            <a:off x="457200" y="1207008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425F63-15E5-40FF-AE73-6CF11177FDA3}"/>
              </a:ext>
            </a:extLst>
          </p:cNvPr>
          <p:cNvSpPr>
            <a:spLocks noGrp="1"/>
          </p:cNvSpPr>
          <p:nvPr/>
        </p:nvSpPr>
        <p:spPr>
          <a:xfrm>
            <a:off x="658368" y="128016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Formal formulation   </a:t>
            </a:r>
            <a:r>
              <a:rPr sz="1350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Given a 16 kHz raw audio waveform X = (x1, x2, ..., xT), the model optimizes the posterior P(Y | X) to output the correct Khmer Unicode orthographic sequence Y = (y1, y2, ..., yU).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2B56658-6EE9-4DC7-B06C-764D3242ED7D}"/>
              </a:ext>
            </a:extLst>
          </p:cNvPr>
          <p:cNvSpPr>
            <a:spLocks noGrp="1"/>
          </p:cNvSpPr>
          <p:nvPr/>
        </p:nvSpPr>
        <p:spPr>
          <a:xfrm>
            <a:off x="457200" y="239572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linguistic challenge of Khmer</a:t>
            </a:r>
            <a:endParaRPr sz="15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5ECD6C3-D36A-4DEF-92F5-D5C1ECB2E412}"/>
              </a:ext>
            </a:extLst>
          </p:cNvPr>
          <p:cNvSpPr>
            <a:spLocks noGrp="1"/>
          </p:cNvSpPr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5AE2F5C-82CD-42A2-A192-C298F8ECC213}"/>
              </a:ext>
            </a:extLst>
          </p:cNvPr>
          <p:cNvSpPr>
            <a:spLocks noGrp="1"/>
          </p:cNvSpPr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4AD08F9-2D52-4D67-978A-548071805325}"/>
              </a:ext>
            </a:extLst>
          </p:cNvPr>
          <p:cNvSpPr>
            <a:spLocks noGrp="1"/>
          </p:cNvSpPr>
          <p:nvPr/>
        </p:nvSpPr>
        <p:spPr>
          <a:xfrm>
            <a:off x="914400" y="2761488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Scriptio continua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Written without consistent spaces between words; context helps identify word boundaries.</a:t>
            </a:r>
            <a:endParaRPr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B35F88E-3FFB-4CB8-99E3-C20A59B18F84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310896" cy="3108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F990289-8D45-4462-BDEA-81372FFF7312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43A71C-214A-4A96-9C8B-8F554C40D4F5}"/>
              </a:ext>
            </a:extLst>
          </p:cNvPr>
          <p:cNvSpPr>
            <a:spLocks noGrp="1"/>
          </p:cNvSpPr>
          <p:nvPr/>
        </p:nvSpPr>
        <p:spPr>
          <a:xfrm>
            <a:off x="914400" y="3694176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Intricate orthography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Consonant series, dependent vowels, and stacked subscript consonants (Cheung).</a:t>
            </a:r>
            <a:endParaRPr sz="13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6D2DCE1-CD1D-47F8-AECA-1E378C3EC497}"/>
              </a:ext>
            </a:extLst>
          </p:cNvPr>
          <p:cNvSpPr>
            <a:spLocks noGrp="1"/>
          </p:cNvSpPr>
          <p:nvPr/>
        </p:nvSpPr>
        <p:spPr>
          <a:xfrm>
            <a:off x="457200" y="4681728"/>
            <a:ext cx="310896" cy="31089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A548FD1-A0E8-40C2-A7BD-802C8909819F}"/>
              </a:ext>
            </a:extLst>
          </p:cNvPr>
          <p:cNvSpPr>
            <a:spLocks noGrp="1"/>
          </p:cNvSpPr>
          <p:nvPr/>
        </p:nvSpPr>
        <p:spPr>
          <a:xfrm>
            <a:off x="457200" y="46817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7411F3D-671E-4A7B-9EDD-69281101AA86}"/>
              </a:ext>
            </a:extLst>
          </p:cNvPr>
          <p:cNvSpPr>
            <a:spLocks noGrp="1"/>
          </p:cNvSpPr>
          <p:nvPr/>
        </p:nvSpPr>
        <p:spPr>
          <a:xfrm>
            <a:off x="914400" y="4626864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Acoustic ambiguity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The same vowel sign can be pronounced differently with first- and second-series consonants.</a:t>
            </a:r>
            <a:endParaRPr sz="13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928CBB7-7510-4957-9F50-6486D4119C2F}"/>
              </a:ext>
            </a:extLst>
          </p:cNvPr>
          <p:cNvSpPr>
            <a:spLocks noGrp="1"/>
          </p:cNvSpPr>
          <p:nvPr/>
        </p:nvSpPr>
        <p:spPr>
          <a:xfrm>
            <a:off x="6309360" y="2395728"/>
            <a:ext cx="5422392" cy="3794760"/>
          </a:xfrm>
          <a:prstGeom prst="roundRect">
            <a:avLst>
              <a:gd name="adj" fmla="val 16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D71A8E-8943-4843-B529-9A3350B0C246}"/>
              </a:ext>
            </a:extLst>
          </p:cNvPr>
          <p:cNvSpPr>
            <a:spLocks noGrp="1"/>
          </p:cNvSpPr>
          <p:nvPr/>
        </p:nvSpPr>
        <p:spPr>
          <a:xfrm>
            <a:off x="6583680" y="25786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Real-world impact in Cambodia</a:t>
            </a:r>
            <a:endParaRPr sz="15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9839F07-C24E-461A-BC86-27E637B13F3F}"/>
              </a:ext>
            </a:extLst>
          </p:cNvPr>
          <p:cNvSpPr>
            <a:spLocks noGrp="1"/>
          </p:cNvSpPr>
          <p:nvPr/>
        </p:nvSpPr>
        <p:spPr>
          <a:xfrm>
            <a:off x="6583680" y="3063240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Can improve speech-based access for Khmer speakers.</a:t>
            </a:r>
            <a:endParaRPr sz="135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Potential uses include dictation, transcription, and voice interfaces.</a:t>
            </a:r>
            <a:endParaRPr sz="13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729FEED-8F0B-4D2F-BC43-A06B1C0ADE82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07EA7D7-8D99-4176-A38B-E28E3279175F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3576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2596F7-0409-4F0B-9482-80DAA60C99D9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8435F8-CA91-472B-A853-48BCBFDAB0B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1FDA42-6E27-4DC3-B37C-A2B1258A4559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Dataset Description &amp; Preprocessing Pipeline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8D68ED-5DA4-4578-8AEC-D9B444CD80EB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296595-C1DA-42FB-995E-DB49A40D7E8C}"/>
              </a:ext>
            </a:extLst>
          </p:cNvPr>
          <p:cNvSpPr>
            <a:spLocks noGrp="1"/>
          </p:cNvSpPr>
          <p:nvPr/>
        </p:nvSpPr>
        <p:spPr>
          <a:xfrm>
            <a:off x="457200" y="1170432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F190DD-A845-4E32-B704-FEABA342942A}"/>
              </a:ext>
            </a:extLst>
          </p:cNvPr>
          <p:cNvSpPr>
            <a:spLocks noGrp="1"/>
          </p:cNvSpPr>
          <p:nvPr/>
        </p:nvSpPr>
        <p:spPr>
          <a:xfrm>
            <a:off x="457200" y="12161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1,675</a:t>
            </a:r>
            <a:endParaRPr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740CD2-0D52-49E4-880C-8CA1899B2F07}"/>
              </a:ext>
            </a:extLst>
          </p:cNvPr>
          <p:cNvSpPr>
            <a:spLocks noGrp="1"/>
          </p:cNvSpPr>
          <p:nvPr/>
        </p:nvSpPr>
        <p:spPr>
          <a:xfrm>
            <a:off x="457200" y="16733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train examples</a:t>
            </a:r>
            <a:endParaRPr sz="12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57B19D-3692-41DF-844C-0DD2769D2D2C}"/>
              </a:ext>
            </a:extLst>
          </p:cNvPr>
          <p:cNvSpPr>
            <a:spLocks noGrp="1"/>
          </p:cNvSpPr>
          <p:nvPr/>
        </p:nvSpPr>
        <p:spPr>
          <a:xfrm>
            <a:off x="2944368" y="1170432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0BCFD6-FF5E-41B0-8F79-944A6BBC5674}"/>
              </a:ext>
            </a:extLst>
          </p:cNvPr>
          <p:cNvSpPr>
            <a:spLocks noGrp="1"/>
          </p:cNvSpPr>
          <p:nvPr/>
        </p:nvSpPr>
        <p:spPr>
          <a:xfrm>
            <a:off x="2944368" y="12161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326</a:t>
            </a:r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C0FAE6-CD54-48FA-A90E-9A01E8B934BF}"/>
              </a:ext>
            </a:extLst>
          </p:cNvPr>
          <p:cNvSpPr>
            <a:spLocks noGrp="1"/>
          </p:cNvSpPr>
          <p:nvPr/>
        </p:nvSpPr>
        <p:spPr>
          <a:xfrm>
            <a:off x="2944368" y="16733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validation examples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4F8C2A1-692A-44F2-A373-D9887FF57B76}"/>
              </a:ext>
            </a:extLst>
          </p:cNvPr>
          <p:cNvSpPr>
            <a:spLocks noGrp="1"/>
          </p:cNvSpPr>
          <p:nvPr/>
        </p:nvSpPr>
        <p:spPr>
          <a:xfrm>
            <a:off x="5431536" y="1170432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78F6E1-00F4-4859-8FE4-2888686B75E7}"/>
              </a:ext>
            </a:extLst>
          </p:cNvPr>
          <p:cNvSpPr>
            <a:spLocks noGrp="1"/>
          </p:cNvSpPr>
          <p:nvPr/>
        </p:nvSpPr>
        <p:spPr>
          <a:xfrm>
            <a:off x="5431536" y="12161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771</a:t>
            </a:r>
            <a:endParaRPr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162DDE9-7676-449A-9747-700EC8AE2438}"/>
              </a:ext>
            </a:extLst>
          </p:cNvPr>
          <p:cNvSpPr>
            <a:spLocks noGrp="1"/>
          </p:cNvSpPr>
          <p:nvPr/>
        </p:nvSpPr>
        <p:spPr>
          <a:xfrm>
            <a:off x="5431536" y="16733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test examples</a:t>
            </a:r>
            <a:endParaRPr sz="12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8623429-E84C-4EB7-A44C-4184CA6A708D}"/>
              </a:ext>
            </a:extLst>
          </p:cNvPr>
          <p:cNvSpPr>
            <a:spLocks noGrp="1"/>
          </p:cNvSpPr>
          <p:nvPr/>
        </p:nvSpPr>
        <p:spPr>
          <a:xfrm>
            <a:off x="7863840" y="1170432"/>
            <a:ext cx="3867912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Google FLEURS Khmer (km_kh)
</a:t>
            </a:r>
            <a:r>
              <a:rPr sz="108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Hugging Face Datasets (google/fleurs), CC-BY 4.0. Audio processed at 16 kHz mono across multiple speakers.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65F3C89-E543-4C0D-AA28-EDD7578D98A9}"/>
              </a:ext>
            </a:extLst>
          </p:cNvPr>
          <p:cNvSpPr>
            <a:spLocks noGrp="1"/>
          </p:cNvSpPr>
          <p:nvPr/>
        </p:nvSpPr>
        <p:spPr>
          <a:xfrm>
            <a:off x="457200" y="221284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Unified audio &amp; text preprocessing pipeline</a:t>
            </a:r>
            <a:endParaRPr sz="14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838DB51-AE2D-4BEB-90B2-614BBC2E94D4}"/>
              </a:ext>
            </a:extLst>
          </p:cNvPr>
          <p:cNvSpPr>
            <a:spLocks noGrp="1"/>
          </p:cNvSpPr>
          <p:nvPr/>
        </p:nvSpPr>
        <p:spPr>
          <a:xfrm>
            <a:off x="457200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F07CC7-8CC1-4179-AFE9-E378A16AAC9A}"/>
              </a:ext>
            </a:extLst>
          </p:cNvPr>
          <p:cNvSpPr>
            <a:spLocks noGrp="1"/>
          </p:cNvSpPr>
          <p:nvPr/>
        </p:nvSpPr>
        <p:spPr>
          <a:xfrm>
            <a:off x="603504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Audio standardization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Resampled to 16,000 Hz, single-channel.</a:t>
            </a:r>
            <a:endParaRPr sz="14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C350C3C-6D10-478B-8E20-719436827F23}"/>
              </a:ext>
            </a:extLst>
          </p:cNvPr>
          <p:cNvSpPr>
            <a:spLocks noGrp="1"/>
          </p:cNvSpPr>
          <p:nvPr/>
        </p:nvSpPr>
        <p:spPr>
          <a:xfrm>
            <a:off x="3346704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528948-651B-464C-A293-8B36544A8CAB}"/>
              </a:ext>
            </a:extLst>
          </p:cNvPr>
          <p:cNvSpPr>
            <a:spLocks noGrp="1"/>
          </p:cNvSpPr>
          <p:nvPr/>
        </p:nvSpPr>
        <p:spPr>
          <a:xfrm>
            <a:off x="3493008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Unicode normalization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NFC normalization applied to all transcripts.</a:t>
            </a:r>
            <a:endParaRPr sz="1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726F971-042B-413F-B11C-75F39F3CE38B}"/>
              </a:ext>
            </a:extLst>
          </p:cNvPr>
          <p:cNvSpPr>
            <a:spLocks noGrp="1"/>
          </p:cNvSpPr>
          <p:nvPr/>
        </p:nvSpPr>
        <p:spPr>
          <a:xfrm>
            <a:off x="6236208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25A6E8-D272-4852-886F-0A9EC0235326}"/>
              </a:ext>
            </a:extLst>
          </p:cNvPr>
          <p:cNvSpPr>
            <a:spLocks noGrp="1"/>
          </p:cNvSpPr>
          <p:nvPr/>
        </p:nvSpPr>
        <p:spPr>
          <a:xfrm>
            <a:off x="6382512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Text sanitization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Strips zero-width / non-breaking spaces (U+200B, U+FEFF) and compacts whitespace.</a:t>
            </a:r>
            <a:endParaRPr sz="14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189B06A-135D-453A-9E84-E564A53096C6}"/>
              </a:ext>
            </a:extLst>
          </p:cNvPr>
          <p:cNvSpPr>
            <a:spLocks noGrp="1"/>
          </p:cNvSpPr>
          <p:nvPr/>
        </p:nvSpPr>
        <p:spPr>
          <a:xfrm>
            <a:off x="9125712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DE7C12D-51B8-4812-BF7A-C43DFD2D8197}"/>
              </a:ext>
            </a:extLst>
          </p:cNvPr>
          <p:cNvSpPr>
            <a:spLocks noGrp="1"/>
          </p:cNvSpPr>
          <p:nvPr/>
        </p:nvSpPr>
        <p:spPr>
          <a:xfrm>
            <a:off x="9272016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Scoring convention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CER removes whitespace before scoring — Khmer spaces do not reliably mark words.</a:t>
            </a:r>
            <a:endParaRPr sz="14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71E22C6-D2CC-4853-B252-DDB7B859E27A}"/>
              </a:ext>
            </a:extLst>
          </p:cNvPr>
          <p:cNvSpPr>
            <a:spLocks noGrp="1"/>
          </p:cNvSpPr>
          <p:nvPr/>
        </p:nvSpPr>
        <p:spPr>
          <a:xfrm>
            <a:off x="457200" y="4041648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6CD4D3-316D-484A-B4B4-AD02DFFF88FA}"/>
              </a:ext>
            </a:extLst>
          </p:cNvPr>
          <p:cNvSpPr>
            <a:spLocks noGrp="1"/>
          </p:cNvSpPr>
          <p:nvPr/>
        </p:nvSpPr>
        <p:spPr>
          <a:xfrm>
            <a:off x="658368" y="41148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Whisper: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80-channel log-mel spectrograms, 25 ms Hann windows, 10 ms hop length.
</a:t>
            </a: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MMS: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normalized 1D temporal representations, extracted directly by a 7-layer convolutional feature encoder.</a:t>
            </a:r>
            <a:endParaRPr sz="14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8C994BA-7DB1-414F-8628-0C50D9AB67B9}"/>
              </a:ext>
            </a:extLst>
          </p:cNvPr>
          <p:cNvSpPr>
            <a:spLocks noGrp="1"/>
          </p:cNvSpPr>
          <p:nvPr/>
        </p:nvSpPr>
        <p:spPr>
          <a:xfrm>
            <a:off x="457200" y="5138928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D535206-7FA8-44A3-BD67-9BF7E10206E0}"/>
              </a:ext>
            </a:extLst>
          </p:cNvPr>
          <p:cNvSpPr>
            <a:spLocks noGrp="1"/>
          </p:cNvSpPr>
          <p:nvPr/>
        </p:nvSpPr>
        <p:spPr>
          <a:xfrm>
            <a:off x="658368" y="5212080"/>
            <a:ext cx="10872216" cy="7223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40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40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All three saved checkpoints were scored on the first 200 FLEURS test rows. Saved training selections and filters differ across runs, so these results are diagnostic, not a controlled comparison.</a:t>
            </a:r>
            <a:endParaRPr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8336D70-23FD-4164-A3A1-DB7552736AE0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29F5AFD-C8D6-4A85-A329-D2EAB31D5CAA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7224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5F7CFF-9BAC-415A-BC9F-8FBA1AB9C853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FDC249-4BD1-4E38-A16D-9B024A56A403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F4595B-E4DC-44BE-9C44-145D48F04174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Two Trained Deep Learning Approaches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2C7A5F-BFE0-4494-B93F-4019D5D9A1BA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5792A5-8EA5-481A-A1C2-148244D2C753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611880" cy="45262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09F1517-BD34-4CFD-A8C2-AADAC6852138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DA247A-B28B-4C8F-8AAB-8B8E2AA323F4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1 — PRIMARY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4A7A76-A393-44D1-B6BC-92A274B070F2}"/>
              </a:ext>
            </a:extLst>
          </p:cNvPr>
          <p:cNvSpPr>
            <a:spLocks noGrp="1"/>
          </p:cNvSpPr>
          <p:nvPr/>
        </p:nvSpPr>
        <p:spPr>
          <a:xfrm>
            <a:off x="640080" y="19476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OpenAI Whisper-Tiny</a:t>
            </a:r>
            <a:endParaRPr sz="1700"/>
          </a:p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(Seq2Seq Transformer)</a:t>
            </a:r>
            <a:endParaRPr sz="1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E7967A-9FFE-4EA4-938A-4718CB3DC4C2}"/>
              </a:ext>
            </a:extLst>
          </p:cNvPr>
          <p:cNvSpPr>
            <a:spLocks noGrp="1"/>
          </p:cNvSpPr>
          <p:nvPr/>
        </p:nvSpPr>
        <p:spPr>
          <a:xfrm>
            <a:off x="640080" y="2770632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Full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37.8M (100% trainable)</a:t>
            </a:r>
            <a:endParaRPr sz="11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01BBD6-2FAE-4FD2-B846-D267DB7DDA32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2461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40ECE8-4FF9-4D60-B4FE-9FFDB736883A}"/>
              </a:ext>
            </a:extLst>
          </p:cNvPr>
          <p:cNvSpPr>
            <a:spLocks noGrp="1"/>
          </p:cNvSpPr>
          <p:nvPr/>
        </p:nvSpPr>
        <p:spPr>
          <a:xfrm>
            <a:off x="640080" y="3703320"/>
            <a:ext cx="324612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cross-attention. Encoder maps 80-channel log-mel frames; decoder predicts subwords conditioned on preceding tokens. Implicit internal language model.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D3B71C5-9644-4D92-B431-95E5ABAB892B}"/>
              </a:ext>
            </a:extLst>
          </p:cNvPr>
          <p:cNvSpPr>
            <a:spLocks noGrp="1"/>
          </p:cNvSpPr>
          <p:nvPr/>
        </p:nvSpPr>
        <p:spPr>
          <a:xfrm>
            <a:off x="4261104" y="1234440"/>
            <a:ext cx="3611880" cy="45262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50AEEA-19FD-49A7-8E75-A829D22F6BAA}"/>
              </a:ext>
            </a:extLst>
          </p:cNvPr>
          <p:cNvSpPr>
            <a:spLocks noGrp="1"/>
          </p:cNvSpPr>
          <p:nvPr/>
        </p:nvSpPr>
        <p:spPr>
          <a:xfrm>
            <a:off x="4261104" y="12344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69D62A-1A34-441A-88B3-B93C6D6B027E}"/>
              </a:ext>
            </a:extLst>
          </p:cNvPr>
          <p:cNvSpPr>
            <a:spLocks noGrp="1"/>
          </p:cNvSpPr>
          <p:nvPr/>
        </p:nvSpPr>
        <p:spPr>
          <a:xfrm>
            <a:off x="4261104" y="1234440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2 — COMPARISON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DF324B-8D83-42EB-B540-33A71666A555}"/>
              </a:ext>
            </a:extLst>
          </p:cNvPr>
          <p:cNvSpPr>
            <a:spLocks noGrp="1"/>
          </p:cNvSpPr>
          <p:nvPr/>
        </p:nvSpPr>
        <p:spPr>
          <a:xfrm>
            <a:off x="4443984" y="19476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Meta MMS-1B Khmer</a:t>
            </a:r>
            <a:endParaRPr sz="1700"/>
          </a:p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(Acoustic CTC Model)</a:t>
            </a:r>
            <a:endParaRPr sz="1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59C514-2F58-4DA8-97E9-4DDBECC9AE19}"/>
              </a:ext>
            </a:extLst>
          </p:cNvPr>
          <p:cNvSpPr>
            <a:spLocks noGrp="1"/>
          </p:cNvSpPr>
          <p:nvPr/>
        </p:nvSpPr>
        <p:spPr>
          <a:xfrm>
            <a:off x="4443984" y="2770632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Top-4-layer partial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79.1M trainable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E3ADB3-6A11-45DB-AC33-FEE2CF9E9E54}"/>
              </a:ext>
            </a:extLst>
          </p:cNvPr>
          <p:cNvSpPr>
            <a:spLocks noGrp="1"/>
          </p:cNvSpPr>
          <p:nvPr/>
        </p:nvSpPr>
        <p:spPr>
          <a:xfrm>
            <a:off x="4443984" y="3566160"/>
            <a:ext cx="32461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32F5EA9-A25E-485D-9CBA-036474697783}"/>
              </a:ext>
            </a:extLst>
          </p:cNvPr>
          <p:cNvSpPr>
            <a:spLocks noGrp="1"/>
          </p:cNvSpPr>
          <p:nvPr/>
        </p:nvSpPr>
        <p:spPr>
          <a:xfrm>
            <a:off x="4443984" y="3703320"/>
            <a:ext cx="324612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Wav2Vec 2.0 with CTC. The saved run unfroze the top four encoder layers plus the CTC head / adapter.</a:t>
            </a:r>
            <a:endParaRPr sz="11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CE6CB74-E664-4D57-BD9C-E441F5738813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4526280"/>
          </a:xfrm>
          <a:prstGeom prst="roundRect">
            <a:avLst>
              <a:gd name="adj" fmla="val 1772"/>
            </a:avLst>
          </a:prstGeom>
          <a:solidFill>
            <a:srgbClr val="F1F2F5"/>
          </a:solidFill>
          <a:ln w="12700">
            <a:solidFill>
              <a:srgbClr val="B7BCC7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9C0E157-B745-42D9-9899-DD349013D589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4526280"/>
          </a:xfrm>
          <a:prstGeom prst="roundRect">
            <a:avLst>
              <a:gd name="adj" fmla="val 1772"/>
            </a:avLst>
          </a:prstGeom>
          <a:ln w="15875">
            <a:solidFill>
              <a:srgbClr val="B7BCC7"/>
            </a:solidFill>
            <a:prstDash val="dash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681C6F-8C90-4F96-B4FD-3DD0CA36A17C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CBD0D9"/>
          </a:solidFill>
          <a:ln w="12700">
            <a:solidFill>
              <a:srgbClr val="CBD0D9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E590129-F741-4D75-9693-36E44C4253BE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4A4F5A"/>
                </a:solidFill>
                <a:latin typeface="Calibri"/>
                <a:ea typeface="Calibri"/>
                <a:cs typeface="Calibri"/>
              </a:rPr>
              <a:t>OPTIONAL ABLATION — NOT REPORTED</a:t>
            </a:r>
            <a:endParaRPr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A811B8-B005-443F-A332-C0013F55911D}"/>
              </a:ext>
            </a:extLst>
          </p:cNvPr>
          <p:cNvSpPr>
            <a:spLocks noGrp="1"/>
          </p:cNvSpPr>
          <p:nvPr/>
        </p:nvSpPr>
        <p:spPr>
          <a:xfrm>
            <a:off x="8247888" y="19476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Whisper-Tiny</a:t>
            </a:r>
            <a:endParaRPr sz="1700"/>
          </a:p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(Frozen Encoder)</a:t>
            </a:r>
            <a:endParaRPr sz="17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D4226EB-1755-4B3B-8B60-D1D3E507F7E7}"/>
              </a:ext>
            </a:extLst>
          </p:cNvPr>
          <p:cNvSpPr>
            <a:spLocks noGrp="1"/>
          </p:cNvSpPr>
          <p:nvPr/>
        </p:nvSpPr>
        <p:spPr>
          <a:xfrm>
            <a:off x="8247888" y="2770632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8A2E2E"/>
                </a:solidFill>
                <a:latin typeface="Calibri"/>
                <a:ea typeface="Calibri"/>
                <a:cs typeface="Calibri"/>
              </a:rPr>
              <a:t>Status:  </a:t>
            </a:r>
            <a:r>
              <a:rPr sz="115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No saved run — no checkpoint or metrics</a:t>
            </a:r>
            <a:endParaRPr sz="11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6E94AF2-A335-4C83-AD6C-754CF4299AF6}"/>
              </a:ext>
            </a:extLst>
          </p:cNvPr>
          <p:cNvSpPr>
            <a:spLocks noGrp="1"/>
          </p:cNvSpPr>
          <p:nvPr/>
        </p:nvSpPr>
        <p:spPr>
          <a:xfrm>
            <a:off x="8247888" y="3566160"/>
            <a:ext cx="3246120" cy="0"/>
          </a:xfrm>
          <a:prstGeom prst="line">
            <a:avLst/>
          </a:prstGeom>
          <a:noFill/>
          <a:ln w="12700">
            <a:solidFill>
              <a:srgbClr val="CBD0D9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AA202B7-D48A-40F5-870A-F7CEABBB9840}"/>
              </a:ext>
            </a:extLst>
          </p:cNvPr>
          <p:cNvSpPr>
            <a:spLocks noGrp="1"/>
          </p:cNvSpPr>
          <p:nvPr/>
        </p:nvSpPr>
        <p:spPr>
          <a:xfrm>
            <a:off x="8247888" y="3703320"/>
            <a:ext cx="324612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Excluded from this report: no trained checkpoint, predictions, or run logs were available for this configuration.</a:t>
            </a:r>
            <a:endParaRPr sz="11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879D1DC-2AE2-461A-8508-5B224EDE0FDD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6FCAAC9-1D2D-42A6-81DB-06F1B1760585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666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3CCEB7-65D3-452D-843A-11E9E9FBEF9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B5B924-3E6E-4F4C-A611-0F46EB3D2967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9D6A75-BC59-44E9-8ED0-E547C605AE0B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Theoretical Justification: Why Compare Seq2Seq vs. CTC?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32BBD1-9789-4B79-A5E3-41621A43D1D8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1362C1-8440-4DEA-98EF-4484329D9494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05AB27D-6479-4068-B08E-A4028F383627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18C062-059C-4E37-9F82-4D52B3BE5C5E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Seq2Seq Transformers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81C83A-38A2-4151-8F4F-176E91B26B92}"/>
              </a:ext>
            </a:extLst>
          </p:cNvPr>
          <p:cNvSpPr>
            <a:spLocks noGrp="1"/>
          </p:cNvSpPr>
          <p:nvPr/>
        </p:nvSpPr>
        <p:spPr>
          <a:xfrm>
            <a:off x="713232" y="1892808"/>
            <a:ext cx="4910328" cy="2423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decoders that learn semantic dependencies.</a:t>
            </a:r>
            <a:endParaRPr sz="1250"/>
          </a:p>
          <a:p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With limited fine-tuning data, outputs may repeat or contain unsupported text.</a:t>
            </a:r>
            <a:endParaRPr sz="1250"/>
          </a:p>
          <a:p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Predicts tokens autoregressively, using prior output tokens as context.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FE1051-391C-4875-84E7-7ADA40932244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52D5D80-3EC4-468E-B516-D0310036B53C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502920"/>
          </a:xfrm>
          <a:prstGeom prst="roundRect">
            <a:avLst>
              <a:gd name="adj" fmla="val 12727"/>
            </a:avLst>
          </a:prstGeom>
          <a:solidFill>
            <a:srgbClr val="B8892B"/>
          </a:solidFill>
          <a:ln w="12700">
            <a:solidFill>
              <a:srgbClr val="B8892B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E27A12-9A76-4B9E-90C3-0B04306F3B5F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CTC Models</a:t>
            </a:r>
            <a:endParaRPr sz="14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1412F9C-030E-4D66-82D0-65256AFD8578}"/>
              </a:ext>
            </a:extLst>
          </p:cNvPr>
          <p:cNvSpPr>
            <a:spLocks noGrp="1"/>
          </p:cNvSpPr>
          <p:nvPr/>
        </p:nvSpPr>
        <p:spPr>
          <a:xfrm>
            <a:off x="6565392" y="1892808"/>
            <a:ext cx="4910328" cy="2423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Use monotonic frame-to-token alignment without autoregressive decoding.</a:t>
            </a:r>
            <a:endParaRPr sz="1250"/>
          </a:p>
          <a:p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Greedy CTC decoding avoids a token-by-token text decoder.</a:t>
            </a:r>
            <a:endParaRPr sz="1250"/>
          </a:p>
          <a:p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Output tokens are decoded from acoustic frames using CTC.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B2D737-ADC4-4749-B3E0-80FEF8AD6C2F}"/>
              </a:ext>
            </a:extLst>
          </p:cNvPr>
          <p:cNvSpPr>
            <a:spLocks noGrp="1"/>
          </p:cNvSpPr>
          <p:nvPr/>
        </p:nvSpPr>
        <p:spPr>
          <a:xfrm>
            <a:off x="457200" y="4645152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142743-34AA-43B6-AFC5-E9A13CA49810}"/>
              </a:ext>
            </a:extLst>
          </p:cNvPr>
          <p:cNvSpPr>
            <a:spLocks noGrp="1"/>
          </p:cNvSpPr>
          <p:nvPr/>
        </p:nvSpPr>
        <p:spPr>
          <a:xfrm>
            <a:off x="658368" y="4718304"/>
            <a:ext cx="10881360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the models illustrate:  Seq2Seq uses prior output tokens; CTC decodes aligned acoustic frames without that text loop.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C5D334E-41AE-4A4D-BEC5-2EFCE2262F96}"/>
              </a:ext>
            </a:extLst>
          </p:cNvPr>
          <p:cNvSpPr>
            <a:spLocks noGrp="1"/>
          </p:cNvSpPr>
          <p:nvPr/>
        </p:nvSpPr>
        <p:spPr>
          <a:xfrm>
            <a:off x="457200" y="566928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2D35620-592E-487D-B004-D2938D453F25}"/>
              </a:ext>
            </a:extLst>
          </p:cNvPr>
          <p:cNvSpPr>
            <a:spLocks noGrp="1"/>
          </p:cNvSpPr>
          <p:nvPr/>
        </p:nvSpPr>
        <p:spPr>
          <a:xfrm>
            <a:off x="658368" y="5742432"/>
            <a:ext cx="108722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1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The saved runs differ in training data size, so the observed score gap does not isolate architecture alone.</a:t>
            </a:r>
            <a:endParaRPr sz="11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A9FC305-E4EA-450E-A6A2-4C74C95D8780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8BB8DCF-3F06-40AF-ADC1-2290F8216057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825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3B70EB-2BF6-4A28-9BC5-7A40EFE4A74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CE941B-6230-4231-98C6-B9401D29F3C7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45FFC6-06C1-461D-9FD8-8EA4BC240A23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Saved Training Setup &amp; Tuning Evidence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775A22-8E81-4783-A3D1-937F12D7EB66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E7BBC6-BACD-4A45-B0A9-37F3921B5B80}"/>
              </a:ext>
            </a:extLst>
          </p:cNvPr>
          <p:cNvSpPr>
            <a:spLocks noGrp="1"/>
          </p:cNvSpPr>
          <p:nvPr/>
        </p:nvSpPr>
        <p:spPr>
          <a:xfrm>
            <a:off x="457200" y="12070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Training infrastructure &amp; hardware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2B8294-A58B-4860-BC59-072CFCD8F960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5422392" cy="2331720"/>
          </a:xfrm>
          <a:prstGeom prst="roundRect">
            <a:avLst>
              <a:gd name="adj" fmla="val 2745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046309-8960-4E75-B46E-10EE47277EF1}"/>
              </a:ext>
            </a:extLst>
          </p:cNvPr>
          <p:cNvSpPr>
            <a:spLocks noGrp="1"/>
          </p:cNvSpPr>
          <p:nvPr/>
        </p:nvSpPr>
        <p:spPr>
          <a:xfrm>
            <a:off x="658368" y="1700784"/>
            <a:ext cx="5029200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Original runs: Google Colab T4 GPU. Whisper warmup rerun: RTX 4050 Laptop GPU.</a:t>
            </a:r>
            <a:endParaRPr sz="125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Framework: PyTorch, Transformers, Hugging Face Datasets, and Accelerate.</a:t>
            </a:r>
            <a:endParaRPr sz="125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Mixed precision: FP16 used in the saved training configurations.</a:t>
            </a:r>
            <a:endParaRPr sz="1250"/>
          </a:p>
          <a:p>
            <a:pPr marL="152400" indent="-152400">
              <a:lnSpc>
                <a:spcPct val="120000"/>
              </a:lnSpc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Seed 42 set for Python, NumPy, PyTorch, and Transformers.</a:t>
            </a:r>
            <a:endParaRPr sz="12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E7B7F55-5861-4B6F-83F4-9AE682B67C69}"/>
              </a:ext>
            </a:extLst>
          </p:cNvPr>
          <p:cNvSpPr>
            <a:spLocks noGrp="1"/>
          </p:cNvSpPr>
          <p:nvPr/>
        </p:nvSpPr>
        <p:spPr>
          <a:xfrm>
            <a:off x="6309360" y="12070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Saved run settings (not a complete sweep)</a:t>
            </a:r>
            <a:endParaRPr sz="1400"/>
          </a:p>
        </p:txBody>
      </p:sp>
      <p:graphicFrame>
        <p:nvGraphicFramePr>
          <p:cNvPr id="26" name="Table 0"/>
          <p:cNvGraphicFramePr/>
          <p:nvPr/>
        </p:nvGraphicFramePr>
        <p:xfrm>
          <a:off x="6309360" y="1572768"/>
          <a:ext cx="5422392" cy="17830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Whisper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Learning rate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Warmup steps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500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Batch size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Grad. accumulation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>
            <a:extLst>
              <a:ext uri="{FF2B5EF4-FFF2-40B4-BE49-F238E27FC236}">
                <a16:creationId xmlns:a16="http://schemas.microsoft.com/office/drawing/2014/main" id="{AE8DA51F-7971-49C8-9059-091567D8048B}"/>
              </a:ext>
            </a:extLst>
          </p:cNvPr>
          <p:cNvSpPr>
            <a:spLocks noGrp="1"/>
          </p:cNvSpPr>
          <p:nvPr/>
        </p:nvSpPr>
        <p:spPr>
          <a:xfrm>
            <a:off x="6309360" y="3456432"/>
            <a:ext cx="5422392" cy="457200"/>
          </a:xfrm>
          <a:prstGeom prst="roundRect">
            <a:avLst>
              <a:gd name="adj" fmla="val 14000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D0C1C5F-4B9F-4FA0-90D0-97260B15EB03}"/>
              </a:ext>
            </a:extLst>
          </p:cNvPr>
          <p:cNvSpPr>
            <a:spLocks noGrp="1"/>
          </p:cNvSpPr>
          <p:nvPr/>
        </p:nvSpPr>
        <p:spPr>
          <a:xfrm>
            <a:off x="6419088" y="345643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3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MMS unfroze the top four encoder layers and CTC head/adapter; SpecAugment was enabled.</a:t>
            </a:r>
            <a:endParaRPr sz="103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F3581D0-DD6D-4B86-804A-639380E11B60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69072DA-0AED-4D00-9ECD-E7CC409DFCAA}"/>
              </a:ext>
            </a:extLst>
          </p:cNvPr>
          <p:cNvSpPr>
            <a:spLocks noGrp="1"/>
          </p:cNvSpPr>
          <p:nvPr/>
        </p:nvSpPr>
        <p:spPr>
          <a:xfrm>
            <a:off x="658368" y="4187952"/>
            <a:ext cx="10872216" cy="7223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1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No complete tuning sweep is saved. Original run times were not recorded; the Whisper warmup rerun took about 11 minutes.</a:t>
            </a:r>
            <a:endParaRPr sz="11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2BCBD0-CE13-4637-A2B1-F0F4AA5F8EC0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757C444-6385-413B-915F-9ACC4150B82E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634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0ACE1D-0838-4A01-8711-E5150EB5C63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640EB7-8775-4372-B1B8-C41A16411B4F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D85AD4-4347-4291-A706-C0B3CFB0F06E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Evaluation Metrics: CER vs. WER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53D3C1-0E32-4054-B528-1D59CAB3D44E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659D8B-BAB5-4386-AD58-35BEE0F0466D}"/>
              </a:ext>
            </a:extLst>
          </p:cNvPr>
          <p:cNvSpPr>
            <a:spLocks noGrp="1"/>
          </p:cNvSpPr>
          <p:nvPr/>
        </p:nvSpPr>
        <p:spPr>
          <a:xfrm>
            <a:off x="457200" y="1280160"/>
            <a:ext cx="11274552" cy="2057400"/>
          </a:xfrm>
          <a:prstGeom prst="roundRect">
            <a:avLst>
              <a:gd name="adj" fmla="val 3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637CA3-C52C-4D35-A9F6-3271193614B7}"/>
              </a:ext>
            </a:extLst>
          </p:cNvPr>
          <p:cNvSpPr>
            <a:spLocks noGrp="1"/>
          </p:cNvSpPr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Primary evaluation metric — Character Error Rate (CER)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DD3CBF-E82B-4065-BDCC-52AF30E8648C}"/>
              </a:ext>
            </a:extLst>
          </p:cNvPr>
          <p:cNvSpPr>
            <a:spLocks noGrp="1"/>
          </p:cNvSpPr>
          <p:nvPr/>
        </p:nvSpPr>
        <p:spPr>
          <a:xfrm>
            <a:off x="731520" y="1874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CER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= </a:t>
            </a: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(S + D + I)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⁄ </a:t>
            </a: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N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 × 100%</a:t>
            </a:r>
            <a:endParaRPr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4669F5-D905-43D8-A6E4-D346FC596FAA}"/>
              </a:ext>
            </a:extLst>
          </p:cNvPr>
          <p:cNvSpPr>
            <a:spLocks noGrp="1"/>
          </p:cNvSpPr>
          <p:nvPr/>
        </p:nvSpPr>
        <p:spPr>
          <a:xfrm>
            <a:off x="731520" y="257860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substitutions,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deletions,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insertions,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total reference Unicode characters.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5C91983-C8D6-48CC-83A1-B28DDBA75F91}"/>
              </a:ext>
            </a:extLst>
          </p:cNvPr>
          <p:cNvSpPr>
            <a:spLocks noGrp="1"/>
          </p:cNvSpPr>
          <p:nvPr/>
        </p:nvSpPr>
        <p:spPr>
          <a:xfrm>
            <a:off x="731520" y="2962656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Computed after NFC normalization and whitespace removal.</a:t>
            </a:r>
            <a:endParaRPr sz="11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9C02F28-B89C-43AF-A3C5-6836755B8CDE}"/>
              </a:ext>
            </a:extLst>
          </p:cNvPr>
          <p:cNvSpPr>
            <a:spLocks noGrp="1"/>
          </p:cNvSpPr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WER limitation</a:t>
            </a:r>
            <a:endParaRPr sz="15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19D45A8-7E0E-4103-8EA3-99F8F10A46BA}"/>
              </a:ext>
            </a:extLst>
          </p:cNvPr>
          <p:cNvSpPr>
            <a:spLocks noGrp="1"/>
          </p:cNvSpPr>
          <p:nvPr/>
        </p:nvSpPr>
        <p:spPr>
          <a:xfrm>
            <a:off x="457200" y="4005072"/>
            <a:ext cx="11274552" cy="1965960"/>
          </a:xfrm>
          <a:prstGeom prst="roundRect">
            <a:avLst>
              <a:gd name="adj" fmla="val 3256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505A6E3-48E9-4F2B-A87C-29CD19D0725B}"/>
              </a:ext>
            </a:extLst>
          </p:cNvPr>
          <p:cNvSpPr>
            <a:spLocks noGrp="1"/>
          </p:cNvSpPr>
          <p:nvPr/>
        </p:nvSpPr>
        <p:spPr>
          <a:xfrm>
            <a:off x="713232" y="4160520"/>
            <a:ext cx="1078992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Standard WER uses whitespace as a word tokenizer — unsuitable for Khmer, which does not use spaces as word boundaries.</a:t>
            </a:r>
            <a:endParaRPr sz="135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Interpretable word-level WER needs a consistent Khmer word-segmentation method.</a:t>
            </a:r>
            <a:endParaRPr sz="135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CER is therefore the primary metric in this project; unsegmented WER is omitted from the comparison.</a:t>
            </a:r>
            <a:endParaRPr sz="13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0D4DA1B-0230-494B-9802-3380A6F76DA4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309837-501E-4E38-A93C-E1493223FEBA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7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092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B6ADAB-937C-4DD5-9AD8-F8208BDA154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D00096-F8CE-4AC6-ACDE-62EB7395287B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6EB772-1137-4A60-9E80-9A8D61922028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Saved Checkpoints: Shared-Test Diagnostic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A7E0D9-3574-4559-A19C-8D609F84FEA2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E80843B-B978-40FD-BED9-8CF241CC2965}"/>
              </a:ext>
            </a:extLst>
          </p:cNvPr>
          <p:cNvSpPr>
            <a:spLocks noGrp="1"/>
          </p:cNvSpPr>
          <p:nvPr/>
        </p:nvSpPr>
        <p:spPr>
          <a:xfrm>
            <a:off x="457200" y="12070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A6FD54-678A-4E25-9CB2-8AEAC75D8543}"/>
              </a:ext>
            </a:extLst>
          </p:cNvPr>
          <p:cNvSpPr>
            <a:spLocks noGrp="1"/>
          </p:cNvSpPr>
          <p:nvPr/>
        </p:nvSpPr>
        <p:spPr>
          <a:xfrm>
            <a:off x="457200" y="1243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83.89%</a:t>
            </a:r>
            <a:endParaRPr sz="2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67A763-7B92-4764-A6DA-F0CA365B6F0F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Whisper — original  (CER, n = 200)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4C933F-A561-42AC-8154-1626CDCEA698}"/>
              </a:ext>
            </a:extLst>
          </p:cNvPr>
          <p:cNvSpPr>
            <a:spLocks noGrp="1"/>
          </p:cNvSpPr>
          <p:nvPr/>
        </p:nvSpPr>
        <p:spPr>
          <a:xfrm>
            <a:off x="4261104" y="12070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AD85A4-D623-4337-9330-B3ABD9E7A01C}"/>
              </a:ext>
            </a:extLst>
          </p:cNvPr>
          <p:cNvSpPr>
            <a:spLocks noGrp="1"/>
          </p:cNvSpPr>
          <p:nvPr/>
        </p:nvSpPr>
        <p:spPr>
          <a:xfrm>
            <a:off x="4261104" y="1243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83.67%</a:t>
            </a:r>
            <a:endParaRPr sz="2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F1C078-DE94-4DCD-BE6C-368215A23D26}"/>
              </a:ext>
            </a:extLst>
          </p:cNvPr>
          <p:cNvSpPr>
            <a:spLocks noGrp="1"/>
          </p:cNvSpPr>
          <p:nvPr/>
        </p:nvSpPr>
        <p:spPr>
          <a:xfrm>
            <a:off x="4261104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Whisper — rerun (warmup 35)  (CER, n = 200)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82CA2A6-992C-4231-865F-D02CAC0EDE52}"/>
              </a:ext>
            </a:extLst>
          </p:cNvPr>
          <p:cNvSpPr>
            <a:spLocks noGrp="1"/>
          </p:cNvSpPr>
          <p:nvPr/>
        </p:nvSpPr>
        <p:spPr>
          <a:xfrm>
            <a:off x="8065008" y="12070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6F3EE"/>
          </a:solidFill>
          <a:ln w="12700">
            <a:solidFill>
              <a:srgbClr val="1E7A5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AAFE56-126F-4693-BAA8-2DC77EB259C9}"/>
              </a:ext>
            </a:extLst>
          </p:cNvPr>
          <p:cNvSpPr>
            <a:spLocks noGrp="1"/>
          </p:cNvSpPr>
          <p:nvPr/>
        </p:nvSpPr>
        <p:spPr>
          <a:xfrm>
            <a:off x="8065008" y="1243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15.96%</a:t>
            </a:r>
            <a:endParaRPr sz="2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414D1E-13E9-461C-A611-955917EDAF0B}"/>
              </a:ext>
            </a:extLst>
          </p:cNvPr>
          <p:cNvSpPr>
            <a:spLocks noGrp="1"/>
          </p:cNvSpPr>
          <p:nvPr/>
        </p:nvSpPr>
        <p:spPr>
          <a:xfrm>
            <a:off x="8065008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MMS — CTC  (CER, n = 200)</a:t>
            </a:r>
            <a:endParaRPr sz="1200"/>
          </a:p>
        </p:txBody>
      </p:sp>
      <p:graphicFrame>
        <p:nvGraphicFramePr>
          <p:cNvPr id="38" name="Table 0"/>
          <p:cNvGraphicFramePr/>
          <p:nvPr>
            <p:extLst>
              <p:ext uri="{D42A27DB-BD31-4B8C-83A1-F6EECF244321}">
                <p14:modId xmlns:p14="http://schemas.microsoft.com/office/powerpoint/2010/main" val="2391098430"/>
              </p:ext>
            </p:extLst>
          </p:nvPr>
        </p:nvGraphicFramePr>
        <p:xfrm>
          <a:off x="457200" y="2331720"/>
          <a:ext cx="11274552" cy="1325880"/>
        </p:xfrm>
        <a:graphic>
          <a:graphicData uri="http://schemas.openxmlformats.org/drawingml/2006/table">
            <a:tbl>
              <a:tblPr/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Params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 / val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 original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Whisper-Tiny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Full tuning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37.8M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~941 / ~189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83.89%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MMS-1B CTC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Top 4 + head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79.1M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≤1000 / ≤200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15.96%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 rerun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Whisper-Tiny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Full; warmup 35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37.8M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941 / 189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83.67%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>
            <a:extLst>
              <a:ext uri="{FF2B5EF4-FFF2-40B4-BE49-F238E27FC236}">
                <a16:creationId xmlns:a16="http://schemas.microsoft.com/office/drawing/2014/main" id="{8A4F9526-D8C2-4C24-BBC0-ADB28325A943}"/>
              </a:ext>
            </a:extLst>
          </p:cNvPr>
          <p:cNvSpPr>
            <a:spLocks noGrp="1"/>
          </p:cNvSpPr>
          <p:nvPr/>
        </p:nvSpPr>
        <p:spPr>
          <a:xfrm>
            <a:off x="457200" y="3822192"/>
            <a:ext cx="11274552" cy="804672"/>
          </a:xfrm>
          <a:prstGeom prst="roundRect">
            <a:avLst>
              <a:gd name="adj" fmla="val 7955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55F9770-0E98-44DD-BACB-23DDA58F67E1}"/>
              </a:ext>
            </a:extLst>
          </p:cNvPr>
          <p:cNvSpPr>
            <a:spLocks noGrp="1"/>
          </p:cNvSpPr>
          <p:nvPr/>
        </p:nvSpPr>
        <p:spPr>
          <a:xfrm>
            <a:off x="658368" y="388620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All three checkpoints were scored on the first 200 FLEURS test rows. </a:t>
            </a:r>
            <a:r>
              <a:rPr sz="135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The Whisper rerun saved 59 character edits</a:t>
            </a: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 relative to the original run.</a:t>
            </a:r>
            <a:endParaRPr sz="13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7947189-7A27-4E95-AF18-D0F929376FA0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496531D-017B-4CF3-99C5-394A9D682EE4}"/>
              </a:ext>
            </a:extLst>
          </p:cNvPr>
          <p:cNvSpPr>
            <a:spLocks noGrp="1"/>
          </p:cNvSpPr>
          <p:nvPr/>
        </p:nvSpPr>
        <p:spPr>
          <a:xfrm>
            <a:off x="658368" y="4846320"/>
            <a:ext cx="10872216" cy="8138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3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Training selections and filters differed across architecture runs, so these scores are diagnostic, not a controlled ranking of architectures.</a:t>
            </a:r>
            <a:endParaRPr sz="13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030E7E9-E50D-4234-A8B3-48BF4984310D}"/>
              </a:ext>
            </a:extLst>
          </p:cNvPr>
          <p:cNvSpPr>
            <a:spLocks noGrp="1"/>
          </p:cNvSpPr>
          <p:nvPr/>
        </p:nvSpPr>
        <p:spPr>
          <a:xfrm>
            <a:off x="457200" y="5870448"/>
            <a:ext cx="1127455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3B2240B-123C-4410-98CC-E8C739159668}"/>
              </a:ext>
            </a:extLst>
          </p:cNvPr>
          <p:cNvSpPr>
            <a:spLocks noGrp="1"/>
          </p:cNvSpPr>
          <p:nvPr/>
        </p:nvSpPr>
        <p:spPr>
          <a:xfrm>
            <a:off x="621792" y="58704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CER values are rounded to two decimals. Scoring uses NFC normalization and removes whitespace.</a:t>
            </a:r>
            <a:endParaRPr sz="9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4158122-C127-4A64-928F-9DE8D77D8E7F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234A559-6DC9-4885-A632-2016373DC9FE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5997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0D6435-23C2-47FF-9039-C0FE1724AAB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6ED86D-C374-4405-8081-F91E5C89FA19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498AF9-F813-4397-A085-3D0ACBA28C34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Learning Curves &amp; Error Rate Comparison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91F159-47EC-4E03-8F02-1E2B1E2F5333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951887-8791-423C-ADB3-FC0617EEF594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989320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B55B1E4-C656-4098-A3CD-09655E719DE7}"/>
              </a:ext>
            </a:extLst>
          </p:cNvPr>
          <p:cNvSpPr>
            <a:spLocks noGrp="1"/>
          </p:cNvSpPr>
          <p:nvPr/>
        </p:nvSpPr>
        <p:spPr>
          <a:xfrm>
            <a:off x="585216" y="4480560"/>
            <a:ext cx="57332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Saved Whisper loss and validation-CER history</a:t>
            </a:r>
            <a:endParaRPr sz="10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70F917C-D4C7-4AF5-B04A-082BB9B09D17}"/>
              </a:ext>
            </a:extLst>
          </p:cNvPr>
          <p:cNvSpPr>
            <a:spLocks noGrp="1"/>
          </p:cNvSpPr>
          <p:nvPr/>
        </p:nvSpPr>
        <p:spPr>
          <a:xfrm>
            <a:off x="6583680" y="1234440"/>
            <a:ext cx="5148072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3ADEE2E-4BB7-42EA-99E3-32E6FBAB6638}"/>
              </a:ext>
            </a:extLst>
          </p:cNvPr>
          <p:cNvSpPr>
            <a:spLocks noGrp="1"/>
          </p:cNvSpPr>
          <p:nvPr/>
        </p:nvSpPr>
        <p:spPr>
          <a:xfrm>
            <a:off x="6766560" y="1325880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Saved checkpoints on the first 200 FLEURS test rows</a:t>
            </a:r>
            <a:endParaRPr sz="110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3932098766"/>
              </p:ext>
            </p:extLst>
          </p:nvPr>
        </p:nvGraphicFramePr>
        <p:xfrm>
          <a:off x="6720840" y="1645920"/>
          <a:ext cx="4892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>
            <a:extLst>
              <a:ext uri="{FF2B5EF4-FFF2-40B4-BE49-F238E27FC236}">
                <a16:creationId xmlns:a16="http://schemas.microsoft.com/office/drawing/2014/main" id="{A9CD9FD6-B760-4CA7-ACAA-513028A7BF16}"/>
              </a:ext>
            </a:extLst>
          </p:cNvPr>
          <p:cNvSpPr>
            <a:spLocks noGrp="1"/>
          </p:cNvSpPr>
          <p:nvPr/>
        </p:nvSpPr>
        <p:spPr>
          <a:xfrm>
            <a:off x="457200" y="5102352"/>
            <a:ext cx="11274552" cy="1170432"/>
          </a:xfrm>
          <a:prstGeom prst="roundRect">
            <a:avLst>
              <a:gd name="adj" fmla="val 5469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8F3685B-68A5-49C7-8D2D-1855A016484D}"/>
              </a:ext>
            </a:extLst>
          </p:cNvPr>
          <p:cNvSpPr>
            <a:spLocks noGrp="1"/>
          </p:cNvSpPr>
          <p:nvPr/>
        </p:nvSpPr>
        <p:spPr>
          <a:xfrm>
            <a:off x="658368" y="5193792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3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Left:  </a:t>
            </a:r>
            <a:r>
              <a:rPr sz="113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historical validation CER retained spaces; current test CER removes them, so the two are not directly comparable. MMS trainer history was not retained.
</a:t>
            </a:r>
            <a:r>
              <a:rPr sz="113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Right:  </a:t>
            </a:r>
            <a:r>
              <a:rPr sz="113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both checkpoints are scored on the same 200 test rows, but different training subsets limit interpretation.</a:t>
            </a:r>
            <a:endParaRPr sz="113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5EA7740-7568-4BB7-B0BF-793AB2D44273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D2956C4-DA08-486F-98F5-C8F80FDA9436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 / 13</a:t>
            </a:r>
            <a:endParaRPr sz="900"/>
          </a:p>
        </p:txBody>
      </p:sp>
      <p:pic>
        <p:nvPicPr>
          <p:cNvPr id="11" name="Whisper learning curve">
            <a:extLst>
              <a:ext uri="{FF2B5EF4-FFF2-40B4-BE49-F238E27FC236}">
                <a16:creationId xmlns:a16="http://schemas.microsoft.com/office/drawing/2014/main" id="{E2158F32-65EA-3988-66EF-9C955763B1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1344168"/>
            <a:ext cx="5733288" cy="30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7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A57F36-D17B-4C19-853C-76E823B90484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7C1B6D-CB55-418F-A35D-CF736CC4DA53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E31F0C-CE40-40EE-8549-A07A738E6336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Error Analysis &amp; Failure Case Inspection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8F463C-5983-47C0-BA07-77D7BE84986F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906BA5-47CB-4E51-AFFD-9524E53F0D9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Whisper character errors across 200 test examples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1B9687-7E55-4D2D-98B6-00120FC97A9E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95833B-F30D-4AB7-BA2F-CE9A5259AB38}"/>
              </a:ext>
            </a:extLst>
          </p:cNvPr>
          <p:cNvSpPr>
            <a:spLocks noGrp="1"/>
          </p:cNvSpPr>
          <p:nvPr/>
        </p:nvSpPr>
        <p:spPr>
          <a:xfrm>
            <a:off x="457200" y="16276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13,424</a:t>
            </a:r>
            <a:endParaRPr sz="2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27DE48-C06D-48BA-B405-5210BB2A0EB4}"/>
              </a:ext>
            </a:extLst>
          </p:cNvPr>
          <p:cNvSpPr>
            <a:spLocks noGrp="1"/>
          </p:cNvSpPr>
          <p:nvPr/>
        </p:nvSpPr>
        <p:spPr>
          <a:xfrm>
            <a:off x="457200" y="21305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Substitutions</a:t>
            </a:r>
            <a:endParaRPr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CF4199C-193A-4AB6-B9BB-815C19EE4124}"/>
              </a:ext>
            </a:extLst>
          </p:cNvPr>
          <p:cNvSpPr>
            <a:spLocks noGrp="1"/>
          </p:cNvSpPr>
          <p:nvPr/>
        </p:nvSpPr>
        <p:spPr>
          <a:xfrm>
            <a:off x="4261104" y="1572768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0F34A1-0EB1-44E7-B8B7-03D1C39B2B3E}"/>
              </a:ext>
            </a:extLst>
          </p:cNvPr>
          <p:cNvSpPr>
            <a:spLocks noGrp="1"/>
          </p:cNvSpPr>
          <p:nvPr/>
        </p:nvSpPr>
        <p:spPr>
          <a:xfrm>
            <a:off x="4261104" y="16276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8,741</a:t>
            </a:r>
            <a:endParaRPr sz="2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593A59-79BB-46DF-928D-D8347D9E90EC}"/>
              </a:ext>
            </a:extLst>
          </p:cNvPr>
          <p:cNvSpPr>
            <a:spLocks noGrp="1"/>
          </p:cNvSpPr>
          <p:nvPr/>
        </p:nvSpPr>
        <p:spPr>
          <a:xfrm>
            <a:off x="4261104" y="21305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Deletions</a:t>
            </a:r>
            <a:endParaRPr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2CEFF82-55EA-4C5B-B901-CAF1B9D3303D}"/>
              </a:ext>
            </a:extLst>
          </p:cNvPr>
          <p:cNvSpPr>
            <a:spLocks noGrp="1"/>
          </p:cNvSpPr>
          <p:nvPr/>
        </p:nvSpPr>
        <p:spPr>
          <a:xfrm>
            <a:off x="8065008" y="1572768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F30800-A877-4220-AF58-43C8F5E3B6BB}"/>
              </a:ext>
            </a:extLst>
          </p:cNvPr>
          <p:cNvSpPr>
            <a:spLocks noGrp="1"/>
          </p:cNvSpPr>
          <p:nvPr/>
        </p:nvSpPr>
        <p:spPr>
          <a:xfrm>
            <a:off x="8065008" y="16276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286</a:t>
            </a:r>
            <a:endParaRPr sz="2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19B944-883F-4A75-B851-E32F217155A5}"/>
              </a:ext>
            </a:extLst>
          </p:cNvPr>
          <p:cNvSpPr>
            <a:spLocks noGrp="1"/>
          </p:cNvSpPr>
          <p:nvPr/>
        </p:nvSpPr>
        <p:spPr>
          <a:xfrm>
            <a:off x="8065008" y="21305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Insertions</a:t>
            </a:r>
            <a:endParaRPr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88807FC-2152-4371-853B-8584D4E69B95}"/>
              </a:ext>
            </a:extLst>
          </p:cNvPr>
          <p:cNvSpPr>
            <a:spLocks noGrp="1"/>
          </p:cNvSpPr>
          <p:nvPr/>
        </p:nvSpPr>
        <p:spPr>
          <a:xfrm>
            <a:off x="457200" y="276148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Observed pattern in high-error outputs</a:t>
            </a:r>
            <a:endParaRPr sz="13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A4E067A-A468-4C99-BDF6-0619E01FEF4F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11274552" cy="685800"/>
          </a:xfrm>
          <a:prstGeom prst="roundRect">
            <a:avLst>
              <a:gd name="adj" fmla="val 9333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61DD70F-D1E4-4FE0-991D-598519ACD641}"/>
              </a:ext>
            </a:extLst>
          </p:cNvPr>
          <p:cNvSpPr>
            <a:spLocks noGrp="1"/>
          </p:cNvSpPr>
          <p:nvPr/>
        </p:nvSpPr>
        <p:spPr>
          <a:xfrm>
            <a:off x="658368" y="310896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Several examples contain repeated Khmer token strings, suggesting decoding collapse in the observed transcripts.</a:t>
            </a:r>
            <a:endParaRPr sz="12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59E4B1E-3F27-4AD0-A4CC-BC999BD3C5D9}"/>
              </a:ext>
            </a:extLst>
          </p:cNvPr>
          <p:cNvSpPr>
            <a:spLocks noGrp="1"/>
          </p:cNvSpPr>
          <p:nvPr/>
        </p:nvSpPr>
        <p:spPr>
          <a:xfrm>
            <a:off x="457200" y="395020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Example — FLEURS test row 66</a:t>
            </a:r>
            <a:endParaRPr sz="13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E2D4CCF-3577-40AE-9B4D-A14828962C16}"/>
              </a:ext>
            </a:extLst>
          </p:cNvPr>
          <p:cNvSpPr>
            <a:spLocks noGrp="1"/>
          </p:cNvSpPr>
          <p:nvPr/>
        </p:nvSpPr>
        <p:spPr>
          <a:xfrm>
            <a:off x="457200" y="4279392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B991AA-A600-4210-B738-024370C822A7}"/>
              </a:ext>
            </a:extLst>
          </p:cNvPr>
          <p:cNvSpPr>
            <a:spLocks noGrp="1"/>
          </p:cNvSpPr>
          <p:nvPr/>
        </p:nvSpPr>
        <p:spPr>
          <a:xfrm>
            <a:off x="731520" y="440740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30000"/>
              </a:lnSpc>
              <a:buNone/>
            </a:pP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Reference: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contains “802.11n … 5.0ghz”
</a:t>
            </a: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Output: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repeats “</a:t>
            </a:r>
            <a:r>
              <a:rPr sz="1250">
                <a:solidFill>
                  <a:srgbClr val="FFFFFF"/>
                </a:solidFill>
                <a:latin typeface="Khmer OS Battambang"/>
                <a:ea typeface="Khmer OS Battambang"/>
                <a:cs typeface="Khmer OS Battambang"/>
              </a:rPr>
              <a:t>បាន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” until decoding stops.</a:t>
            </a:r>
            <a:endParaRPr sz="12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0A7BA4-5A1D-4D92-B7A0-51594588BACF}"/>
              </a:ext>
            </a:extLst>
          </p:cNvPr>
          <p:cNvSpPr>
            <a:spLocks noGrp="1"/>
          </p:cNvSpPr>
          <p:nvPr/>
        </p:nvSpPr>
        <p:spPr>
          <a:xfrm>
            <a:off x="457200" y="5486400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F1F07D7-33CC-43CF-AF0D-28EFEC3CD885}"/>
              </a:ext>
            </a:extLst>
          </p:cNvPr>
          <p:cNvSpPr>
            <a:spLocks noGrp="1"/>
          </p:cNvSpPr>
          <p:nvPr/>
        </p:nvSpPr>
        <p:spPr>
          <a:xfrm>
            <a:off x="658368" y="5559552"/>
            <a:ext cx="10872216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1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Text scores alone do not establish an acoustic cause. MMS per-example predictions were not retained.</a:t>
            </a:r>
            <a:endParaRPr sz="11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DBD156D-81B3-43C7-8306-C55D7A993432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D44D9F-A678-4097-AB94-6A6E178AC2A2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10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4268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4D3E99-D6B3-4FC1-A21F-08FB1405FA5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A27AAB-B50E-4CBC-B8C2-1942A9B3EA60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EB74E3-9EDD-410F-A975-77DCE735AD16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Limitations &amp; Prioritized Future Work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E9D412-786A-49C5-B527-44989AA1E110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CD6C92-8B5C-4E77-B044-13007382631E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FBEFEF"/>
          </a:solidFill>
          <a:ln w="12700">
            <a:solidFill>
              <a:srgbClr val="C97A7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2593E3-CC11-4910-9846-9A5D5979CA19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8A2E2E"/>
                </a:solidFill>
                <a:latin typeface="Cambria"/>
                <a:ea typeface="Cambria"/>
                <a:cs typeface="Cambria"/>
              </a:rPr>
              <a:t>Limitations of the saved study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7B40A9-11E0-4A7E-8CDF-1DB3E7E0E87A}"/>
              </a:ext>
            </a:extLst>
          </p:cNvPr>
          <p:cNvSpPr>
            <a:spLocks noGrp="1"/>
          </p:cNvSpPr>
          <p:nvPr/>
        </p:nvSpPr>
        <p:spPr>
          <a:xfrm>
            <a:off x="77724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Original Whisper row counts are inferred; MMS retained counts were not logged.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MMS training history and per-example outputs were not retained.</a:t>
            </a:r>
            <a:endParaRPr sz="1300"/>
          </a:p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The frozen-encoder run has no saved checkpoint or metrics.</a:t>
            </a:r>
            <a:endParaRPr sz="13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524128-658F-4F68-B026-7EE7F0B0B631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EAF4EF"/>
          </a:solidFill>
          <a:ln w="12700">
            <a:solidFill>
              <a:srgbClr val="7FB59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CC1635-560C-485C-928C-A255E1D3F8FE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Next steps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A0BD24-6756-483B-A8CA-62E358AE4C01}"/>
              </a:ext>
            </a:extLst>
          </p:cNvPr>
          <p:cNvSpPr>
            <a:spLocks noGrp="1"/>
          </p:cNvSpPr>
          <p:nvPr/>
        </p:nvSpPr>
        <p:spPr>
          <a:xfrm>
            <a:off x="662940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Rerun both models on matched, seeded train / validation / test subsets.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Save both trainer states and per-example predictions.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Document learning-rate and regularization experiments.</a:t>
            </a:r>
            <a:endParaRPr sz="1300"/>
          </a:p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Make the Whisper download accessible and record training runtimes.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6CD6B9F-DE72-456C-9505-0D1433EC4122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521F9D-F230-408C-9D59-A79011C36DA5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01622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E27073-7F59-4ADD-A861-E3363DD8273D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7DEA97-F704-4536-A0AA-D7A7521E604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11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2A327A-C286-490F-9395-1820BD4EE491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Live Demonstration &amp; Q&amp;A Preparation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BF35C99-752A-4173-8D26-FB368F48CB9C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40C375-A9B9-4687-BBFB-7DD9B28D9D66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B720B2-91D2-4596-A605-D8D09CC77074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Demo — Gradio web app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AB81A9-365C-499C-BF01-BE55CE0FB5B2}"/>
              </a:ext>
            </a:extLst>
          </p:cNvPr>
          <p:cNvSpPr>
            <a:spLocks noGrp="1"/>
          </p:cNvSpPr>
          <p:nvPr/>
        </p:nvSpPr>
        <p:spPr>
          <a:xfrm>
            <a:off x="77724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Accepts microphone input or an uploaded audio file.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Use a sample clip to show the resulting Khmer transcript.</a:t>
            </a:r>
            <a:endParaRPr sz="1300"/>
          </a:p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For Q&amp;A: explain the FLEURS subset mismatch and the whitespace-insensitive CER convention.</a:t>
            </a:r>
            <a:endParaRPr sz="13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04AC39-AC9A-463F-B9B5-997E0E150742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B67275-62A0-455A-965F-5BC992916EDF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Q&amp;A topics to be ready for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2CB2A2-B3F8-437F-A177-1C7CA9E1945F}"/>
              </a:ext>
            </a:extLst>
          </p:cNvPr>
          <p:cNvSpPr>
            <a:spLocks noGrp="1"/>
          </p:cNvSpPr>
          <p:nvPr/>
        </p:nvSpPr>
        <p:spPr>
          <a:xfrm>
            <a:off x="662940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Explain the observed Whisper repetition errors and CTC decoding.</a:t>
            </a:r>
            <a:endParaRPr sz="135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Describe why the saved scores are diagnostic, not a controlled ranking.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A6950C1-0574-4421-A702-52F322E09711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6D31C2-BD6E-4379-9D41-6D440365FB8C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12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2445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75EE3F-D95D-403A-ACC1-FC447532825C}"/>
              </a:ext>
            </a:extLst>
          </p:cNvPr>
          <p:cNvSpPr>
            <a:spLocks noGrp="1"/>
          </p:cNvSpPr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Q&amp;A BACKUP SLIDE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E9B051-DB1B-480B-A6B1-B16FCEBE5372}"/>
              </a:ext>
            </a:extLst>
          </p:cNvPr>
          <p:cNvSpPr>
            <a:spLocks noGrp="1"/>
          </p:cNvSpPr>
          <p:nvPr/>
        </p:nvSpPr>
        <p:spPr>
          <a:xfrm>
            <a:off x="822960" y="98755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Appendix: Hyperparameters and References</a:t>
            </a:r>
            <a:endParaRPr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1EE524-5A1B-4364-A84C-289DEC352A0C}"/>
              </a:ext>
            </a:extLst>
          </p:cNvPr>
          <p:cNvSpPr>
            <a:spLocks noGrp="1"/>
          </p:cNvSpPr>
          <p:nvPr/>
        </p:nvSpPr>
        <p:spPr>
          <a:xfrm>
            <a:off x="822960" y="1874520"/>
            <a:ext cx="10515600" cy="2423160"/>
          </a:xfrm>
          <a:prstGeom prst="roundRect">
            <a:avLst>
              <a:gd name="adj" fmla="val 2642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6E1F29-F42E-42C0-A7E6-42133D2B6C03}"/>
              </a:ext>
            </a:extLst>
          </p:cNvPr>
          <p:cNvSpPr>
            <a:spLocks noGrp="1"/>
          </p:cNvSpPr>
          <p:nvPr/>
        </p:nvSpPr>
        <p:spPr>
          <a:xfrm>
            <a:off x="1051560" y="2011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Saved run parameters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D28D27-DBEC-4BD0-95E3-85E7C424AC03}"/>
              </a:ext>
            </a:extLst>
          </p:cNvPr>
          <p:cNvSpPr>
            <a:spLocks noGrp="1"/>
          </p:cNvSpPr>
          <p:nvPr/>
        </p:nvSpPr>
        <p:spPr>
          <a:xfrm>
            <a:off x="1280160" y="2377440"/>
            <a:ext cx="978408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Whisper: 3 epochs; lr 1e-5; warmup 500; batch 8; accumulation 1.</a:t>
            </a:r>
            <a:endParaRPr sz="1500"/>
          </a:p>
          <a:p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Warmup rerun: 941 train / 189 validation rows retained.</a:t>
            </a:r>
            <a:endParaRPr sz="1500"/>
          </a:p>
          <a:p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MMS: 15 epochs; lr 5e-5; warmup 50; batch 1; accumulation 8.</a:t>
            </a:r>
            <a:endParaRPr sz="1500"/>
          </a:p>
          <a:p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MMS: top four layers unfrozen; trainable parameter count 79.08M.</a:t>
            </a:r>
            <a:endParaRPr sz="1500"/>
          </a:p>
          <a:p>
            <a:pPr marL="152400" indent="-152400">
              <a:lnSpc>
                <a:spcPct val="128000"/>
              </a:lnSpc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All three checkpoints scored post hoc on the first 200 FLEURS test rows.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CAECFD-15C3-4653-8BB3-1902CEAA20E4}"/>
              </a:ext>
            </a:extLst>
          </p:cNvPr>
          <p:cNvSpPr>
            <a:spLocks noGrp="1"/>
          </p:cNvSpPr>
          <p:nvPr/>
        </p:nvSpPr>
        <p:spPr>
          <a:xfrm>
            <a:off x="822960" y="4480560"/>
            <a:ext cx="10515600" cy="1874520"/>
          </a:xfrm>
          <a:prstGeom prst="roundRect">
            <a:avLst>
              <a:gd name="adj" fmla="val 3415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7FABA7-D995-4A6D-8A61-7383FD881765}"/>
              </a:ext>
            </a:extLst>
          </p:cNvPr>
          <p:cNvSpPr>
            <a:spLocks noGrp="1"/>
          </p:cNvSpPr>
          <p:nvPr/>
        </p:nvSpPr>
        <p:spPr>
          <a:xfrm>
            <a:off x="1051560" y="45902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References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7A3655-2651-494F-896D-290691FB0894}"/>
              </a:ext>
            </a:extLst>
          </p:cNvPr>
          <p:cNvSpPr>
            <a:spLocks noGrp="1"/>
          </p:cNvSpPr>
          <p:nvPr/>
        </p:nvSpPr>
        <p:spPr>
          <a:xfrm>
            <a:off x="1280160" y="4956048"/>
            <a:ext cx="978408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Radford et al. (2023), </a:t>
            </a:r>
            <a:r>
              <a:rPr sz="14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Robust Speech Recognition via Large-Scale Weak Supervision</a:t>
            </a:r>
            <a:endParaRPr sz="1400"/>
          </a:p>
          <a:p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Pratap et al. (2023), </a:t>
            </a:r>
            <a:r>
              <a:rPr sz="14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Scaling Speech Technology to 1,000+ Languages</a:t>
            </a:r>
            <a:endParaRPr sz="1400"/>
          </a:p>
          <a:p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Conneau et al. (2023)</a:t>
            </a:r>
            <a:endParaRPr sz="1400"/>
          </a:p>
          <a:p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Graves et al. (2006)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00E72B-85EB-4AAC-801E-10B52630ADD7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DAA3E24-B65F-4E40-A02F-91E2BFC39374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13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0598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1667</Words>
  <Application>Microsoft Office PowerPoint</Application>
  <DocSecurity>0</DocSecurity>
  <PresentationFormat>Widescreen</PresentationFormat>
  <Paragraphs>221</Paragraphs>
  <Slides>13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Khmer OS Battambang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Khemrak Pasey</cp:lastModifiedBy>
  <cp:revision>4</cp:revision>
  <dcterms:created xsi:type="dcterms:W3CDTF">2026-09-23T06:35:39Z</dcterms:created>
  <dcterms:modified xsi:type="dcterms:W3CDTF">2026-09-23T06:55:00Z</dcterms:modified>
</cp:coreProperties>
</file>