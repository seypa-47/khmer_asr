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3f3c05ed34faf" /><Relationship Type="http://schemas.openxmlformats.org/officeDocument/2006/relationships/extended-properties" Target="/docProps/app.xml" Id="Ra9da437a1fa34e54" /><Relationship Type="http://schemas.openxmlformats.org/officeDocument/2006/relationships/officeDocument" Target="/ppt/presentation.xml" Id="Rb4ffbb469660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99df1cf264469d"/>
  </p:sldMasterIdLst>
  <p:notesMasterIdLst>
    <p:notesMasterId xmlns:r="http://schemas.openxmlformats.org/officeDocument/2006/relationships" r:id="R5dbf939d7a1d475d"/>
  </p:notesMasterIdLst>
  <p:sldIdLst>
    <p:sldId xmlns:r="http://schemas.openxmlformats.org/officeDocument/2006/relationships" id="256" r:id="R7925b1036f484233"/>
    <p:sldId xmlns:r="http://schemas.openxmlformats.org/officeDocument/2006/relationships" id="257" r:id="Refb5e17352534dcd"/>
    <p:sldId xmlns:r="http://schemas.openxmlformats.org/officeDocument/2006/relationships" id="258" r:id="R343c746b936d4536"/>
    <p:sldId xmlns:r="http://schemas.openxmlformats.org/officeDocument/2006/relationships" id="259" r:id="Rab84f317f2c24b77"/>
    <p:sldId xmlns:r="http://schemas.openxmlformats.org/officeDocument/2006/relationships" id="260" r:id="R6a1ae5cf78e64705"/>
    <p:sldId xmlns:r="http://schemas.openxmlformats.org/officeDocument/2006/relationships" id="261" r:id="Rab0680d086714823"/>
    <p:sldId xmlns:r="http://schemas.openxmlformats.org/officeDocument/2006/relationships" id="262" r:id="Rebccc0dc02484a64"/>
    <p:sldId xmlns:r="http://schemas.openxmlformats.org/officeDocument/2006/relationships" id="263" r:id="Rcdddea15a76142ec"/>
    <p:sldId xmlns:r="http://schemas.openxmlformats.org/officeDocument/2006/relationships" id="264" r:id="R4415b22129fe40ae"/>
    <p:sldId xmlns:r="http://schemas.openxmlformats.org/officeDocument/2006/relationships" id="265" r:id="R4876eae75af94f3f"/>
    <p:sldId xmlns:r="http://schemas.openxmlformats.org/officeDocument/2006/relationships" id="266" r:id="R027ae731a6c04bc7"/>
    <p:sldId xmlns:r="http://schemas.openxmlformats.org/officeDocument/2006/relationships" id="267" r:id="R7ff4d4bc3e7c4e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9b6ec8abc44c2" /><Relationship Type="http://schemas.openxmlformats.org/officeDocument/2006/relationships/slideMaster" Target="/ppt/slideMasters/slideMaster1.xml" Id="R8b99df1cf264469d" /><Relationship Type="http://schemas.openxmlformats.org/officeDocument/2006/relationships/notesMaster" Target="/ppt/notesMasters/notesMaster1.xml" Id="R5dbf939d7a1d475d" /><Relationship Type="http://schemas.openxmlformats.org/officeDocument/2006/relationships/presProps" Target="/ppt/presProps.xml" Id="R33ded7fa63444ff1" /><Relationship Type="http://schemas.openxmlformats.org/officeDocument/2006/relationships/viewProps" Target="/ppt/viewProps.xml" Id="Rc3d91a77aa404170" /><Relationship Type="http://schemas.openxmlformats.org/officeDocument/2006/relationships/tableStyles" Target="/ppt/tableStyles.xml" Id="R78b2b226512e4792" /><Relationship Type="http://schemas.openxmlformats.org/officeDocument/2006/relationships/slide" Target="/ppt/slides/slide1.xml" Id="R7925b1036f484233" /><Relationship Type="http://schemas.openxmlformats.org/officeDocument/2006/relationships/slide" Target="/ppt/slides/slide2.xml" Id="Refb5e17352534dcd" /><Relationship Type="http://schemas.openxmlformats.org/officeDocument/2006/relationships/slide" Target="/ppt/slides/slide3.xml" Id="R343c746b936d4536" /><Relationship Type="http://schemas.openxmlformats.org/officeDocument/2006/relationships/slide" Target="/ppt/slides/slide4.xml" Id="Rab84f317f2c24b77" /><Relationship Type="http://schemas.openxmlformats.org/officeDocument/2006/relationships/slide" Target="/ppt/slides/slide5.xml" Id="R6a1ae5cf78e64705" /><Relationship Type="http://schemas.openxmlformats.org/officeDocument/2006/relationships/slide" Target="/ppt/slides/slide6.xml" Id="Rab0680d086714823" /><Relationship Type="http://schemas.openxmlformats.org/officeDocument/2006/relationships/slide" Target="/ppt/slides/slide7.xml" Id="Rebccc0dc02484a64" /><Relationship Type="http://schemas.openxmlformats.org/officeDocument/2006/relationships/slide" Target="/ppt/slides/slide8.xml" Id="Rcdddea15a76142ec" /><Relationship Type="http://schemas.openxmlformats.org/officeDocument/2006/relationships/slide" Target="/ppt/slides/slide9.xml" Id="R4415b22129fe40ae" /><Relationship Type="http://schemas.openxmlformats.org/officeDocument/2006/relationships/slide" Target="/ppt/slides/slide10.xml" Id="R4876eae75af94f3f" /><Relationship Type="http://schemas.openxmlformats.org/officeDocument/2006/relationships/slide" Target="/ppt/slides/slide11.xml" Id="R027ae731a6c04bc7" /><Relationship Type="http://schemas.openxmlformats.org/officeDocument/2006/relationships/slide" Target="/ppt/slides/slide12.xml" Id="R7ff4d4bc3e7c4e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57c1f48cf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b92bdfb0b64204" /><Relationship Type="http://schemas.openxmlformats.org/officeDocument/2006/relationships/notesMaster" Target="/ppt/notesMasters/notesMaster1.xml" Id="R1be08bcfe067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dc9c26dfa41ed" /><Relationship Type="http://schemas.openxmlformats.org/officeDocument/2006/relationships/notesMaster" Target="/ppt/notesMasters/notesMaster1.xml" Id="Re88870e349bf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c8c159e8648f7" /><Relationship Type="http://schemas.openxmlformats.org/officeDocument/2006/relationships/notesMaster" Target="/ppt/notesMasters/notesMaster1.xml" Id="R05746855126a42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795f4044c24f42" /><Relationship Type="http://schemas.openxmlformats.org/officeDocument/2006/relationships/notesMaster" Target="/ppt/notesMasters/notesMaster1.xml" Id="Rcc41ac8b922d4b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6a52484924e28" /><Relationship Type="http://schemas.openxmlformats.org/officeDocument/2006/relationships/notesMaster" Target="/ppt/notesMasters/notesMaster1.xml" Id="R763e6cb2cccc46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f1fa6630e64773" /><Relationship Type="http://schemas.openxmlformats.org/officeDocument/2006/relationships/notesMaster" Target="/ppt/notesMasters/notesMaster1.xml" Id="Rf8ab253b0e3e40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9dad642f1641f2" /><Relationship Type="http://schemas.openxmlformats.org/officeDocument/2006/relationships/notesMaster" Target="/ppt/notesMasters/notesMaster1.xml" Id="Ra6c43e3fc06c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c2b1d7ad9042f9" /><Relationship Type="http://schemas.openxmlformats.org/officeDocument/2006/relationships/notesMaster" Target="/ppt/notesMasters/notesMaster1.xml" Id="Rcd0453359ada48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3eac74934e40d8" /><Relationship Type="http://schemas.openxmlformats.org/officeDocument/2006/relationships/notesMaster" Target="/ppt/notesMasters/notesMaster1.xml" Id="R9da01efd42ae46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bab89fa2534715" /><Relationship Type="http://schemas.openxmlformats.org/officeDocument/2006/relationships/notesMaster" Target="/ppt/notesMasters/notesMaster1.xml" Id="Rc891894ebd374f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0c2818cab94404" /><Relationship Type="http://schemas.openxmlformats.org/officeDocument/2006/relationships/notesMaster" Target="/ppt/notesMasters/notesMaster1.xml" Id="Rf351d13fb9e645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c1dc1430047ee" /><Relationship Type="http://schemas.openxmlformats.org/officeDocument/2006/relationships/notesMaster" Target="/ppt/notesMasters/notesMaster1.xml" Id="Rdf4b0d5b0b1a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Khmer writing and consonant-series references: https://seasite.niu.edu/khmer/writingsystem/vowhtm/vowels.htm ; https://unstats.un.org/unsd/geoinfo/ungegn/docs/3rd-gegn-docs/3rd_gegn_inf12.pdf. The slide describes potential applications, not deployed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WER method: ICU Khmer word boundary analysis, https://unicode-org.github.io/icu/userguide/boundaryanalysis/. Python binding: pyicu-wheels 2.15.2. Both references and predictions use the same tokenizer.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D:/khmer_asr/results/matched_cer_wer_summary.json, computed from all 114 saved FLEURS reference/prediction pairs for each model. Whisper prior trainer metric was 86.93% CER from decoded training labels; this matched comparison rescored the saved checkpoint against shared raw references (86.76% CER).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e39257a1e4a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05518eec4ee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aa72f379404b58" /><Relationship Type="http://schemas.openxmlformats.org/officeDocument/2006/relationships/slideLayout" Target="/ppt/slideLayouts/slideLayout1.xml" Id="R8f9978488dd148c7" /><Relationship Type="http://schemas.openxmlformats.org/officeDocument/2006/relationships/slideLayout" Target="/ppt/slideLayouts/slideLayout2.xml" Id="Rb753633a3efd47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978488dd148c7"/>
    <p:sldLayoutId xmlns:r="http://schemas.openxmlformats.org/officeDocument/2006/relationships" id="2147483650" r:id="Rb753633a3efd477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feb6512674fd2" /><Relationship Type="http://schemas.openxmlformats.org/officeDocument/2006/relationships/notesSlide" Target="/ppt/notesSlides/notesSlide1.xml" Id="R77819b607d79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5d282427748e4" /><Relationship Type="http://schemas.openxmlformats.org/officeDocument/2006/relationships/notesSlide" Target="/ppt/notesSlides/notesSlide2.xml" Id="Rfea206341ff6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3932204e4291" /><Relationship Type="http://schemas.openxmlformats.org/officeDocument/2006/relationships/notesSlide" Target="/ppt/notesSlides/notesSlide3.xml" Id="R0b45867b865d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ce34cea9e4d15" /><Relationship Type="http://schemas.openxmlformats.org/officeDocument/2006/relationships/notesSlide" Target="/ppt/notesSlides/notesSlide4.xml" Id="R98f082414ad6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2f540df64962" /><Relationship Type="http://schemas.openxmlformats.org/officeDocument/2006/relationships/notesSlide" Target="/ppt/notesSlides/notesSlide5.xml" Id="R79afd18de23f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1b918182949fb" /><Relationship Type="http://schemas.openxmlformats.org/officeDocument/2006/relationships/notesSlide" Target="/ppt/notesSlides/notesSlide6.xml" Id="R6b1534029b544f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a7d9f248243f4" /><Relationship Type="http://schemas.openxmlformats.org/officeDocument/2006/relationships/notesSlide" Target="/ppt/notesSlides/notesSlide7.xml" Id="Rada1bd45f9c247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14cc3dd274985" /><Relationship Type="http://schemas.openxmlformats.org/officeDocument/2006/relationships/notesSlide" Target="/ppt/notesSlides/notesSlide8.xml" Id="R2490b57a60dc47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4b5afedc64452" /><Relationship Type="http://schemas.openxmlformats.org/officeDocument/2006/relationships/notesSlide" Target="/ppt/notesSlides/notesSlide9.xml" Id="R93482c78a8ee4a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5b07333064988" /><Relationship Type="http://schemas.openxmlformats.org/officeDocument/2006/relationships/notesSlide" Target="/ppt/notesSlides/notesSlide10.xml" Id="R4d4a908d254c4c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b6f5eaa943f0" /><Relationship Type="http://schemas.openxmlformats.org/officeDocument/2006/relationships/notesSlide" Target="/ppt/notesSlides/notesSlide11.xml" Id="Re65ef8f7098542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9e0210cf84e6b" /><Relationship Type="http://schemas.openxmlformats.org/officeDocument/2006/relationships/notesSlide" Target="/ppt/notesSlides/notesSlide12.xml" Id="R422c7c1f68d24a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0C0BF4-4BDB-4FCF-B232-85ED01E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F6D32E-DDF4-4280-8881-748CC011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88" y="-91440"/>
            <a:ext cx="12191695" cy="5394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C704D30-6100-44D0-ADDB-9D84A843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-1005840"/>
            <a:ext cx="3291840" cy="329184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B889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4C7E240-FF33-4AF0-861D-949B799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-411480"/>
            <a:ext cx="2103120" cy="210312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8879CF-36A1-494E-8122-79608CA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FINAL PROJECT — DEEP LEARNING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50172F-591A-4CC2-8B78-912F174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7775"/>
            <a:ext cx="96926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Khmer Automatic Speech Recognition</a:t>
            </a:r>
            <a:endParaRPr sz="3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A6B75BC-A30D-44E2-85C4-DC2187A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8515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892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9C5022-AABA-43F2-919F-E6FD208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79956"/>
            <a:ext cx="73378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Matched test comparison of Seq2Seq and CTC with CER and WER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371901-C8CA-469C-9302-A7075CD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15600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567644-88D8-4FDD-AF6C-5D3FBBF2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9496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Engineering  |  Bachelor of Software Engineering
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Lecturer: Mr. 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Soklong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HIM
Student: 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Khemrak Pasey 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464035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F85E47C-677A-43FA-914D-5413D71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6E948B-99EA-49FF-9C5D-81E0CE0E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9AEC5F-0AFA-404C-8075-B6F94BF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Problem Definition &amp; Practical Motivation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A9AEFA7-6B61-4E70-A147-5CEBC5C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8C3140-134B-4A44-8E06-3AF44EA6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11274552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3425F63-15E5-40FF-AE73-6CF1117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801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Formal formulation   </a:t>
            </a:r>
            <a:r>
              <a:rPr sz="1350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Given a 16 kHz raw audio waveform X = (x1, x2, ..., xT), the model optimizes the posterior P(Y | X) to output the correct Khmer Unicode orthographic sequence Y = (y1, y2, ..., yU).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B56658-6EE9-4DC7-B06C-764D324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linguistic challenge of Khmer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ECD6C3-D36A-4DEF-92F5-D5C1ECB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AE2F5C-82CD-42A2-A192-C298F8E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AD08F9-2D52-4D67-978A-5480718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1488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Scriptio continua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Written without consistent spaces between words; context helps identify word boundaries.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B35F88E-3FFB-4CB8-99E3-C20A59B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990289-8D45-4462-BDEA-81372FF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43A71C-214A-4A96-9C8B-8F554C4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Intricate 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Consonant series, 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dependent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 vowels, and stacked subscript consonants (Cheung).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D2DCE1-CD1D-47F8-AECA-1E378C3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17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548FD1-A0E8-40C2-A7BD-802C8909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17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7411F3D-671E-4A7B-9EDD-6928110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6864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Acoustic ambiguity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The same vowel sign can be pronounced differently with first- and second-series consonants.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28CBB7-7510-4957-9F50-6486D41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95728"/>
            <a:ext cx="5422392" cy="3794760"/>
          </a:xfrm>
          <a:prstGeom xmlns:a="http://schemas.openxmlformats.org/drawingml/2006/main" prst="roundRect">
            <a:avLst>
              <a:gd name="adj" fmla="val 168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D71A8E-8943-4843-B529-9A3350B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7860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impact in Cambodia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9839F07-C24E-461A-BC86-27E637B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63240"/>
            <a:ext cx="48920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Can improve speech-based access for Khmer speakers.</a:t>
            </a:r>
            <a:endParaRPr sz="13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Potential uses include dictation, transcription, and voice interfaces.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29FEED-8F0B-4D2F-BC43-A06B1C0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07EA7D7-8D99-4176-A38B-E28E327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35767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2596F7-0409-4F0B-9482-80DAA6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8435F8-CA91-472B-A853-48BCBFD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1FDA42-6E27-4DC3-B37C-A2B1258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Dataset Description &amp; Preprocessing Pipeline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28D68ED-5DA4-4578-8AEC-D9B444C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F296595-C1DA-42FB-995E-DB49A40D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F190DD-A845-4E32-B704-FEABA34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1,675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740CD2-0D52-49E4-880C-8CA1899B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train examples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57B19D-3692-41DF-844C-0DD2769D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0BCFD6-FF5E-41B0-8F79-944A6BB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326</a:t>
            </a:r>
            <a:endParaRPr sz="2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C0FAE6-CD54-48FA-A90E-9A01E8B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validation examples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F8C2A1-692A-44F2-A373-D9887FF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78F6E1-00F4-4859-8FE4-2888686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771</a:t>
            </a:r>
            <a:endParaRPr sz="2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62DDE9-7676-449A-9747-700EC8A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test examples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623429-E84C-4EB7-A44C-4184CA6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170432"/>
            <a:ext cx="386791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Google FLEURS Khmer (km_kh)
</a:t>
            </a:r>
            <a:r>
              <a:rPr sz="108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Hugging Face Datasets (google/fleurs), CC-BY 4.0. Audio processed at 16 kHz mono across multiple speakers.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65F3C89-E543-4C0D-AA28-EDD7578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2848"/>
            <a:ext cx="7315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Unified audio &amp; text preprocessing pipeline</a:t>
            </a:r>
            <a:endParaRPr sz="14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838DB51-AE2D-4BEB-90B2-614BBC2E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F07CC7-8CC1-4179-AFE9-E378A16A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Audio standardization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Resampled to 16,000 Hz, single-channel.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350C3C-6D10-478B-8E20-7194368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9528948-651B-464C-A293-8B36544A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Unicode normalization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NFC normalization applied to all transcripts.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726F971-042B-413F-B11C-75F39F3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25A6E8-D272-4852-886F-0A9EC023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Text sanitization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Strips zero-width / non-breaking spaces (U+200B, U+FEFF) and compacts whitespace.</a:t>
            </a:r>
            <a:endParaRPr sz="14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189B06A-135D-453A-9E84-E564A53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DE7C12D-51B8-4812-BF7A-C43DFD2D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Scoring convention
CER removes spaces; WER uses the same ICU Khmer word breaks for both models.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71E22C6-D2CC-4853-B252-DDB7B859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11274552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6CD4D3-316D-484A-B4B4-AD02DFFF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Whisper: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80-channel log-mel spectrograms, 25 ms Hann windows, 10 ms hop length.
</a:t>
            </a: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MMS: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normalized 1D temporal representations, extracted directly by a 7-layer convolutional feature encoder.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8C994BA-7DB1-414F-8628-0C50D9AB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8928"/>
            <a:ext cx="1127455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535206-7FA8-44A3-BD67-9BF7E10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10872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0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Matched experiment   Both models use 531 train, 124 validation, and 114 untouched test clips from one saved FLEURS row manifest.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8336D70-23FD-4164-A3A1-DB755273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29F5AFD-C8D6-4A85-A329-D2EAB31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722436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5F7CFF-9BAC-415A-BC9F-8FBA1AB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FDC249-4BD1-4E38-A16D-9B024A5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BF4595B-E4DC-44BE-9C44-145D48F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Two Trained Deep Learning Approaches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2C7A5F-BFE0-4494-B93F-4019D5D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45792A5-8EA5-481A-A1C2-148244D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9F1517-BD34-4CFD-A8C2-AADAC68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DA247A-B28B-4C8F-8AAB-8B8E2A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1 — PRIMARY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4A7A76-A393-44D1-B6BC-92A274B0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OpenAI Whisper-Tiny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(Seq2Seq Transformer)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E7967A-9FFE-4EA4-938A-4718CB3D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Full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37.8M (100% trainable)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801BBD6-2FAE-4FD2-B846-D267DB7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40ECE8-4FF9-4D60-B4FE-9FFDB736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cross-attention. Encoder maps 80-channel log-mel frames; decoder predicts subwords conditioned on preceding tokens. Implicit internal language model.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D3B71C5-9644-4D92-B431-95E5ABA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50AEEA-19FD-49A7-8E75-A829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69D62A-1A34-441A-88B3-B93C6D6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2 — COMPARISON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DF324B-8D83-42EB-B540-33A71666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Meta MMS-1B Khmer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(Acoustic CTC Model)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359C514-2F58-4DA8-97E9-4DDBECC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Top-4-layer partial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79.1M trainable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E3ADB3-6A11-45DB-AC33-FEE2CF9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32F5EA9-A25E-485D-9CBA-0364746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Wav2Vec 2.0 with CTC. The saved run unfroze the top four encoder layers plus the CTC head / adapter.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E6CB74-E664-4D57-BD9C-E441F57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12700">
            <a:solidFill>
              <a:srgbClr val="B7BCC7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9C0E157-B745-42D9-9899-DD34901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ln xmlns:a="http://schemas.openxmlformats.org/drawingml/2006/main" w="15875">
            <a:solidFill>
              <a:srgbClr val="B7BCC7"/>
            </a:solidFill>
            <a:prstDash val="dash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681C6F-8C90-4F96-B4FD-3DD0CA3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CBD0D9"/>
          </a:solidFill>
          <a:ln xmlns:a="http://schemas.openxmlformats.org/drawingml/2006/main" w="12700">
            <a:solidFill>
              <a:srgbClr val="CBD0D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E590129-F741-4D75-9693-36E44C4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4F5A"/>
                </a:solidFill>
                <a:latin typeface="Calibri"/>
                <a:ea typeface="Calibri"/>
                <a:cs typeface="Calibri"/>
              </a:rPr>
              <a:t>OPTIONAL ABLATION — NOT REPORTED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FA811B8-B005-443F-A332-C0013F5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Whisper-Tiny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(Frozen Encoder)</a:t>
            </a:r>
            <a:endParaRPr sz="17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D4226EB-1755-4B3B-8B60-D1D3E50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8A2E2E"/>
                </a:solidFill>
                <a:latin typeface="Calibri"/>
                <a:ea typeface="Calibri"/>
                <a:cs typeface="Calibri"/>
              </a:rPr>
              <a:t>Status:  </a:t>
            </a:r>
            <a:r>
              <a:rPr sz="115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No saved run — no checkpoint or metrics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6E94AF2-A335-4C83-AD6C-754CF429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0D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AA202B7-D48A-40F5-870A-F7CEABB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Excluded from this report: no trained checkpoint, predictions, or run logs were available for this configuration.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79D1DC-2AE2-461A-8508-5B224ED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FCAAC9-1D2D-42A6-81DB-06F1B176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6663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3CCEB7-65D3-452D-843A-11E9E9FB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5B924-3E6E-4F4C-A611-0F46EB3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9D6A75-BC59-44E9-8ED0-E547C60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Theoretical Justification: Why Compare Seq2Seq vs. CTC?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32BBD1-9789-4B79-A5E3-41621A4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1362C1-8440-4DEA-98EF-4484329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246120"/>
          </a:xfrm>
          <a:prstGeom xmlns:a="http://schemas.openxmlformats.org/drawingml/2006/main" prst="roundRect">
            <a:avLst>
              <a:gd name="adj" fmla="val 1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5AB27D-6479-4068-B08E-A4028F3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18C062-059C-4E37-9F82-4D52B3B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Seq2Seq Transformers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81C83A-38A2-4151-8F4F-176E91B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92808"/>
            <a:ext cx="4910328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decoders that learn semantic dependencies.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With limited fine-tuning data, outputs may repeat or contain unsupported text.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Predicts tokens autoregressively, using prior output tokens as context.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9FE1051-391C-4875-84E7-7ADA409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246120"/>
          </a:xfrm>
          <a:prstGeom xmlns:a="http://schemas.openxmlformats.org/drawingml/2006/main" prst="roundRect">
            <a:avLst>
              <a:gd name="adj" fmla="val 1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2D5D80-3EC4-468E-B516-D031003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B8892B"/>
          </a:solidFill>
          <a:ln xmlns:a="http://schemas.openxmlformats.org/drawingml/2006/main" w="12700">
            <a:solidFill>
              <a:srgbClr val="B8892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4E27A12-9A76-4B9E-90C3-0B04306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CTC Models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412F9C-030E-4D66-82D0-65256AFD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910328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Use monotonic frame-to-token alignment without autoregressive decoding.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Greedy CTC decoding avoids a token-by-token text decoder.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Output tokens are decoded from acoustic frames using CTC.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B2D737-ADC4-4749-B3E0-80FEF8AD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5152"/>
            <a:ext cx="1127455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142743-34AA-43B6-AFC5-E9A13CA4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18304"/>
            <a:ext cx="108813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models illustrate:  Seq2Seq uses prior output tokens; CTC decodes aligned acoustic frames without that text loop.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5D334E-41AE-4A4D-BEC5-2EFCE22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9280"/>
            <a:ext cx="112745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D35620-592E-487D-B004-D2938D4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42432"/>
            <a:ext cx="108722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Comparison limit   Training rows match, but pretraining, model size, and decoding also differ. The score gap does not isolate architecture.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9FC305-E4EA-450E-A6A2-4C74C95D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BB8DCF-3F06-40AF-ADC1-2290F82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8259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3B70EB-2BF6-4A28-9BC5-7A40EFE4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CE941B-6230-4231-98C6-B9401D2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45FFC6-06C1-461D-9FD8-8EA4BC2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Training Setup &amp; Tuning Evidence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775A22-8E81-4783-A3D1-937F12D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E7BBC6-BACD-4A45-B0A9-37F3921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Training infrastructure &amp; hardware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12B8294-A58B-4860-BC59-072CFCD8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5422392" cy="233172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2046309-8960-4E75-B46E-10EE472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0292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Matched runs: Google Colab T4 GPU.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Framework: PyTorch, Transformers, Hugging Face Datasets, and Accelerate.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Both models used FP16 and seed 42.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Shared split: 531 train, 124 validation, 114 test clips.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7B7F55-5861-4B6F-83F4-9AE682B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0700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Saved run settings (not a complete sweep)</a:t>
            </a:r>
            <a:endParaRPr sz="14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6309360" y="1572768"/>
          <a:ext xmlns:a="http://schemas.openxmlformats.org/drawingml/2006/main" cx="5422392" cy="1783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1618488"/>
                <a:gridCol w="1609344"/>
              </a:tblGrid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Whisper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Warmup steps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Batch size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Grad. accumulation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E8DA51F-7971-49C8-9059-091567D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56432"/>
            <a:ext cx="5422392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D0C1C5F-4B9F-4FA0-90D0-97260B1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56432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MMS unfroze the top four encoder layers and CTC head/adapter; SpecAugment was enabled.</a:t>
            </a:r>
            <a:endParaRPr sz="103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3581D0-DD6D-4B86-804A-639380E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455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9072DA-0AED-4D00-9ECD-E7CC409D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87952"/>
            <a:ext cx="10872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Tuning evidence   MMS validation pilots compared learning rate and weight decay. The best validation checkpoint was step 300.</a:t>
            </a:r>
            <a:endParaRPr sz="11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2BCBD0-CE13-4637-A2B1-F0F4AA5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757C444-6385-413B-915F-9ACC415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63483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0ACE1D-0838-4A01-8711-E5150EB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640EB7-8775-4372-B1B8-C41A164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D85AD4-4347-4291-A706-C0B3CFB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Evaluation Metrics: CER vs. WER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53D3C1-0E32-4054-B528-1D59CAB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5659D8B-BAB5-4386-AD58-35BEE0F0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74552" cy="2057400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637CA3-C52C-4D35-A9F6-3271193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Character Error Rate (CER)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DD3CBF-E82B-4065-BDCC-52AF30E8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10698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CER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=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(S + D + I)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⁄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N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 × 100%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669F5-D905-43D8-A6E4-D346FC5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7860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substitutions,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deletions,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insertions,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total reference Unicode characters.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C91983-C8D6-48CC-83A1-B28DDBA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6265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Computed after NFC normalization and whitespace removal.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C02F28-B89C-43AF-A3C5-6836755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Word Error Rate (WER) for Khmer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9D45A8-7E0E-4103-8EA3-99F8F10A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5072"/>
            <a:ext cx="11274552" cy="196596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05A6E3-48E9-4F2B-A87C-29CD19D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60520"/>
            <a:ext cx="107899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Khmer spaces mark phrases, so raw whitespace WER is misleading.</a:t>
            </a:r>
            <a:endParaRPr sz="135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We segment references and predictions with the same ICU km_KH word-break method.</a:t>
            </a:r>
            <a:endParaRPr sz="135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WER = (S + D + I) / reference words × 100%. Lower is better.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D4DA1B-0230-494B-9802-3380A6F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309837-501E-4E38-A93C-E149322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09261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6ADAB-937C-4DD5-9AD8-F8208BDA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D00096-F8CE-4AC6-ACDE-62EB739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6EB772-1137-4A60-9E80-9A8D619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Matched Test Results: CER and WER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7A7E0D9-3574-4559-A19C-8D609F8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80843B-B978-40FD-BED9-8CF241C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A6FD54-678A-4E25-9CB2-8AEAC75D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86.76%</a:t>
            </a:r>
            <a:endParaRPr sz="2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67A763-7B92-4764-A6DA-F0CA365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Whisper-Tiny  (CER, n = 114)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4C933F-A561-42AC-8154-1626CDC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AD85A4-D623-4337-9330-B3ABD9E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15.84%</a:t>
            </a:r>
            <a:endParaRPr sz="2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CF1C078-DE94-4DCD-BE6C-368215A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MMS-1B CTC  (CER, n = 114)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82CA2A6-992C-4231-865F-D02CAC0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6F3EE"/>
          </a:solidFill>
          <a:ln xmlns:a="http://schemas.openxmlformats.org/drawingml/2006/main" w="12700">
            <a:solidFill>
              <a:srgbClr val="1E7A5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AAFE56-126F-4693-BAA8-2DC77EB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67.16%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414D1E-13E9-461C-A611-955917E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MMS-1B CTC  (WER, n = 114)</a:t>
            </a:r>
            <a:endParaRPr sz="1200"/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457200" y="2331720"/>
          <a:ext xmlns:a="http://schemas.openxmlformats.org/drawingml/2006/main" cx="11274552" cy="1325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36192"/>
                <a:gridCol w="1874520"/>
                <a:gridCol w="1874520"/>
                <a:gridCol w="1417320"/>
                <a:gridCol w="1417320"/>
                <a:gridCol w="777240"/>
                <a:gridCol w="1051560"/>
                <a:gridCol w="132588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Architecture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 / val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Selection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Seq2Seq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 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531 / 124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86.76%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106.27%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Final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MMS-1B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CTC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Top 4 + head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531 / 124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15.84%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67.16%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Best val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Scoring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Same refs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NFC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ICU km_KH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No spaces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Word breaks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Lower better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4F9526-D8C2-4C24-BBC0-ADB28325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2192"/>
            <a:ext cx="11274552" cy="804672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55F9770-0E98-44DD-BACB-23DDA58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8620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Both models were scored on the same 114 held-out FLEURS clips. MMS has lower character and word error rates.</a:t>
            </a:r>
            <a:endParaRPr sz="13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7189-7A27-4E95-AF18-D0F9293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3168"/>
            <a:ext cx="1127455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496531D-017B-4CF3-99C5-394A9D6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46320"/>
            <a:ext cx="108722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Interpretation   The 80% target depends on the metric. If it means WER below 20%, MMS does not meet it.</a:t>
            </a:r>
            <a:endParaRPr sz="13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30E7E9-E50D-4234-A8B3-48BF498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0448"/>
            <a:ext cx="11274552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3B2240B-123C-4410-98CC-E8C7391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870448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CER removes whitespace. WER uses ICU km_KH word breaks. Both scores are corpus edit rates.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4158122-C127-4A64-928F-9DE8D77D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34A559-6DC9-4885-A632-2016373D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9977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A57F36-D17B-4C19-853C-76E823B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7C1B6D-CB55-418F-A35D-CF736CC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E31F0C-CE40-40EE-8549-A07A738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Earlier Whisper Failure Examples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8F463C-5983-47C0-BA07-77D7BE8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906BA5-47CB-4E51-AFFD-9524E53F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Whisper character errors across 200 test examples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1B9687-7E55-4D2D-98B6-00120FC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95833B-F30D-4AB7-BA2F-CE9A525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13,424</a:t>
            </a:r>
            <a:endParaRPr sz="2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B27DE48-C06D-48BA-B405-5210BB2A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Substitutions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CF4199C-193A-4AB6-B9BB-815C19E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0F34A1-0EB1-44E7-B8B7-03D1C39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8,741</a:t>
            </a:r>
            <a:endParaRPr sz="2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593A59-79BB-46DF-928D-D8347D9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Deletions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CEFF82-55EA-4C5B-B901-CAF1B9D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0F30800-A877-4220-AF58-43C8F5E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286</a:t>
            </a:r>
            <a:endParaRPr sz="2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19B944-883F-4A75-B851-E32F2171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Insertions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8807FC-2152-4371-853B-8584D4E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1488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Observed pattern in high-error outputs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4E067A-A468-4C99-BDF6-0619E01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11274552" cy="6858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61DD70F-D1E4-4FE0-991D-598519A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0896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Several examples contain repeated Khmer token strings, suggesting decoding collapse in the observed transcripts.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9E4B1E-3F27-4AD0-A4CC-BC999BD3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0208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Example — FLEURS test row 66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2D4CCF-3577-40AE-9B4D-A148289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9392"/>
            <a:ext cx="11274552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FB991AA-A600-4210-B738-024370C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07408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Reference: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contains “802.11n … 5.0ghz”
</a:t>
            </a: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Output: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repeats “</a:t>
            </a:r>
            <a:r>
              <a:rPr sz="1250">
                <a:solidFill>
                  <a:srgbClr val="FFFFFF"/>
                </a:solidFill>
                <a:latin typeface="Khmer OS Battambang"/>
                <a:ea typeface="Khmer OS Battambang"/>
                <a:cs typeface="Khmer OS Battambang"/>
              </a:rPr>
              <a:t>បាន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” until decoding stops.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0A7BA4-5A1D-4D92-B7A0-51594588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74552" cy="896112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F1F07D7-33CC-43CF-AF0D-28EFEC3C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59552"/>
            <a:ext cx="1087221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Historical example   Text alone cannot establish an acoustic cause. Final matched predictions for both models are saved.</a:t>
            </a:r>
            <a:endParaRPr sz="11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BD156D-81B3-43C7-8306-C55D7A9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D44D9F-A678-4097-AB94-6A6E178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426811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4D3E99-D6B3-4FC1-A21F-08FB1405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A27AAB-B50E-4CBC-B8C2-1942A9B3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EB74E3-9EDD-410F-A975-77DCE73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Limitations &amp; Prioritized Future Work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E9D412-786A-49C5-B527-44989AA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CD6C92-8B5C-4E77-B044-1300738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2700">
            <a:solidFill>
              <a:srgbClr val="C97A7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2593E3-CC11-4910-9846-9A5D597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8A2E2E"/>
                </a:solidFill>
                <a:latin typeface="Cambria"/>
                <a:ea typeface="Cambria"/>
                <a:cs typeface="Cambria"/>
              </a:rPr>
              <a:t>Limitations of the saved study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7B40A9-11E0-4A7E-8CDF-1DB3E7E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The 114-clip test set is small and drawn only from FLEURS.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Phone recordings lack verified reference transcripts.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Khmer WER depends on a declared word-segmentation method.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6524128-658F-4F68-B026-7EE7F0B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7FB59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CC1635-560C-485C-928C-A255E1D3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Next steps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A0BD24-6756-483B-A8CA-62E358AE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Listen to high-error test clips and classify causes.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Obtain consented Khmer audio with exact transcripts.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Try decoding changes on validation data only.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Evaluate the frozen model once on independent test data.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CD6B9F-DE72-456C-9505-0D1433E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521F9D-F230-408C-9D59-A79011C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1622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27073-7F59-4ADD-A861-E3363DD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7DEA97-F704-4536-A0AA-D7A7521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2A327A-C286-490F-9395-1820BD4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Live Demonstration &amp; Q&amp;A Preparation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F35C99-752A-4173-8D26-FB368F4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40C375-A9B9-4687-BBFB-7DD9B28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B720B2-91D2-4596-A605-D8D09CC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Demo — Gradio web app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AB81A9-365C-499C-BF01-BE55CE0F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Accepts microphone input or an uploaded audio file.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Install the matched MMS checkpoint locally before presenting.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The live demo result is separate from the 114-clip test score.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A04AC39-AC9A-463F-B9B5-997E0E15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67275-62A0-455A-965F-5BC9929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Q&amp;A topics to be ready for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2CB2A2-B3F8-437F-A177-1C7CA9E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Explain CER, Khmer-segmented WER, and Whisper repetition errors.</a:t>
            </a:r>
            <a:endParaRPr sz="1350"/>
          </a:p>
          <a:p xmlns:a="http://schemas.openxmlformats.org/drawingml/2006/main"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State the limits of FLEURS and the small held-out test set.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A6950C1-0574-4421-A702-52F322E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6D31C2-BD6E-4379-9D41-6D44036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2445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5EE3F-D95D-403A-ACC1-FC44753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Q&amp;A BACKUP SLIDE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E9B051-DB1B-480B-A6B1-B16FCEB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87552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Appendix: Hyperparameters and References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1EE524-5A1B-4364-A84C-289DEC3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0515600" cy="242316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6E1F29-F42E-42C0-A7E6-42133D2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116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Saved run parameters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8D28D27-DBEC-4BD0-95E3-85E7C424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77440"/>
            <a:ext cx="9784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Matched split: 531 train / 124 validation / 114 test clips.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Whisper: 3 epochs; lr 1e-5; warmup 35; batch 1; accumulation 8.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MMS: 15 epochs; lr 3e-5; warmup 50; batch 1; accumulation 8.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MMS: top four layers plus CTC head/adapter trained.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CER and ICU-segmented WER use the same saved test predictions.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9CAECFD-15C3-4653-8BB3-1902CEA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7452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F7FABA7-D995-4A6D-8A61-7383FD8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References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7A3655-2651-494F-896D-290691F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56048"/>
            <a:ext cx="9784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Radford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Robust Speech Recognition via Large-Scale Weak Supervision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Pratap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Scaling Speech Technology to 1,000+ Languages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Conneau et al. (2023)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Graves et al. (2006)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00E72B-85EB-4AAC-801E-10B5263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AA3E24-B65F-4E40-A02F-91E2BFC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12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059805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2026-09-25T03:00:51.8850000Z</dcterms:created>
  <dcterms:modified xsi:type="dcterms:W3CDTF">2026-09-25T03:00:51.8850000Z</dcterms:modified>
</coreProperties>
</file>