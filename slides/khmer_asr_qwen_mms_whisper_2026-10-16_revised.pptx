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12963943f34f0f" /><Relationship Type="http://schemas.openxmlformats.org/officeDocument/2006/relationships/extended-properties" Target="/docProps/app.xml" Id="R628718c9d30a4915" /><Relationship Type="http://schemas.openxmlformats.org/officeDocument/2006/relationships/officeDocument" Target="/ppt/presentation.xml" Id="R62ee1d0565314ed3" /></Relationships>
</file>

<file path=ppt/presentation.xml><?xml version="1.0" encoding="utf-8"?>
<p:presentation xmlns:p="http://schemas.openxmlformats.org/presentationml/2006/main">
  <p:sldMasterIdLst>
    <p:sldMasterId xmlns:r="http://schemas.openxmlformats.org/officeDocument/2006/relationships" id="2147483648" r:id="R57a063e6fe024235"/>
  </p:sldMasterIdLst>
  <p:notesMasterIdLst>
    <p:notesMasterId xmlns:r="http://schemas.openxmlformats.org/officeDocument/2006/relationships" r:id="R91b930c89c624691"/>
  </p:notesMasterIdLst>
  <p:sldIdLst>
    <p:sldId xmlns:r="http://schemas.openxmlformats.org/officeDocument/2006/relationships" id="256" r:id="R273d7f9407fd4dbd"/>
    <p:sldId xmlns:r="http://schemas.openxmlformats.org/officeDocument/2006/relationships" id="257" r:id="Ra2e73665640247eb"/>
    <p:sldId xmlns:r="http://schemas.openxmlformats.org/officeDocument/2006/relationships" id="258" r:id="R5820bfdd67a74374"/>
    <p:sldId xmlns:r="http://schemas.openxmlformats.org/officeDocument/2006/relationships" id="259" r:id="R8efb1b10d14f4bff"/>
    <p:sldId xmlns:r="http://schemas.openxmlformats.org/officeDocument/2006/relationships" id="260" r:id="Reebb42b752254667"/>
    <p:sldId xmlns:r="http://schemas.openxmlformats.org/officeDocument/2006/relationships" id="261" r:id="Rab867b197ece4025"/>
    <p:sldId xmlns:r="http://schemas.openxmlformats.org/officeDocument/2006/relationships" id="262" r:id="R869ece532cae4f1e"/>
    <p:sldId xmlns:r="http://schemas.openxmlformats.org/officeDocument/2006/relationships" id="263" r:id="Rada51eb16a694bb3"/>
    <p:sldId xmlns:r="http://schemas.openxmlformats.org/officeDocument/2006/relationships" id="264" r:id="Rfca16c8ef9d24cc0"/>
    <p:sldId xmlns:r="http://schemas.openxmlformats.org/officeDocument/2006/relationships" id="265" r:id="R66c7a00a72a04972"/>
    <p:sldId xmlns:r="http://schemas.openxmlformats.org/officeDocument/2006/relationships" id="266" r:id="Rbdbd0690eb3c4e62"/>
    <p:sldId xmlns:r="http://schemas.openxmlformats.org/officeDocument/2006/relationships" id="267" r:id="R95a5724a9f174c74"/>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8df17a31676452d" /><Relationship Type="http://schemas.openxmlformats.org/officeDocument/2006/relationships/slideMaster" Target="/ppt/slideMasters/slideMaster1.xml" Id="R57a063e6fe024235" /><Relationship Type="http://schemas.openxmlformats.org/officeDocument/2006/relationships/notesMaster" Target="/ppt/notesMasters/notesMaster1.xml" Id="R91b930c89c624691" /><Relationship Type="http://schemas.openxmlformats.org/officeDocument/2006/relationships/presProps" Target="/ppt/presProps.xml" Id="R3e3e416674274f6e" /><Relationship Type="http://schemas.openxmlformats.org/officeDocument/2006/relationships/viewProps" Target="/ppt/viewProps.xml" Id="Rd060edd423c44e50" /><Relationship Type="http://schemas.openxmlformats.org/officeDocument/2006/relationships/tableStyles" Target="/ppt/tableStyles.xml" Id="Rce7985a76ba141e4" /><Relationship Type="http://schemas.openxmlformats.org/officeDocument/2006/relationships/slide" Target="/ppt/slides/slide1.xml" Id="R273d7f9407fd4dbd" /><Relationship Type="http://schemas.openxmlformats.org/officeDocument/2006/relationships/slide" Target="/ppt/slides/slide2.xml" Id="Ra2e73665640247eb" /><Relationship Type="http://schemas.openxmlformats.org/officeDocument/2006/relationships/slide" Target="/ppt/slides/slide3.xml" Id="R5820bfdd67a74374" /><Relationship Type="http://schemas.openxmlformats.org/officeDocument/2006/relationships/slide" Target="/ppt/slides/slide4.xml" Id="R8efb1b10d14f4bff" /><Relationship Type="http://schemas.openxmlformats.org/officeDocument/2006/relationships/slide" Target="/ppt/slides/slide5.xml" Id="Reebb42b752254667" /><Relationship Type="http://schemas.openxmlformats.org/officeDocument/2006/relationships/slide" Target="/ppt/slides/slide6.xml" Id="Rab867b197ece4025" /><Relationship Type="http://schemas.openxmlformats.org/officeDocument/2006/relationships/slide" Target="/ppt/slides/slide7.xml" Id="R869ece532cae4f1e" /><Relationship Type="http://schemas.openxmlformats.org/officeDocument/2006/relationships/slide" Target="/ppt/slides/slide8.xml" Id="Rada51eb16a694bb3" /><Relationship Type="http://schemas.openxmlformats.org/officeDocument/2006/relationships/slide" Target="/ppt/slides/slide9.xml" Id="Rfca16c8ef9d24cc0" /><Relationship Type="http://schemas.openxmlformats.org/officeDocument/2006/relationships/slide" Target="/ppt/slides/slide10.xml" Id="R66c7a00a72a04972" /><Relationship Type="http://schemas.openxmlformats.org/officeDocument/2006/relationships/slide" Target="/ppt/slides/slide11.xml" Id="Rbdbd0690eb3c4e62" /><Relationship Type="http://schemas.openxmlformats.org/officeDocument/2006/relationships/slide" Target="/ppt/slides/slide12.xml" Id="R95a5724a9f174c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818e8e110e40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KhmerASR">
  <a:themeElements>
    <a:clrScheme name="KhmerASR">
      <a:dk1>
        <a:srgbClr val="1B2A41"/>
      </a:dk1>
      <a:lt1>
        <a:srgbClr val="FFFFFF"/>
      </a:lt1>
      <a:dk2>
        <a:srgbClr val="0F4C5C"/>
      </a:dk2>
      <a:lt2>
        <a:srgbClr val="EEF3F5"/>
      </a:lt2>
      <a:accent1>
        <a:srgbClr val="1B4965"/>
      </a:accent1>
      <a:accent2>
        <a:srgbClr val="F2A33A"/>
      </a:accent2>
      <a:accent3>
        <a:srgbClr val="2A9D8F"/>
      </a:accent3>
      <a:accent4>
        <a:srgbClr val="D1603D"/>
      </a:accent4>
      <a:accent5>
        <a:srgbClr val="5C6B7A"/>
      </a:accent5>
      <a:accent6>
        <a:srgbClr val="8AB17D"/>
      </a:accent6>
      <a:hlink>
        <a:srgbClr val="1B4965"/>
      </a:hlink>
      <a:folHlink>
        <a:srgbClr val="5C6B7A"/>
      </a:folHlink>
    </a:clrScheme>
    <a:fontScheme name="KhmerAS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hmerAS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25b1c594ba4a71" /><Relationship Type="http://schemas.openxmlformats.org/officeDocument/2006/relationships/notesMaster" Target="/ppt/notesMasters/notesMaster1.xml" Id="Rb8acb2bd632945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34b7f09d2044c4" /><Relationship Type="http://schemas.openxmlformats.org/officeDocument/2006/relationships/notesMaster" Target="/ppt/notesMasters/notesMaster1.xml" Id="Rc30ee40523954e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ff5fd013d4452f" /><Relationship Type="http://schemas.openxmlformats.org/officeDocument/2006/relationships/notesMaster" Target="/ppt/notesMasters/notesMaster1.xml" Id="R7f99f9f8d4594d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10161fbe9345f4" /><Relationship Type="http://schemas.openxmlformats.org/officeDocument/2006/relationships/notesMaster" Target="/ppt/notesMasters/notesMaster1.xml" Id="Rfa34763c80e944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ec93a7419c4cf4" /><Relationship Type="http://schemas.openxmlformats.org/officeDocument/2006/relationships/notesMaster" Target="/ppt/notesMasters/notesMaster1.xml" Id="R68e7d7385b5148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3688896fc94c40" /><Relationship Type="http://schemas.openxmlformats.org/officeDocument/2006/relationships/notesMaster" Target="/ppt/notesMasters/notesMaster1.xml" Id="Rc26c9291613542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35af000e244aec" /><Relationship Type="http://schemas.openxmlformats.org/officeDocument/2006/relationships/notesMaster" Target="/ppt/notesMasters/notesMaster1.xml" Id="R06edbebf2c8947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db78dccc6d454a" /><Relationship Type="http://schemas.openxmlformats.org/officeDocument/2006/relationships/notesMaster" Target="/ppt/notesMasters/notesMaster1.xml" Id="R3cea2e229b3f42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fdc9d576a64afa" /><Relationship Type="http://schemas.openxmlformats.org/officeDocument/2006/relationships/notesMaster" Target="/ppt/notesMasters/notesMaster1.xml" Id="Rd405a02125d949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8af200222e4dd9" /><Relationship Type="http://schemas.openxmlformats.org/officeDocument/2006/relationships/notesMaster" Target="/ppt/notesMasters/notesMaster1.xml" Id="Rba9346f82fde4e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8deba247254739" /><Relationship Type="http://schemas.openxmlformats.org/officeDocument/2006/relationships/notesMaster" Target="/ppt/notesMasters/notesMaster1.xml" Id="R21dbd7ca68744f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d1f28c817f4f63" /><Relationship Type="http://schemas.openxmlformats.org/officeDocument/2006/relationships/notesMaster" Target="/ppt/notesMasters/notesMaster1.xml" Id="Rf0a0996201324a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Mr. Soklong HIM and classmates. I am Khemrak Pasey. My project is Khmer speech recognition, and I compare three models on the same held-out test clips. I will show the data, how I measured errors, the three approaches, the results, and what I can and cannot conclude. One caution up front: the three models did not get the same amount of training data, and I will come back to that.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is Khmer speech and the output is a Unicode transcript. The same 114 held-out FLEURS clips were scored for all three selected checkpoints. Khmer spaces often mark phrases rather than individual words. ICU Khmer word breaks provide a consistent word segmentation for both references and predictions.</a:t>
            </a:r>
            <a:endParaRPr/>
          </a:p>
          <a:p xmlns:a="http://schemas.openxmlformats.org/drawingml/2006/main">
            <a:r>
              <a:t/>
            </a:r>
            <a:endParaRPr/>
          </a:p>
          <a:p xmlns:a="http://schemas.openxmlformats.org/drawingml/2006/main">
            <a:r>
              <a:t>Sources: D:\khmer_asr\README.md, Problem and Final controlled comparison; D:\khmer_asr\results\matched_cer_wer_three_approaches.json.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FLEURS Khmer. Whisper and MMS were trained on 531 training clips. Qwen was trained on a much larger corpus, 16,720 effective clips. Two separate evaluation sets matter here. The test set is 114 clips, and all three models are scored on exactly those clips. The validation set is a different set of 124 clips, and I report it only for Qwen's selected epoch. I keep these apart throughout: validation is not test.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 and WER both sum substitutions, deletions, and insertions over the entire corpus and divide by the corresponding reference length. CER applies NFC normalization and removes zero-width marks and whitespace. WER uses ICU 77.1 Khmer word breaks on both reference and prediction, excluding punctuation-only segments. Insertion errors can make WER exceed 100 percent. These rates are not the share of fully correct sentences.</a:t>
            </a:r>
            <a:endParaRPr/>
          </a:p>
          <a:p xmlns:a="http://schemas.openxmlformats.org/drawingml/2006/main">
            <a:r>
              <a:t/>
            </a:r>
            <a:endParaRPr/>
          </a:p>
          <a:p xmlns:a="http://schemas.openxmlformats.org/drawingml/2006/main">
            <a:r>
              <a:t>Sources: D:\khmer_asr\results\matched_cer_wer_three_approaches.json, metric policies and edit counts.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Approach 1 fully fine-tuned Whisper-Tiny for three epochs. Approach 2 tuned the top four Transformer layers and CTC output of Meta MMS-1B while leaving the rest frozen. Validation CER selected checkpoint 300 for the final MMS test. Approach 3 trained a LoRA adapter for Qwen3-ASR 0.6B using 16,720 effective training clips, with epoch 1 selected by validation WER. The approaches do not have equal training data.</a:t>
            </a:r>
            <a:endParaRPr/>
          </a:p>
          <a:p xmlns:a="http://schemas.openxmlformats.org/drawingml/2006/main">
            <a:r>
              <a:t/>
            </a:r>
            <a:endParaRPr/>
          </a:p>
          <a:p xmlns:a="http://schemas.openxmlformats.org/drawingml/2006/main">
            <a:r>
              <a:t>Sources: D:\khmer_asr\README.md, Approaches and matched-run evidence; D:\khmer_asr\models\qwen_km_corpus_bigtrain_20261014_epoch1\best_validation.json.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Whisper and MMS each trained on 531 FLEURS clips. Qwen trained on 16,720 effective clips, about 31.5 times as many. Qwen epoch 1 had the lowest validation WER in its run: 27.99 percent, with 12.42 percent CER on 124 validation clips. It missed the planned validation WER target of below 25 percent by 2.99 percentage points. We selected the checkpoint before running the fixed held-out test. The difference in training data prevents a causal architecture comparison.</a:t>
            </a:r>
            <a:endParaRPr/>
          </a:p>
          <a:p xmlns:a="http://schemas.openxmlformats.org/drawingml/2006/main">
            <a:r>
              <a:t/>
            </a:r>
            <a:endParaRPr/>
          </a:p>
          <a:p xmlns:a="http://schemas.openxmlformats.org/drawingml/2006/main">
            <a:r>
              <a:t>Sources: D:\khmer_asr\README.md, Qwen large-corpus run; D:\khmer_asr\models\qwen_km_corpus_bigtrain_20261014_epoch1\best_validation.json.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test results, on the same 114 FLEURS Khmer clips for all three models. Whisper-Tiny: 86.76 percent CER and 106.27 percent WER. MMS-1B: 15.84 percent CER and 67.16 percent WER. Qwen3-ASR: 13.71 percent CER and 33.40 percent WER. Qwen is lowest on both metrics, MMS is second, and Whisper-Tiny is far behind. The CER gap between Qwen and MMS is small, about two points, while the WER gap is large. Remember the training data difference when you read this chart.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Qwen epoch scored 12.42 percent CER and 27.99 percent WER on 124 validation clips. One later evaluation on 114 held-out test clips scored 13.71 percent CER and 33.40 percent ICU Khmer WER. The arithmetic differences are 1.29 and 5.41 percentage points. Because the clips differ, those gaps do not by themselves establish overfitting. All three model comparisons use the shared test set only.</a:t>
            </a:r>
            <a:endParaRPr/>
          </a:p>
          <a:p xmlns:a="http://schemas.openxmlformats.org/drawingml/2006/main">
            <a:r>
              <a:t/>
            </a:r>
            <a:endParaRPr/>
          </a:p>
          <a:p xmlns:a="http://schemas.openxmlformats.org/drawingml/2006/main">
            <a:r>
              <a:t>Sources: D:\khmer_asr\models\qwen_km_corpus_bigtrain_20261014_epoch1\best_validation.json; D:\khmer_asr\results\diagnostic\qwen_bigtrain_heldout_epoch1_20261015.json.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model was scored against the same 2,488 ICU-segmented reference words. Whisper had 2,644 word edits, MMS had 1,671, and Qwen had 831. Dividing each edit count by 2,488 produces the displayed WER. Qwen therefore made 840 fewer word edits than MMS on this set. The counts do not identify acoustic causes, and Qwen also had much more training data.</a:t>
            </a:r>
            <a:endParaRPr/>
          </a:p>
          <a:p xmlns:a="http://schemas.openxmlformats.org/drawingml/2006/main">
            <a:r>
              <a:t/>
            </a:r>
            <a:endParaRPr/>
          </a:p>
          <a:p xmlns:a="http://schemas.openxmlformats.org/drawingml/2006/main">
            <a:r>
              <a:t>Sources: D:\khmer_asr\results\matched_cer_wer_three_approaches.json, Whisper and MMS edit components; D:\khmer_asr\results\diagnostic\qwen_bigtrain_heldout_epoch1_20261015.json, Qwen total errors.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shares test audio and metric policy but differs greatly in training data and recipe. The 114 FLEURS clips are a limited sample of Khmer speech. WER depends on a fixed segmentation policy, so changing segmentation changes the number. Whisper-Tiny performed poorly in this run, but no listening review establishes why. Saved reference and prediction pairs permit later review. The Qwen validation WER was 27.99 percent, above the below-25-percent target. The external corpus was checked for exact transcript overlap, but near duplicates remain possible.</a:t>
            </a:r>
            <a:endParaRPr/>
          </a:p>
          <a:p xmlns:a="http://schemas.openxmlformats.org/drawingml/2006/main">
            <a:r>
              <a:t/>
            </a:r>
            <a:endParaRPr/>
          </a:p>
          <a:p xmlns:a="http://schemas.openxmlformats.org/drawingml/2006/main">
            <a:r>
              <a:t>Sources: D:\khmer_asr\README.md, Data, current Qwen experiment, and limitations; D:\khmer_asr\results\matched_cer_wer_three_approaches.json.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gave the lowest measured test error among the selected checkpoints: 13.71 percent CER and 33.40 percent WER on 114 held-out FLEURS clips. MMS scored 15.84 and 67.16; Whisper scored 86.76 and 106.27. Qwen used much more training data, so I cannot attribute the difference to architecture. The validation word-error goal remains unmet. Next, inspect difficult reference and prediction pairs and listen to the corresponding audio, then run a matched-data experiment if the aim is to compare model architectures.</a:t>
            </a:r>
            <a:endParaRPr/>
          </a:p>
          <a:p xmlns:a="http://schemas.openxmlformats.org/drawingml/2006/main">
            <a:r>
              <a:t/>
            </a:r>
            <a:endParaRPr/>
          </a:p>
          <a:p xmlns:a="http://schemas.openxmlformats.org/drawingml/2006/main">
            <a:r>
              <a:t>Sources: D:\khmer_asr\results\matched_cer_wer_three_approaches.json; D:\khmer_asr\results\diagnostic\qwen_bigtrain_heldout_epoch1_20261015.json; D:\khmer_asr\README.md.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score evidence is saved with this project. The matched Whisper and MMS scores and exact edit counts are in results/matched_cer_wer_three_approaches.json. The selected Qwen validation result is in models/qwen_km_corpus_bigtrain_20261014_epoch1/best_validation.json. The one-time held-out Qwen predictions and metrics are in results/diagnostic/qwen_bigtrain_heldout_epoch1_20261015.json. The model base is seanghay/Qwen3-ASR-0.6B-Khmer, pinned at revision 351f1cc594f084e4899ef6cf7bbb17ec64484080. The FLEURS, Whisper, MMS, CTC, LoRA, and ICU references on the slide provide method context.</a:t>
            </a:r>
            <a:endParaRPr/>
          </a:p>
          <a:p xmlns:a="http://schemas.openxmlformats.org/drawingml/2006/main">
            <a:r>
              <a:t/>
            </a:r>
            <a:endParaRPr/>
          </a:p>
          <a:p xmlns:a="http://schemas.openxmlformats.org/drawingml/2006/main">
            <a:r>
              <a:t>Sources: D:\khmer_asr\README.md, References; D:\khmer_asr\results\matched_cer_wer_three_approaches.json; D:\khmer_asr\models\qwen_km_corpus_bigtrain_20261014_epoch1\best_validation.json; D:\khmer_asr\results\diagnostic\qwen_bigtrain_heldout_epoch1_20261015.json.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bec9b50cd44c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95d009d87646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18565cfd7342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8c47d3a282413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_DARK">
    <p:bg>
      <p:bgPr>
        <a:solidFill xmlns:a="http://schemas.openxmlformats.org/drawingml/2006/main">
          <a:srgbClr val="1B2A4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0207BF-67E7-4737-AD12-6E22ECD542EC}"/>
              </a:ext>
            </a:extLst>
          </p:cNvPr>
          <p:cNvSpPr>
            <a:spLocks xmlns:a="http://schemas.openxmlformats.org/drawingml/2006/main" noGrp="1"/>
          </p:cNvSpPr>
          <p:nvPr>
            <p:ph type="title" idx="100" hasCustomPrompt="1"/>
          </p:nvPr>
        </p:nvSpPr>
        <p:spPr>
          <a:xfrm xmlns:a="http://schemas.openxmlformats.org/drawingml/2006/main">
            <a:off x="548640" y="1188720"/>
            <a:ext cx="5120640" cy="11887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4000" b="1">
                <a:solidFill>
                  <a:schemeClr val="bg1"/>
                </a:solidFill>
                <a:latin typeface="Cambria"/>
                <a:ea typeface="Cambria"/>
                <a:cs typeface="Cambria"/>
              </a:defRPr>
            </a:lvl1pPr>
          </a:lstStyle>
          <a:p xmlns:a="http://schemas.openxmlformats.org/drawingml/2006/main">
            <a:pPr marL="0" indent="0" algn="l">
              <a:buNone/>
            </a:pPr>
            <a:endParaRPr sz="4000"/>
          </a:p>
        </p:txBody>
      </p:sp>
    </p:spTree>
  </p:cSld>
</p:sldLayout>
</file>

<file path=ppt/slideLayouts/slideLayout3.xml><?xml version="1.0" encoding="utf-8"?>
<p:sldLayout xmlns:p="http://schemas.openxmlformats.org/presentationml/2006/main" preserve="1">
  <p:cSld name="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844A99-E84A-49A7-9AD8-735BD388DFC9}"/>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tx1"/>
                </a:solidFill>
                <a:latin typeface="Cambria"/>
                <a:ea typeface="Cambria"/>
                <a:cs typeface="Cambria"/>
              </a:defRPr>
            </a:lvl1pPr>
          </a:lstStyle>
          <a:p xmlns:a="http://schemas.openxmlformats.org/drawingml/2006/main">
            <a:pPr marL="0" indent="0" algn="l">
              <a:buNone/>
            </a:pPr>
            <a:endParaRPr sz="3000"/>
          </a:p>
        </p:txBody>
      </p:sp>
      <p:sp>
        <p:nvSpPr>
          <p:cNvPr id="3" name="Text 0">
            <a:extLst xmlns:a="http://schemas.openxmlformats.org/drawingml/2006/main">
              <a:ext uri="{FF2B5EF4-FFF2-40B4-BE49-F238E27FC236}">
                <a16:creationId xmlns:a16="http://schemas.microsoft.com/office/drawing/2014/main" id="{060513CC-88CE-465A-B646-7921AE0368B0}"/>
              </a:ext>
            </a:extLst>
          </p:cNvPr>
          <p:cNvSpPr>
            <a:spLocks xmlns:a="http://schemas.openxmlformats.org/drawingml/2006/main" noGrp="1"/>
          </p:cNvSpPr>
          <p:nvPr/>
        </p:nvSpPr>
        <p:spPr>
          <a:xfrm xmlns:a="http://schemas.openxmlformats.org/drawingml/2006/main">
            <a:off x="457200" y="4773168"/>
            <a:ext cx="548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accent5"/>
                </a:solidFill>
                <a:latin typeface="Calibri"/>
                <a:ea typeface="Calibri"/>
                <a:cs typeface="Calibri"/>
              </a:rPr>
              <a:t>Khmer ASR  |  Khemrak Pasey  |  Deep Learning final project</a:t>
            </a:r>
            <a:endParaRPr sz="1000"/>
          </a:p>
        </p:txBody>
      </p:sp>
      <p:sp>
        <p:nvSpPr>
          <p:cNvPr id="25" name="Slide Number Placeholder 0">
            <a:extLst xmlns:a="http://schemas.openxmlformats.org/drawingml/2006/main">
              <a:ext uri="{FF2B5EF4-FFF2-40B4-BE49-F238E27FC236}">
                <a16:creationId xmlns:a16="http://schemas.microsoft.com/office/drawing/2014/main" id="{11CE9A29-A99D-4539-8AD8-9A4326B0930D}"/>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1003</a:t>
            </a:fld>
            <a:endParaRPr/>
          </a:p>
        </p:txBody>
      </p:sp>
    </p:spTree>
  </p:cSld>
</p:sldLayout>
</file>

<file path=ppt/slideLayouts/slideLayout4.xml><?xml version="1.0" encoding="utf-8"?>
<p:sldLayout xmlns:p="http://schemas.openxmlformats.org/presentationml/2006/main" preserve="1">
  <p:cSld name="CONCLUDE_DARK">
    <p:bg>
      <p:bgPr>
        <a:solidFill xmlns:a="http://schemas.openxmlformats.org/drawingml/2006/main">
          <a:srgbClr val="1B2A4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64550B-F30C-4141-B11C-EB0A75450648}"/>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bg1"/>
                </a:solidFill>
                <a:latin typeface="Cambria"/>
                <a:ea typeface="Cambria"/>
                <a:cs typeface="Cambria"/>
              </a:defRPr>
            </a:lvl1pPr>
          </a:lstStyle>
          <a:p xmlns:a="http://schemas.openxmlformats.org/drawingml/2006/main">
            <a:pPr marL="0" indent="0" algn="l">
              <a:buNone/>
            </a:pPr>
            <a:endParaRPr sz="3000"/>
          </a:p>
        </p:txBody>
      </p:sp>
      <p:sp>
        <p:nvSpPr>
          <p:cNvPr id="25" name="Slide Number Placeholder 0">
            <a:extLst xmlns:a="http://schemas.openxmlformats.org/drawingml/2006/main">
              <a:ext uri="{FF2B5EF4-FFF2-40B4-BE49-F238E27FC236}">
                <a16:creationId xmlns:a16="http://schemas.microsoft.com/office/drawing/2014/main" id="{1F2280AE-7A5A-4BB8-977D-9B4DC531B374}"/>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B8C4CE"/>
                </a:solidFill>
                <a:latin typeface="Calibri"/>
                <a:ea typeface="Calibri"/>
                <a:cs typeface="Calibri"/>
              </a:defRPr>
            </a:lvl1pPr>
          </a:lstStyle>
          <a:p xmlns:a="http://schemas.openxmlformats.org/drawingml/2006/main">
            <a:pPr algn="r">
              <a:buNone/>
            </a:pPr>
            <a:fld id="{F7021451-1387-4CA6-816F-3879F97B5CBC}" type="slidenum">
              <a:rPr b="0"/>
              <a:t>1004</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a1fdec46e04bec" /><Relationship Type="http://schemas.openxmlformats.org/officeDocument/2006/relationships/slideLayout" Target="/ppt/slideLayouts/slideLayout1.xml" Id="R69aa545a83fe4cce" /><Relationship Type="http://schemas.openxmlformats.org/officeDocument/2006/relationships/slideLayout" Target="/ppt/slideLayouts/slideLayout2.xml" Id="R519a27739c9f464e" /><Relationship Type="http://schemas.openxmlformats.org/officeDocument/2006/relationships/slideLayout" Target="/ppt/slideLayouts/slideLayout3.xml" Id="R2bfd4dddb1284b82" /><Relationship Type="http://schemas.openxmlformats.org/officeDocument/2006/relationships/slideLayout" Target="/ppt/slideLayouts/slideLayout4.xml" Id="R53103ace906744d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B7E52B4-19E7-41CD-A86F-70666D32C8D9}"/>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a545a83fe4cce"/>
    <p:sldLayoutId xmlns:r="http://schemas.openxmlformats.org/officeDocument/2006/relationships" id="2147483650" r:id="R519a27739c9f464e"/>
    <p:sldLayoutId xmlns:r="http://schemas.openxmlformats.org/officeDocument/2006/relationships" id="2147483651" r:id="R2bfd4dddb1284b82"/>
    <p:sldLayoutId xmlns:r="http://schemas.openxmlformats.org/officeDocument/2006/relationships" id="2147483652" r:id="R53103ace906744d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KhmerASR">
  <a:themeElements>
    <a:clrScheme name="KhmerASR">
      <a:dk1>
        <a:srgbClr val="1B2A41"/>
      </a:dk1>
      <a:lt1>
        <a:srgbClr val="FFFFFF"/>
      </a:lt1>
      <a:dk2>
        <a:srgbClr val="0F4C5C"/>
      </a:dk2>
      <a:lt2>
        <a:srgbClr val="EEF3F5"/>
      </a:lt2>
      <a:accent1>
        <a:srgbClr val="1B4965"/>
      </a:accent1>
      <a:accent2>
        <a:srgbClr val="F2A33A"/>
      </a:accent2>
      <a:accent3>
        <a:srgbClr val="2A9D8F"/>
      </a:accent3>
      <a:accent4>
        <a:srgbClr val="D1603D"/>
      </a:accent4>
      <a:accent5>
        <a:srgbClr val="5C6B7A"/>
      </a:accent5>
      <a:accent6>
        <a:srgbClr val="8AB17D"/>
      </a:accent6>
      <a:hlink>
        <a:srgbClr val="1B4965"/>
      </a:hlink>
      <a:folHlink>
        <a:srgbClr val="5C6B7A"/>
      </a:folHlink>
    </a:clrScheme>
    <a:fontScheme name="KhmerAS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hmerAS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1a5a74e3d9e451c" /><Relationship Type="http://schemas.openxmlformats.org/officeDocument/2006/relationships/notesSlide" Target="/ppt/notesSlides/notesSlide1.xml" Id="Rc0f3336677fe40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3e6dcd656444964" /><Relationship Type="http://schemas.openxmlformats.org/officeDocument/2006/relationships/notesSlide" Target="/ppt/notesSlides/notesSlide2.xml" Id="Ra565bfecea804a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5089ba044cb497f" /><Relationship Type="http://schemas.openxmlformats.org/officeDocument/2006/relationships/notesSlide" Target="/ppt/notesSlides/notesSlide3.xml" Id="R514c0e557a8143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a944c8a362b4958" /><Relationship Type="http://schemas.openxmlformats.org/officeDocument/2006/relationships/notesSlide" Target="/ppt/notesSlides/notesSlide4.xml" Id="R5264b91956e04a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48d864901fa64b0d" /><Relationship Type="http://schemas.openxmlformats.org/officeDocument/2006/relationships/notesSlide" Target="/ppt/notesSlides/notesSlide5.xml" Id="R77096c3ca6b640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78dda150d2f4c2a" /><Relationship Type="http://schemas.openxmlformats.org/officeDocument/2006/relationships/chart" Target="/ppt/slides/charts/chart1.xml" Id="Ra51b3e5deb684604" /><Relationship Type="http://schemas.openxmlformats.org/officeDocument/2006/relationships/notesSlide" Target="/ppt/notesSlides/notesSlide6.xml" Id="Ra20ab88bb46f4d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95a29011ccae496f" /><Relationship Type="http://schemas.openxmlformats.org/officeDocument/2006/relationships/chart" Target="/ppt/slides/charts/chart2.xml" Id="R68b82a3d4990485e" /><Relationship Type="http://schemas.openxmlformats.org/officeDocument/2006/relationships/notesSlide" Target="/ppt/notesSlides/notesSlide7.xml" Id="Rdeeae197f7f64c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1c8bbb694d04429c" /><Relationship Type="http://schemas.openxmlformats.org/officeDocument/2006/relationships/notesSlide" Target="/ppt/notesSlides/notesSlide8.xml" Id="Ra465e4f5c95e48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b2f0fd9c6aca4901" /><Relationship Type="http://schemas.openxmlformats.org/officeDocument/2006/relationships/notesSlide" Target="/ppt/notesSlides/notesSlide9.xml" Id="Rc54f11269d5240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065f057c0c24647" /><Relationship Type="http://schemas.openxmlformats.org/officeDocument/2006/relationships/notesSlide" Target="/ppt/notesSlides/notesSlide10.xml" Id="R6bdc3148b0944e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eb99ce60bc744fe3" /><Relationship Type="http://schemas.openxmlformats.org/officeDocument/2006/relationships/notesSlide" Target="/ppt/notesSlides/notesSlide11.xml" Id="R8ec8be0b0af949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1479928e34654f7c" /><Relationship Type="http://schemas.openxmlformats.org/officeDocument/2006/relationships/notesSlide" Target="/ppt/notesSlides/notesSlide12.xml" Id="Rdcdf30f8c99f4c26" /></Relationships>
</file>

<file path=ppt/slides/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slides/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slides/charts/chart1.xml><?xml version="1.0" encoding="utf-8"?>
<c:chartSpace xmlns:c="http://schemas.openxmlformats.org/drawingml/2006/chart">
  <c:lang val="en-US"/>
  <c:roundedCorners val="1"/>
  <c:chart>
    <c:title>
      <c:tx>
        <c:rich>
          <a:bodyPr xmlns:a="http://schemas.openxmlformats.org/drawingml/2006/main"/>
          <a:lstStyle xmlns:a="http://schemas.openxmlformats.org/drawingml/2006/main"/>
          <a:p xmlns:a="http://schemas.openxmlformats.org/drawingml/2006/main">
            <a:r>
              <a:rPr sz="1400" b="0" i="0" u="none" strike="noStrike">
                <a:solidFill>
                  <a:srgbClr val="1B2A41"/>
                </a:solidFill>
                <a:latin typeface="+mn-lt"/>
                <a:ea typeface="+mn-lt"/>
                <a:cs typeface="+mn-lt"/>
              </a:rPr>
              <a:t>Training clips used</a:t>
            </a:r>
          </a:p>
        </c:rich>
      </c:tx>
      <c:overlay val="0"/>
      <c:txPr>
        <a:bodyPr xmlns:a="http://schemas.openxmlformats.org/drawingml/2006/main" anchorCtr="1"/>
        <a:lstStyle xmlns:a="http://schemas.openxmlformats.org/drawingml/2006/main"/>
        <a:p xmlns:a="http://schemas.openxmlformats.org/drawingml/2006/main">
          <a:pPr>
            <a:defRPr sz="1400" b="0" i="0" u="none" strike="noStrike">
              <a:solidFill>
                <a:srgbClr val="1B2A41"/>
              </a:solidFill>
              <a:latin typeface="+mn-lt"/>
              <a:ea typeface="+mn-lt"/>
              <a:cs typeface="+mn-lt"/>
            </a:defRPr>
          </a:pPr>
        </a:p>
      </c:txPr>
    </c:title>
    <c:autoTitleDeleted val="0"/>
    <c:plotArea>
      <c:barChart>
        <c:barDir val="bar"/>
        <c:grouping val="clustered"/>
        <c:varyColors val="0"/>
        <c:ser>
          <c:idx val="0"/>
          <c:order val="0"/>
          <c:tx>
            <c:strRef>
              <c:f>Sheet1!$B$1</c:f>
              <c:strCache>
                <c:ptCount val="1"/>
                <c:pt idx="0">
                  <c:v>Training clips</c:v>
                </c:pt>
              </c:strCache>
            </c:strRef>
          </c:tx>
          <c:spPr>
            <a:solidFill xmlns:a="http://schemas.openxmlformats.org/drawingml/2006/main">
              <a:srgbClr val="1B4965"/>
            </a:solidFill>
          </c:spPr>
          <c:invertIfNegative val="0"/>
          <c:dPt>
            <c:idx val="0"/>
            <c:invertIfNegative val="0"/>
            <c:spPr>
              <a:solidFill xmlns:a="http://schemas.openxmlformats.org/drawingml/2006/main">
                <a:srgbClr val="1B4965"/>
              </a:solidFill>
            </c:spPr>
          </c:dPt>
          <c:dPt>
            <c:idx val="1"/>
            <c:invertIfNegative val="0"/>
            <c:spPr>
              <a:solidFill xmlns:a="http://schemas.openxmlformats.org/drawingml/2006/main">
                <a:srgbClr val="1B4965"/>
              </a:solidFill>
            </c:spPr>
          </c:dPt>
          <c:dPt>
            <c:idx val="2"/>
            <c:invertIfNegative val="0"/>
            <c:spPr>
              <a:solidFill xmlns:a="http://schemas.openxmlformats.org/drawingml/2006/main">
                <a:srgbClr val="2A9D8F"/>
              </a:solidFill>
            </c:spPr>
          </c:dPt>
          <c:dLbls>
            <c:numFmt formatCode="#,##0" sourceLinked="0"/>
            <c:txPr>
              <a:bodyPr xmlns:a="http://schemas.openxmlformats.org/drawingml/2006/main" anchorCtr="1"/>
              <a:lstStyle xmlns:a="http://schemas.openxmlformats.org/drawingml/2006/main"/>
              <a:p xmlns:a="http://schemas.openxmlformats.org/drawingml/2006/main">
                <a:pPr>
                  <a:defRPr sz="1200" b="0" i="0" u="none" strike="noStrike">
                    <a:solidFill>
                      <a:srgbClr val="1B2A41"/>
                    </a:solidFill>
                    <a:latin typeface="+mn-lt"/>
                    <a:ea typeface="+mn-lt"/>
                    <a:cs typeface="+mn-lt"/>
                  </a:defRPr>
                </a:pPr>
              </a:p>
            </c:txPr>
            <c:showLegendKey val="0"/>
            <c:showVal val="1"/>
            <c:showCatName val="0"/>
            <c:showSerName val="0"/>
            <c:showPercent val="0"/>
            <c:showBubbleSize val="0"/>
            <c:showLeaderLines val="0"/>
          </c:dLbls>
          <c:cat>
            <c:strRef>
              <c:f>Sheet1!$A$2:$A$4</c:f>
              <c:strCache>
                <c:ptCount val="3"/>
                <c:pt idx="0">
                  <c:v>Whisper-Tiny</c:v>
                </c:pt>
                <c:pt idx="1">
                  <c:v>MMS-1B</c:v>
                </c:pt>
                <c:pt idx="2">
                  <c:v>Qwen3-ASR</c:v>
                </c:pt>
              </c:strCache>
            </c:strRef>
          </c:cat>
          <c:val>
            <c:numRef>
              <c:f>Sheet1!$B$2:$B$4</c:f>
              <c:numCache>
                <c:formatCode>General</c:formatCode>
                <c:ptCount val="3"/>
                <c:pt idx="0">
                  <c:v>531</c:v>
                </c:pt>
                <c:pt idx="1">
                  <c:v>531</c:v>
                </c:pt>
                <c:pt idx="2">
                  <c:v>16720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b="0" i="0" u="none" strike="noStrike">
                  <a:solidFill>
                    <a:srgbClr val="1B2A41"/>
                  </a:solidFill>
                  <a:latin typeface="+mn-lt"/>
                  <a:ea typeface="+mn-lt"/>
                  <a:cs typeface="+mn-lt"/>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axMin"/>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strike="noStrike">
                <a:solidFill>
                  <a:srgbClr val="1B2A41"/>
                </a:solidFill>
                <a:latin typeface="+mn-lt"/>
                <a:ea typeface="+mn-lt"/>
                <a:cs typeface="+mn-lt"/>
              </a:defRPr>
            </a:pPr>
          </a:p>
        </c:txPr>
        <c:crossAx val="2094734552"/>
        <c:crosses val="autoZero"/>
        <c:lblAlgn val="ctr"/>
        <c:noMultiLvlLbl val="1"/>
      </c:catAx>
      <c:valAx>
        <c:axId val="2094734552"/>
        <c:scaling>
          <c:orientation val="minMax"/>
          <c:max val="20000"/>
          <c:min val="0"/>
        </c:scaling>
        <c:delete val="0"/>
        <c:axPos val="b"/>
        <c:majorGridlines>
          <c:spPr>
            <a:ln xmlns:a="http://schemas.openxmlformats.org/drawingml/2006/main" w="6350">
              <a:solidFill>
                <a:srgbClr val="D5DDE2"/>
              </a:solidFill>
              <a:prstDash val="solid"/>
            </a:ln>
          </c:spPr>
        </c:majorGridlines>
        <c:numFmt formatCode="#,##0"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strike="noStrike">
                <a:solidFill>
                  <a:srgbClr val="5C6B7A"/>
                </a:solidFill>
                <a:latin typeface="+mn-lt"/>
                <a:ea typeface="+mn-lt"/>
                <a:cs typeface="+mn-lt"/>
              </a:defRPr>
            </a:pPr>
          </a:p>
        </c:txPr>
        <c:crossAx val="2094734554"/>
        <c:crosses val="autoZero"/>
        <c:crossBetween val="between"/>
        <c:majorUnit val="5000"/>
      </c:valAx>
      <c:spPr>
        <a:noFill xmlns:a="http://schemas.openxmlformats.org/drawingml/2006/main"/>
        <a:ln xmlns:a="http://schemas.openxmlformats.org/drawingml/2006/main">
          <a:noFill/>
        </a:ln>
      </c:spPr>
    </c:plotArea>
    <c:plotVisOnly val="1"/>
    <c:dispBlanksAs val="span"/>
  </c:chart>
  <c:spPr>
    <a:noFill xmlns:a="http://schemas.openxmlformats.org/drawingml/2006/main"/>
    <a:ln xmlns:a="http://schemas.openxmlformats.org/drawingml/2006/main">
      <a:noFill/>
    </a:ln>
  </c:spPr>
  <c:externalData xmlns:r="http://schemas.openxmlformats.org/officeDocument/2006/relationships" r:id="rId1">
    <c:autoUpdate val="0"/>
  </c:externalData>
</c:chartSpace>
</file>

<file path=ppt/slides/charts/chart2.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CER (%)</c:v>
                </c:pt>
              </c:strCache>
            </c:strRef>
          </c:tx>
          <c:spPr>
            <a:solidFill xmlns:a="http://schemas.openxmlformats.org/drawingml/2006/main">
              <a:srgbClr val="1B4965"/>
            </a:solidFill>
          </c:spPr>
          <c:invertIfNegative val="0"/>
          <c:dLbls>
            <c:numFmt formatCode="0.00" sourceLinked="0"/>
            <c:txPr>
              <a:bodyPr xmlns:a="http://schemas.openxmlformats.org/drawingml/2006/main" anchorCtr="1"/>
              <a:lstStyle xmlns:a="http://schemas.openxmlformats.org/drawingml/2006/main"/>
              <a:p xmlns:a="http://schemas.openxmlformats.org/drawingml/2006/main">
                <a:pPr>
                  <a:defRPr sz="1200" b="0" i="0" u="none" strike="noStrike">
                    <a:solidFill>
                      <a:srgbClr val="1B2A41"/>
                    </a:solidFill>
                    <a:latin typeface="+mn-lt"/>
                    <a:ea typeface="+mn-lt"/>
                    <a:cs typeface="+mn-lt"/>
                  </a:defRPr>
                </a:pPr>
              </a:p>
            </c:txPr>
            <c:showLegendKey val="0"/>
            <c:showVal val="1"/>
            <c:showCatName val="0"/>
            <c:showSerName val="0"/>
            <c:showPercent val="0"/>
            <c:showBubbleSize val="0"/>
            <c:showLeaderLines val="0"/>
          </c:dLbls>
          <c:cat>
            <c:strRef>
              <c:f>Sheet1!$A$2:$A$4</c:f>
              <c:strCache>
                <c:ptCount val="3"/>
                <c:pt idx="0">
                  <c:v>Whisper-Tiny</c:v>
                </c:pt>
                <c:pt idx="1">
                  <c:v>MMS-1B</c:v>
                </c:pt>
                <c:pt idx="2">
                  <c:v>Qwen3-ASR</c:v>
                </c:pt>
              </c:strCache>
            </c:strRef>
          </c:cat>
          <c:val>
            <c:numRef>
              <c:f>Sheet1!$B$2:$B$4</c:f>
              <c:numCache>
                <c:formatCode>General</c:formatCode>
                <c:ptCount val="3"/>
                <c:pt idx="0">
                  <c:v>86.76</c:v>
                </c:pt>
                <c:pt idx="1">
                  <c:v>15.84</c:v>
                </c:pt>
                <c:pt idx="2">
                  <c:v>13.71</c:v>
                </c:pt>
              </c:numCache>
            </c:numRef>
          </c:val>
        </c:ser>
        <c:ser>
          <c:idx val="1"/>
          <c:order val="1"/>
          <c:tx>
            <c:strRef>
              <c:f>Sheet1!$C$1</c:f>
              <c:strCache>
                <c:ptCount val="1"/>
                <c:pt idx="0">
                  <c:v>ICU Khmer WER (%)</c:v>
                </c:pt>
              </c:strCache>
            </c:strRef>
          </c:tx>
          <c:spPr>
            <a:solidFill xmlns:a="http://schemas.openxmlformats.org/drawingml/2006/main">
              <a:srgbClr val="F2A33A"/>
            </a:solidFill>
          </c:spPr>
          <c:invertIfNegative val="0"/>
          <c:dLbls>
            <c:numFmt formatCode="0.00" sourceLinked="0"/>
            <c:txPr>
              <a:bodyPr xmlns:a="http://schemas.openxmlformats.org/drawingml/2006/main" anchorCtr="1"/>
              <a:lstStyle xmlns:a="http://schemas.openxmlformats.org/drawingml/2006/main"/>
              <a:p xmlns:a="http://schemas.openxmlformats.org/drawingml/2006/main">
                <a:pPr>
                  <a:defRPr sz="1200" b="0" i="0" u="none" strike="noStrike">
                    <a:solidFill>
                      <a:srgbClr val="1B2A41"/>
                    </a:solidFill>
                    <a:latin typeface="+mn-lt"/>
                    <a:ea typeface="+mn-lt"/>
                    <a:cs typeface="+mn-lt"/>
                  </a:defRPr>
                </a:pPr>
              </a:p>
            </c:txPr>
            <c:showLegendKey val="0"/>
            <c:showVal val="1"/>
            <c:showCatName val="0"/>
            <c:showSerName val="0"/>
            <c:showPercent val="0"/>
            <c:showBubbleSize val="0"/>
            <c:showLeaderLines val="0"/>
          </c:dLbls>
          <c:cat>
            <c:strRef>
              <c:f>Sheet1!$A$2:$A$4</c:f>
              <c:strCache>
                <c:ptCount val="3"/>
                <c:pt idx="0">
                  <c:v>Whisper-Tiny</c:v>
                </c:pt>
                <c:pt idx="1">
                  <c:v>MMS-1B</c:v>
                </c:pt>
                <c:pt idx="2">
                  <c:v>Qwen3-ASR</c:v>
                </c:pt>
              </c:strCache>
            </c:strRef>
          </c:cat>
          <c:val>
            <c:numRef>
              <c:f>Sheet1!$C$2:$C$4</c:f>
              <c:numCache>
                <c:formatCode>General</c:formatCode>
                <c:ptCount val="3"/>
                <c:pt idx="0">
                  <c:v>106.27</c:v>
                </c:pt>
                <c:pt idx="1">
                  <c:v>67.16</c:v>
                </c:pt>
                <c:pt idx="2">
                  <c:v>33.4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b="0" i="0" u="none" strike="noStrike">
                  <a:solidFill>
                    <a:srgbClr val="1B2A41"/>
                  </a:solidFill>
                  <a:latin typeface="+mn-lt"/>
                  <a:ea typeface="+mn-lt"/>
                  <a:cs typeface="+mn-lt"/>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strike="noStrike">
                <a:solidFill>
                  <a:srgbClr val="1B2A41"/>
                </a:solidFill>
                <a:latin typeface="+mn-lt"/>
                <a:ea typeface="+mn-lt"/>
                <a:cs typeface="+mn-lt"/>
              </a:defRPr>
            </a:pPr>
          </a:p>
        </c:txPr>
        <c:crossAx val="2094734552"/>
        <c:crosses val="autoZero"/>
        <c:lblAlgn val="ctr"/>
        <c:noMultiLvlLbl val="1"/>
      </c:catAx>
      <c:valAx>
        <c:axId val="2094734552"/>
        <c:scaling>
          <c:orientation val="minMax"/>
          <c:max val="120"/>
          <c:min val="0"/>
        </c:scaling>
        <c:delete val="0"/>
        <c:axPos val="l"/>
        <c:majorGridlines>
          <c:spPr>
            <a:ln xmlns:a="http://schemas.openxmlformats.org/drawingml/2006/main" w="6350">
              <a:solidFill>
                <a:srgbClr val="D5DDE2"/>
              </a:solidFill>
              <a:prstDash val="solid"/>
            </a:ln>
          </c:spPr>
        </c:majorGridlines>
        <c:title>
          <c:tx>
            <c:rich>
              <a:bodyPr xmlns:a="http://schemas.openxmlformats.org/drawingml/2006/main"/>
              <a:lstStyle xmlns:a="http://schemas.openxmlformats.org/drawingml/2006/main"/>
              <a:p xmlns:a="http://schemas.openxmlformats.org/drawingml/2006/main">
                <a:pPr>
                  <a:buNone/>
                  <a:defRPr sz="1100" b="0" i="0" u="none" strike="noStrike">
                    <a:solidFill>
                      <a:srgbClr val="5C6B7A"/>
                    </a:solidFill>
                    <a:latin typeface="+mn-lt"/>
                    <a:ea typeface="+mn-lt"/>
                    <a:cs typeface="+mn-lt"/>
                  </a:defRPr>
                </a:pPr>
                <a:r>
                  <a:rPr sz="1100" b="0" i="0" u="none" strike="noStrike">
                    <a:solidFill>
                      <a:srgbClr val="5C6B7A"/>
                    </a:solidFill>
                    <a:latin typeface="+mn-lt"/>
                    <a:ea typeface="+mn-lt"/>
                    <a:cs typeface="+mn-lt"/>
                  </a:rPr>
                  <a:t>Error rate (%), lower is better</a:t>
                </a:r>
              </a:p>
            </c:rich>
          </c:tx>
          <c:overlay val="0"/>
          <c:txPr>
            <a:bodyPr xmlns:a="http://schemas.openxmlformats.org/drawingml/2006/main" anchorCtr="1"/>
            <a:lstStyle xmlns:a="http://schemas.openxmlformats.org/drawingml/2006/main"/>
            <a:p xmlns:a="http://schemas.openxmlformats.org/drawingml/2006/main">
              <a:pPr>
                <a:defRPr sz="1100" b="0" i="0" u="none" strike="noStrike">
                  <a:solidFill>
                    <a:srgbClr val="5C6B7A"/>
                  </a:solidFill>
                  <a:latin typeface="+mn-lt"/>
                  <a:ea typeface="+mn-lt"/>
                  <a:cs typeface="+mn-lt"/>
                </a:defRPr>
              </a:pPr>
            </a:p>
          </c:txPr>
        </c:title>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strike="noStrike">
                <a:solidFill>
                  <a:srgbClr val="5C6B7A"/>
                </a:solidFill>
                <a:latin typeface="+mn-lt"/>
                <a:ea typeface="+mn-lt"/>
                <a:cs typeface="+mn-lt"/>
              </a:defRPr>
            </a:pPr>
          </a:p>
        </c:txPr>
        <c:crossAx val="2094734554"/>
        <c:crosses val="autoZero"/>
        <c:crossBetween val="between"/>
        <c:majorUnit val="20"/>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B2A41"/>
              </a:solidFill>
              <a:latin typeface="+mn-lt"/>
              <a:ea typeface="+mn-lt"/>
              <a:cs typeface="+mn-lt"/>
            </a:defRPr>
          </a:pPr>
        </a:p>
      </c:txPr>
    </c:legend>
    <c:plotVisOnly val="1"/>
    <c:dispBlanksAs val="span"/>
  </c:chart>
  <c:spPr>
    <a:noFill xmlns:a="http://schemas.openxmlformats.org/drawingml/2006/main"/>
    <a:ln xmlns:a="http://schemas.openxmlformats.org/drawingml/2006/main">
      <a:noFill/>
    </a:ln>
  </c:spPr>
  <c:externalData xmlns:r="http://schemas.openxmlformats.org/officeDocument/2006/relationships" r:id="rId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1F1645-D96B-4BEC-9305-B1E7D6C5504C}"/>
              </a:ext>
            </a:extLst>
          </p:cNvPr>
          <p:cNvSpPr>
            <a:spLocks xmlns:a="http://schemas.openxmlformats.org/drawingml/2006/main" noGrp="1"/>
          </p:cNvSpPr>
          <p:nvPr>
            <p:ph type="title" idx="100" hasCustomPrompt="1"/>
          </p:nvPr>
        </p:nvSpPr>
        <p:spPr>
          <a:xfrm xmlns:a="http://schemas.openxmlformats.org/drawingml/2006/main">
            <a:off x="548640" y="1188720"/>
            <a:ext cx="51206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4000" b="1">
                <a:solidFill>
                  <a:schemeClr val="bg1"/>
                </a:solidFill>
                <a:latin typeface="Cambria"/>
                <a:ea typeface="Cambria"/>
                <a:cs typeface="Cambria"/>
              </a:rPr>
              <a:t>Khmer Speech Recognition</a:t>
            </a:r>
            <a:endParaRPr sz="4000"/>
          </a:p>
        </p:txBody>
      </p:sp>
      <p:sp>
        <p:nvSpPr>
          <p:cNvPr id="3" name="Text 1">
            <a:extLst xmlns:a="http://schemas.openxmlformats.org/drawingml/2006/main">
              <a:ext uri="{FF2B5EF4-FFF2-40B4-BE49-F238E27FC236}">
                <a16:creationId xmlns:a16="http://schemas.microsoft.com/office/drawing/2014/main" id="{CB2F6E4F-729E-4011-B564-C1F6EF214DEF}"/>
              </a:ext>
            </a:extLst>
          </p:cNvPr>
          <p:cNvSpPr>
            <a:spLocks xmlns:a="http://schemas.openxmlformats.org/drawingml/2006/main" noGrp="1"/>
          </p:cNvSpPr>
          <p:nvPr/>
        </p:nvSpPr>
        <p:spPr>
          <a:xfrm xmlns:a="http://schemas.openxmlformats.org/drawingml/2006/main">
            <a:off x="548640" y="2423160"/>
            <a:ext cx="4937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CADCE6"/>
                </a:solidFill>
                <a:latin typeface="Calibri"/>
                <a:ea typeface="Calibri"/>
                <a:cs typeface="Calibri"/>
              </a:rPr>
              <a:t>Whisper-Tiny, Meta MMS-1B and Qwen3-ASR 0.6B on FLEURS Khmer</a:t>
            </a:r>
            <a:endParaRPr sz="1800"/>
          </a:p>
        </p:txBody>
      </p:sp>
      <p:sp>
        <p:nvSpPr>
          <p:cNvPr id="4" name="Text 2">
            <a:extLst xmlns:a="http://schemas.openxmlformats.org/drawingml/2006/main">
              <a:ext uri="{FF2B5EF4-FFF2-40B4-BE49-F238E27FC236}">
                <a16:creationId xmlns:a16="http://schemas.microsoft.com/office/drawing/2014/main" id="{A5D37D50-015B-44B4-9FE9-4EF34E971810}"/>
              </a:ext>
            </a:extLst>
          </p:cNvPr>
          <p:cNvSpPr>
            <a:spLocks xmlns:a="http://schemas.openxmlformats.org/drawingml/2006/main" noGrp="1"/>
          </p:cNvSpPr>
          <p:nvPr/>
        </p:nvSpPr>
        <p:spPr>
          <a:xfrm xmlns:a="http://schemas.openxmlformats.org/drawingml/2006/main">
            <a:off x="548640" y="33832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400"/>
              </a:spcAft>
              <a:buNone/>
            </a:pPr>
            <a:r>
              <a:rPr sz="1600" b="1">
                <a:solidFill>
                  <a:srgbClr val="F2A33A"/>
                </a:solidFill>
                <a:latin typeface="Calibri"/>
                <a:ea typeface="Calibri"/>
                <a:cs typeface="Calibri"/>
              </a:rPr>
              <a:t>Student: </a:t>
            </a:r>
            <a:r>
              <a:rPr sz="1600">
                <a:solidFill>
                  <a:srgbClr val="FFFFFF"/>
                </a:solidFill>
                <a:latin typeface="Calibri"/>
                <a:ea typeface="Calibri"/>
                <a:cs typeface="Calibri"/>
              </a:rPr>
              <a:t>Khemrak Pasey</a:t>
            </a:r>
            <a:endParaRPr sz="1600"/>
          </a:p>
          <a:p xmlns:a="http://schemas.openxmlformats.org/drawingml/2006/main">
            <a:pPr marL="0" indent="0">
              <a:spcAft>
                <a:spcPts val="400"/>
              </a:spcAft>
              <a:buNone/>
            </a:pPr>
            <a:r>
              <a:rPr sz="1600" b="1">
                <a:solidFill>
                  <a:srgbClr val="F2A33A"/>
                </a:solidFill>
                <a:latin typeface="Calibri"/>
                <a:ea typeface="Calibri"/>
                <a:cs typeface="Calibri"/>
              </a:rPr>
              <a:t>Lecturer: </a:t>
            </a:r>
            <a:r>
              <a:rPr sz="1600">
                <a:solidFill>
                  <a:srgbClr val="FFFFFF"/>
                </a:solidFill>
                <a:latin typeface="Calibri"/>
                <a:ea typeface="Calibri"/>
                <a:cs typeface="Calibri"/>
              </a:rPr>
              <a:t>Mr. Soklong HIM</a:t>
            </a:r>
            <a:endParaRPr sz="1600"/>
          </a:p>
        </p:txBody>
      </p:sp>
      <p:sp>
        <p:nvSpPr>
          <p:cNvPr id="5" name="Text 3">
            <a:extLst xmlns:a="http://schemas.openxmlformats.org/drawingml/2006/main">
              <a:ext uri="{FF2B5EF4-FFF2-40B4-BE49-F238E27FC236}">
                <a16:creationId xmlns:a16="http://schemas.microsoft.com/office/drawing/2014/main" id="{9B31D599-CB60-485E-8EE7-850C62401AE4}"/>
              </a:ext>
            </a:extLst>
          </p:cNvPr>
          <p:cNvSpPr>
            <a:spLocks xmlns:a="http://schemas.openxmlformats.org/drawingml/2006/main" noGrp="1"/>
          </p:cNvSpPr>
          <p:nvPr/>
        </p:nvSpPr>
        <p:spPr>
          <a:xfrm xmlns:a="http://schemas.openxmlformats.org/drawingml/2006/main">
            <a:off x="548640" y="429768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B8C4CE"/>
                </a:solidFill>
                <a:latin typeface="Calibri"/>
                <a:ea typeface="Calibri"/>
                <a:cs typeface="Calibri"/>
              </a:rPr>
              <a:t>Deep Learning final project  |  16 October 2026</a:t>
            </a:r>
            <a:endParaRPr sz="1200"/>
          </a:p>
        </p:txBody>
      </p:sp>
      <p:sp>
        <p:nvSpPr>
          <p:cNvPr id="6" name="model chip 1">
            <a:extLst xmlns:a="http://schemas.openxmlformats.org/drawingml/2006/main">
              <a:ext uri="{FF2B5EF4-FFF2-40B4-BE49-F238E27FC236}">
                <a16:creationId xmlns:a16="http://schemas.microsoft.com/office/drawing/2014/main" id="{436F4D13-1D1F-450D-9334-7A6276E601A8}"/>
              </a:ext>
            </a:extLst>
          </p:cNvPr>
          <p:cNvSpPr>
            <a:spLocks xmlns:a="http://schemas.openxmlformats.org/drawingml/2006/main" noGrp="1"/>
          </p:cNvSpPr>
          <p:nvPr/>
        </p:nvSpPr>
        <p:spPr>
          <a:xfrm xmlns:a="http://schemas.openxmlformats.org/drawingml/2006/main">
            <a:off x="6035040" y="1188720"/>
            <a:ext cx="2651760" cy="868680"/>
          </a:xfrm>
          <a:prstGeom xmlns:a="http://schemas.openxmlformats.org/drawingml/2006/main" prst="roundRect">
            <a:avLst>
              <a:gd name="adj" fmla="val 10526"/>
            </a:avLst>
          </a:prstGeom>
          <a:solidFill xmlns:a="http://schemas.openxmlformats.org/drawingml/2006/main">
            <a:srgbClr val="D1603D"/>
          </a:solidFill>
          <a:ln xmlns:a="http://schemas.openxmlformats.org/drawingml/2006/main" w="12700">
            <a:solidFill>
              <a:srgbClr val="D1603D"/>
            </a:solidFill>
            <a:prstDash val="solid"/>
          </a:ln>
        </p:spPr>
      </p:sp>
      <p:sp>
        <p:nvSpPr>
          <p:cNvPr id="7" name="Text 5">
            <a:extLst xmlns:a="http://schemas.openxmlformats.org/drawingml/2006/main">
              <a:ext uri="{FF2B5EF4-FFF2-40B4-BE49-F238E27FC236}">
                <a16:creationId xmlns:a16="http://schemas.microsoft.com/office/drawing/2014/main" id="{3CC78298-26A2-4AE7-82AB-20B282694AEF}"/>
              </a:ext>
            </a:extLst>
          </p:cNvPr>
          <p:cNvSpPr>
            <a:spLocks xmlns:a="http://schemas.openxmlformats.org/drawingml/2006/main" noGrp="1"/>
          </p:cNvSpPr>
          <p:nvPr/>
        </p:nvSpPr>
        <p:spPr>
          <a:xfrm xmlns:a="http://schemas.openxmlformats.org/drawingml/2006/main">
            <a:off x="6217920" y="1298448"/>
            <a:ext cx="2286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Approach 1</a:t>
            </a:r>
            <a:endParaRPr sz="1200"/>
          </a:p>
        </p:txBody>
      </p:sp>
      <p:sp>
        <p:nvSpPr>
          <p:cNvPr id="8" name="Text 6">
            <a:extLst xmlns:a="http://schemas.openxmlformats.org/drawingml/2006/main">
              <a:ext uri="{FF2B5EF4-FFF2-40B4-BE49-F238E27FC236}">
                <a16:creationId xmlns:a16="http://schemas.microsoft.com/office/drawing/2014/main" id="{15CA6511-FCA8-42F4-987B-50F552653AF7}"/>
              </a:ext>
            </a:extLst>
          </p:cNvPr>
          <p:cNvSpPr>
            <a:spLocks xmlns:a="http://schemas.openxmlformats.org/drawingml/2006/main" noGrp="1"/>
          </p:cNvSpPr>
          <p:nvPr/>
        </p:nvSpPr>
        <p:spPr>
          <a:xfrm xmlns:a="http://schemas.openxmlformats.org/drawingml/2006/main">
            <a:off x="6217920" y="1572768"/>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Cambria"/>
                <a:ea typeface="Cambria"/>
                <a:cs typeface="Cambria"/>
              </a:rPr>
              <a:t>Whisper-Tiny</a:t>
            </a:r>
            <a:endParaRPr sz="2000"/>
          </a:p>
        </p:txBody>
      </p:sp>
      <p:sp>
        <p:nvSpPr>
          <p:cNvPr id="9" name="model chip 2">
            <a:extLst xmlns:a="http://schemas.openxmlformats.org/drawingml/2006/main">
              <a:ext uri="{FF2B5EF4-FFF2-40B4-BE49-F238E27FC236}">
                <a16:creationId xmlns:a16="http://schemas.microsoft.com/office/drawing/2014/main" id="{80444D69-5D50-429D-9AAC-EEC7813A51D1}"/>
              </a:ext>
            </a:extLst>
          </p:cNvPr>
          <p:cNvSpPr>
            <a:spLocks xmlns:a="http://schemas.openxmlformats.org/drawingml/2006/main" noGrp="1"/>
          </p:cNvSpPr>
          <p:nvPr/>
        </p:nvSpPr>
        <p:spPr>
          <a:xfrm xmlns:a="http://schemas.openxmlformats.org/drawingml/2006/main">
            <a:off x="6035040" y="2286000"/>
            <a:ext cx="2651760" cy="868680"/>
          </a:xfrm>
          <a:prstGeom xmlns:a="http://schemas.openxmlformats.org/drawingml/2006/main" prst="roundRect">
            <a:avLst>
              <a:gd name="adj" fmla="val 10526"/>
            </a:avLst>
          </a:prstGeom>
          <a:solidFill xmlns:a="http://schemas.openxmlformats.org/drawingml/2006/main">
            <a:srgbClr val="1B4965"/>
          </a:solidFill>
          <a:ln xmlns:a="http://schemas.openxmlformats.org/drawingml/2006/main" w="12700">
            <a:solidFill>
              <a:srgbClr val="1B4965"/>
            </a:solidFill>
            <a:prstDash val="solid"/>
          </a:ln>
        </p:spPr>
      </p:sp>
      <p:sp>
        <p:nvSpPr>
          <p:cNvPr id="10" name="Text 8">
            <a:extLst xmlns:a="http://schemas.openxmlformats.org/drawingml/2006/main">
              <a:ext uri="{FF2B5EF4-FFF2-40B4-BE49-F238E27FC236}">
                <a16:creationId xmlns:a16="http://schemas.microsoft.com/office/drawing/2014/main" id="{EAE3B96B-4466-4E1C-A505-30EE91FAAA31}"/>
              </a:ext>
            </a:extLst>
          </p:cNvPr>
          <p:cNvSpPr>
            <a:spLocks xmlns:a="http://schemas.openxmlformats.org/drawingml/2006/main" noGrp="1"/>
          </p:cNvSpPr>
          <p:nvPr/>
        </p:nvSpPr>
        <p:spPr>
          <a:xfrm xmlns:a="http://schemas.openxmlformats.org/drawingml/2006/main">
            <a:off x="6217920" y="2395728"/>
            <a:ext cx="2286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Approach 2</a:t>
            </a:r>
            <a:endParaRPr sz="1200"/>
          </a:p>
        </p:txBody>
      </p:sp>
      <p:sp>
        <p:nvSpPr>
          <p:cNvPr id="11" name="Text 9">
            <a:extLst xmlns:a="http://schemas.openxmlformats.org/drawingml/2006/main">
              <a:ext uri="{FF2B5EF4-FFF2-40B4-BE49-F238E27FC236}">
                <a16:creationId xmlns:a16="http://schemas.microsoft.com/office/drawing/2014/main" id="{B65BCE09-A176-4B92-8D00-733DFE78E9CF}"/>
              </a:ext>
            </a:extLst>
          </p:cNvPr>
          <p:cNvSpPr>
            <a:spLocks xmlns:a="http://schemas.openxmlformats.org/drawingml/2006/main" noGrp="1"/>
          </p:cNvSpPr>
          <p:nvPr/>
        </p:nvSpPr>
        <p:spPr>
          <a:xfrm xmlns:a="http://schemas.openxmlformats.org/drawingml/2006/main">
            <a:off x="6217920" y="2670048"/>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Cambria"/>
                <a:ea typeface="Cambria"/>
                <a:cs typeface="Cambria"/>
              </a:rPr>
              <a:t>MMS-1B</a:t>
            </a:r>
            <a:endParaRPr sz="2000"/>
          </a:p>
        </p:txBody>
      </p:sp>
      <p:sp>
        <p:nvSpPr>
          <p:cNvPr id="12" name="model chip 3">
            <a:extLst xmlns:a="http://schemas.openxmlformats.org/drawingml/2006/main">
              <a:ext uri="{FF2B5EF4-FFF2-40B4-BE49-F238E27FC236}">
                <a16:creationId xmlns:a16="http://schemas.microsoft.com/office/drawing/2014/main" id="{A0FC5D3F-34DF-4964-B11D-B69EC8FD3C58}"/>
              </a:ext>
            </a:extLst>
          </p:cNvPr>
          <p:cNvSpPr>
            <a:spLocks xmlns:a="http://schemas.openxmlformats.org/drawingml/2006/main" noGrp="1"/>
          </p:cNvSpPr>
          <p:nvPr/>
        </p:nvSpPr>
        <p:spPr>
          <a:xfrm xmlns:a="http://schemas.openxmlformats.org/drawingml/2006/main">
            <a:off x="6035040" y="3383280"/>
            <a:ext cx="2651760" cy="868680"/>
          </a:xfrm>
          <a:prstGeom xmlns:a="http://schemas.openxmlformats.org/drawingml/2006/main" prst="roundRect">
            <a:avLst>
              <a:gd name="adj" fmla="val 10526"/>
            </a:avLst>
          </a:prstGeom>
          <a:solidFill xmlns:a="http://schemas.openxmlformats.org/drawingml/2006/main">
            <a:srgbClr val="2A9D8F"/>
          </a:solidFill>
          <a:ln xmlns:a="http://schemas.openxmlformats.org/drawingml/2006/main" w="12700">
            <a:solidFill>
              <a:srgbClr val="2A9D8F"/>
            </a:solidFill>
            <a:prstDash val="solid"/>
          </a:ln>
        </p:spPr>
      </p:sp>
      <p:sp>
        <p:nvSpPr>
          <p:cNvPr id="13" name="Text 11">
            <a:extLst xmlns:a="http://schemas.openxmlformats.org/drawingml/2006/main">
              <a:ext uri="{FF2B5EF4-FFF2-40B4-BE49-F238E27FC236}">
                <a16:creationId xmlns:a16="http://schemas.microsoft.com/office/drawing/2014/main" id="{E4BA2A99-1CD2-4B91-B252-0DE7E8D07818}"/>
              </a:ext>
            </a:extLst>
          </p:cNvPr>
          <p:cNvSpPr>
            <a:spLocks xmlns:a="http://schemas.openxmlformats.org/drawingml/2006/main" noGrp="1"/>
          </p:cNvSpPr>
          <p:nvPr/>
        </p:nvSpPr>
        <p:spPr>
          <a:xfrm xmlns:a="http://schemas.openxmlformats.org/drawingml/2006/main">
            <a:off x="6217920" y="3493008"/>
            <a:ext cx="2286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Approach 3</a:t>
            </a:r>
            <a:endParaRPr sz="1200"/>
          </a:p>
        </p:txBody>
      </p:sp>
      <p:sp>
        <p:nvSpPr>
          <p:cNvPr id="14" name="Text 12">
            <a:extLst xmlns:a="http://schemas.openxmlformats.org/drawingml/2006/main">
              <a:ext uri="{FF2B5EF4-FFF2-40B4-BE49-F238E27FC236}">
                <a16:creationId xmlns:a16="http://schemas.microsoft.com/office/drawing/2014/main" id="{2CB2F5B0-A8B2-45A4-A0BD-2EADA9299B93}"/>
              </a:ext>
            </a:extLst>
          </p:cNvPr>
          <p:cNvSpPr>
            <a:spLocks xmlns:a="http://schemas.openxmlformats.org/drawingml/2006/main" noGrp="1"/>
          </p:cNvSpPr>
          <p:nvPr/>
        </p:nvSpPr>
        <p:spPr>
          <a:xfrm xmlns:a="http://schemas.openxmlformats.org/drawingml/2006/main">
            <a:off x="6217920" y="3767328"/>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Cambria"/>
                <a:ea typeface="Cambria"/>
                <a:cs typeface="Cambria"/>
              </a:rPr>
              <a:t>Qwen3-ASR 0.6B</a:t>
            </a:r>
            <a:endParaRPr sz="2000"/>
          </a:p>
        </p:txBody>
      </p:sp>
    </p:spTree>
    <p:extLst>
      <p:ext uri="{BB962C8B-B14F-4D97-AF65-F5344CB8AC3E}">
        <p14:creationId xmlns:p14="http://schemas.microsoft.com/office/powerpoint/2010/main" val="7525024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5B1B402-CD8F-476A-84FB-3EBA610B10D8}"/>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The problem: transcribing Khmer speech</a:t>
            </a:r>
            <a:endParaRPr sz="3000"/>
          </a:p>
        </p:txBody>
      </p:sp>
      <p:sp>
        <p:nvSpPr>
          <p:cNvPr id="4" name="flow 1">
            <a:extLst xmlns:a="http://schemas.openxmlformats.org/drawingml/2006/main">
              <a:ext uri="{FF2B5EF4-FFF2-40B4-BE49-F238E27FC236}">
                <a16:creationId xmlns:a16="http://schemas.microsoft.com/office/drawing/2014/main" id="{BA8858BA-795D-4EDE-A82D-4C166F5686CB}"/>
              </a:ext>
            </a:extLst>
          </p:cNvPr>
          <p:cNvSpPr>
            <a:spLocks xmlns:a="http://schemas.openxmlformats.org/drawingml/2006/main" noGrp="1"/>
          </p:cNvSpPr>
          <p:nvPr/>
        </p:nvSpPr>
        <p:spPr>
          <a:xfrm xmlns:a="http://schemas.openxmlformats.org/drawingml/2006/main">
            <a:off x="457200" y="1234440"/>
            <a:ext cx="2468880" cy="1234440"/>
          </a:xfrm>
          <a:prstGeom xmlns:a="http://schemas.openxmlformats.org/drawingml/2006/main" prst="roundRect">
            <a:avLst>
              <a:gd name="adj" fmla="val 5926"/>
            </a:avLst>
          </a:prstGeom>
          <a:solidFill xmlns:a="http://schemas.openxmlformats.org/drawingml/2006/main">
            <a:srgbClr val="5C6B7A"/>
          </a:solidFill>
          <a:ln xmlns:a="http://schemas.openxmlformats.org/drawingml/2006/main" w="12700">
            <a:solidFill>
              <a:srgbClr val="5C6B7A"/>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5" name="Text 2">
            <a:extLst xmlns:a="http://schemas.openxmlformats.org/drawingml/2006/main">
              <a:ext uri="{FF2B5EF4-FFF2-40B4-BE49-F238E27FC236}">
                <a16:creationId xmlns:a16="http://schemas.microsoft.com/office/drawing/2014/main" id="{DC4EDA4C-6E34-425D-A32D-B77FBA1D4C37}"/>
              </a:ext>
            </a:extLst>
          </p:cNvPr>
          <p:cNvSpPr>
            <a:spLocks xmlns:a="http://schemas.openxmlformats.org/drawingml/2006/main" noGrp="1"/>
          </p:cNvSpPr>
          <p:nvPr/>
        </p:nvSpPr>
        <p:spPr>
          <a:xfrm xmlns:a="http://schemas.openxmlformats.org/drawingml/2006/main">
            <a:off x="640080" y="1417320"/>
            <a:ext cx="21031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Cambria"/>
                <a:ea typeface="Cambria"/>
                <a:cs typeface="Cambria"/>
              </a:rPr>
              <a:t>Speech audio</a:t>
            </a:r>
            <a:endParaRPr sz="2000"/>
          </a:p>
        </p:txBody>
      </p:sp>
      <p:sp>
        <p:nvSpPr>
          <p:cNvPr id="6" name="Text 3">
            <a:extLst xmlns:a="http://schemas.openxmlformats.org/drawingml/2006/main">
              <a:ext uri="{FF2B5EF4-FFF2-40B4-BE49-F238E27FC236}">
                <a16:creationId xmlns:a16="http://schemas.microsoft.com/office/drawing/2014/main" id="{9053D451-645D-4F1F-84A6-BC8F5B0A0018}"/>
              </a:ext>
            </a:extLst>
          </p:cNvPr>
          <p:cNvSpPr>
            <a:spLocks xmlns:a="http://schemas.openxmlformats.org/drawingml/2006/main" noGrp="1"/>
          </p:cNvSpPr>
          <p:nvPr/>
        </p:nvSpPr>
        <p:spPr>
          <a:xfrm xmlns:a="http://schemas.openxmlformats.org/drawingml/2006/main">
            <a:off x="640080" y="192024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Khmer speech clips</a:t>
            </a:r>
            <a:endParaRPr sz="1400"/>
          </a:p>
        </p:txBody>
      </p:sp>
      <p:sp>
        <p:nvSpPr>
          <p:cNvPr id="7" name="Text 4">
            <a:extLst xmlns:a="http://schemas.openxmlformats.org/drawingml/2006/main">
              <a:ext uri="{FF2B5EF4-FFF2-40B4-BE49-F238E27FC236}">
                <a16:creationId xmlns:a16="http://schemas.microsoft.com/office/drawing/2014/main" id="{44A4D1F0-D3B6-4F89-A5A7-F2F3AB5C5271}"/>
              </a:ext>
            </a:extLst>
          </p:cNvPr>
          <p:cNvSpPr>
            <a:spLocks xmlns:a="http://schemas.openxmlformats.org/drawingml/2006/main" noGrp="1"/>
          </p:cNvSpPr>
          <p:nvPr/>
        </p:nvSpPr>
        <p:spPr>
          <a:xfrm xmlns:a="http://schemas.openxmlformats.org/drawingml/2006/main">
            <a:off x="2944368" y="1600200"/>
            <a:ext cx="3474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a:solidFill>
                  <a:srgbClr val="1B2A41"/>
                </a:solidFill>
                <a:latin typeface="Calibri"/>
                <a:ea typeface="Calibri"/>
                <a:cs typeface="Calibri"/>
              </a:rPr>
              <a:t>→</a:t>
            </a:r>
            <a:endParaRPr sz="2400"/>
          </a:p>
        </p:txBody>
      </p:sp>
      <p:sp>
        <p:nvSpPr>
          <p:cNvPr id="8" name="flow 2">
            <a:extLst xmlns:a="http://schemas.openxmlformats.org/drawingml/2006/main">
              <a:ext uri="{FF2B5EF4-FFF2-40B4-BE49-F238E27FC236}">
                <a16:creationId xmlns:a16="http://schemas.microsoft.com/office/drawing/2014/main" id="{0D92A639-9445-4A7C-84BD-D1BBFCC8775B}"/>
              </a:ext>
            </a:extLst>
          </p:cNvPr>
          <p:cNvSpPr>
            <a:spLocks xmlns:a="http://schemas.openxmlformats.org/drawingml/2006/main" noGrp="1"/>
          </p:cNvSpPr>
          <p:nvPr/>
        </p:nvSpPr>
        <p:spPr>
          <a:xfrm xmlns:a="http://schemas.openxmlformats.org/drawingml/2006/main">
            <a:off x="3291840" y="1234440"/>
            <a:ext cx="2468880" cy="1234440"/>
          </a:xfrm>
          <a:prstGeom xmlns:a="http://schemas.openxmlformats.org/drawingml/2006/main" prst="roundRect">
            <a:avLst>
              <a:gd name="adj" fmla="val 5926"/>
            </a:avLst>
          </a:prstGeom>
          <a:solidFill xmlns:a="http://schemas.openxmlformats.org/drawingml/2006/main">
            <a:srgbClr val="1B4965"/>
          </a:solidFill>
          <a:ln xmlns:a="http://schemas.openxmlformats.org/drawingml/2006/main" w="12700">
            <a:solidFill>
              <a:srgbClr val="1B496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9" name="Text 6">
            <a:extLst xmlns:a="http://schemas.openxmlformats.org/drawingml/2006/main">
              <a:ext uri="{FF2B5EF4-FFF2-40B4-BE49-F238E27FC236}">
                <a16:creationId xmlns:a16="http://schemas.microsoft.com/office/drawing/2014/main" id="{215187A4-1391-4ACD-BD5D-7EF5D97DC849}"/>
              </a:ext>
            </a:extLst>
          </p:cNvPr>
          <p:cNvSpPr>
            <a:spLocks xmlns:a="http://schemas.openxmlformats.org/drawingml/2006/main" noGrp="1"/>
          </p:cNvSpPr>
          <p:nvPr/>
        </p:nvSpPr>
        <p:spPr>
          <a:xfrm xmlns:a="http://schemas.openxmlformats.org/drawingml/2006/main">
            <a:off x="3474720" y="1417320"/>
            <a:ext cx="21031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Cambria"/>
                <a:ea typeface="Cambria"/>
                <a:cs typeface="Cambria"/>
              </a:rPr>
              <a:t>ASR model</a:t>
            </a:r>
            <a:endParaRPr sz="2000"/>
          </a:p>
        </p:txBody>
      </p:sp>
      <p:sp>
        <p:nvSpPr>
          <p:cNvPr id="10" name="Text 7">
            <a:extLst xmlns:a="http://schemas.openxmlformats.org/drawingml/2006/main">
              <a:ext uri="{FF2B5EF4-FFF2-40B4-BE49-F238E27FC236}">
                <a16:creationId xmlns:a16="http://schemas.microsoft.com/office/drawing/2014/main" id="{84A16BE5-9D31-4747-89F4-E0EE3D17919F}"/>
              </a:ext>
            </a:extLst>
          </p:cNvPr>
          <p:cNvSpPr>
            <a:spLocks xmlns:a="http://schemas.openxmlformats.org/drawingml/2006/main" noGrp="1"/>
          </p:cNvSpPr>
          <p:nvPr/>
        </p:nvSpPr>
        <p:spPr>
          <a:xfrm xmlns:a="http://schemas.openxmlformats.org/drawingml/2006/main">
            <a:off x="3474720" y="192024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Pretrained, then adapted</a:t>
            </a:r>
            <a:endParaRPr sz="1400"/>
          </a:p>
        </p:txBody>
      </p:sp>
      <p:sp>
        <p:nvSpPr>
          <p:cNvPr id="11" name="Text 8">
            <a:extLst xmlns:a="http://schemas.openxmlformats.org/drawingml/2006/main">
              <a:ext uri="{FF2B5EF4-FFF2-40B4-BE49-F238E27FC236}">
                <a16:creationId xmlns:a16="http://schemas.microsoft.com/office/drawing/2014/main" id="{5E54A7E9-CCA1-48F7-85E9-C1C79A2431EC}"/>
              </a:ext>
            </a:extLst>
          </p:cNvPr>
          <p:cNvSpPr>
            <a:spLocks xmlns:a="http://schemas.openxmlformats.org/drawingml/2006/main" noGrp="1"/>
          </p:cNvSpPr>
          <p:nvPr/>
        </p:nvSpPr>
        <p:spPr>
          <a:xfrm xmlns:a="http://schemas.openxmlformats.org/drawingml/2006/main">
            <a:off x="5779008" y="1600200"/>
            <a:ext cx="3474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a:solidFill>
                  <a:srgbClr val="1B2A41"/>
                </a:solidFill>
                <a:latin typeface="Calibri"/>
                <a:ea typeface="Calibri"/>
                <a:cs typeface="Calibri"/>
              </a:rPr>
              <a:t>→</a:t>
            </a:r>
            <a:endParaRPr sz="2400"/>
          </a:p>
        </p:txBody>
      </p:sp>
      <p:sp>
        <p:nvSpPr>
          <p:cNvPr id="12" name="flow 3">
            <a:extLst xmlns:a="http://schemas.openxmlformats.org/drawingml/2006/main">
              <a:ext uri="{FF2B5EF4-FFF2-40B4-BE49-F238E27FC236}">
                <a16:creationId xmlns:a16="http://schemas.microsoft.com/office/drawing/2014/main" id="{0B138E83-DDEE-450A-9153-6013583A392D}"/>
              </a:ext>
            </a:extLst>
          </p:cNvPr>
          <p:cNvSpPr>
            <a:spLocks xmlns:a="http://schemas.openxmlformats.org/drawingml/2006/main" noGrp="1"/>
          </p:cNvSpPr>
          <p:nvPr/>
        </p:nvSpPr>
        <p:spPr>
          <a:xfrm xmlns:a="http://schemas.openxmlformats.org/drawingml/2006/main">
            <a:off x="6126480" y="1234440"/>
            <a:ext cx="2468880" cy="1234440"/>
          </a:xfrm>
          <a:prstGeom xmlns:a="http://schemas.openxmlformats.org/drawingml/2006/main" prst="roundRect">
            <a:avLst>
              <a:gd name="adj" fmla="val 5926"/>
            </a:avLst>
          </a:prstGeom>
          <a:solidFill xmlns:a="http://schemas.openxmlformats.org/drawingml/2006/main">
            <a:srgbClr val="2A9D8F"/>
          </a:solidFill>
          <a:ln xmlns:a="http://schemas.openxmlformats.org/drawingml/2006/main" w="12700">
            <a:solidFill>
              <a:srgbClr val="2A9D8F"/>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3" name="Text 10">
            <a:extLst xmlns:a="http://schemas.openxmlformats.org/drawingml/2006/main">
              <a:ext uri="{FF2B5EF4-FFF2-40B4-BE49-F238E27FC236}">
                <a16:creationId xmlns:a16="http://schemas.microsoft.com/office/drawing/2014/main" id="{0B3B7F51-0324-4A3D-A926-E46C7220F5E7}"/>
              </a:ext>
            </a:extLst>
          </p:cNvPr>
          <p:cNvSpPr>
            <a:spLocks xmlns:a="http://schemas.openxmlformats.org/drawingml/2006/main" noGrp="1"/>
          </p:cNvSpPr>
          <p:nvPr/>
        </p:nvSpPr>
        <p:spPr>
          <a:xfrm xmlns:a="http://schemas.openxmlformats.org/drawingml/2006/main">
            <a:off x="6309360" y="1417320"/>
            <a:ext cx="21031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Cambria"/>
                <a:ea typeface="Cambria"/>
                <a:cs typeface="Cambria"/>
              </a:rPr>
              <a:t>Khmer text</a:t>
            </a:r>
            <a:endParaRPr sz="2000"/>
          </a:p>
        </p:txBody>
      </p:sp>
      <p:sp>
        <p:nvSpPr>
          <p:cNvPr id="14" name="Text 11">
            <a:extLst xmlns:a="http://schemas.openxmlformats.org/drawingml/2006/main">
              <a:ext uri="{FF2B5EF4-FFF2-40B4-BE49-F238E27FC236}">
                <a16:creationId xmlns:a16="http://schemas.microsoft.com/office/drawing/2014/main" id="{45CCD607-F023-4FC3-ACCF-2913C0D42955}"/>
              </a:ext>
            </a:extLst>
          </p:cNvPr>
          <p:cNvSpPr>
            <a:spLocks xmlns:a="http://schemas.openxmlformats.org/drawingml/2006/main" noGrp="1"/>
          </p:cNvSpPr>
          <p:nvPr/>
        </p:nvSpPr>
        <p:spPr>
          <a:xfrm xmlns:a="http://schemas.openxmlformats.org/drawingml/2006/main">
            <a:off x="6309360" y="192024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Scored against references</a:t>
            </a:r>
            <a:endParaRPr sz="1400"/>
          </a:p>
        </p:txBody>
      </p:sp>
      <p:sp>
        <p:nvSpPr>
          <p:cNvPr id="15" name="question card">
            <a:extLst xmlns:a="http://schemas.openxmlformats.org/drawingml/2006/main">
              <a:ext uri="{FF2B5EF4-FFF2-40B4-BE49-F238E27FC236}">
                <a16:creationId xmlns:a16="http://schemas.microsoft.com/office/drawing/2014/main" id="{9CB46DE5-B7EA-4F36-A8E7-7EFB27E11AC1}"/>
              </a:ext>
            </a:extLst>
          </p:cNvPr>
          <p:cNvSpPr>
            <a:spLocks xmlns:a="http://schemas.openxmlformats.org/drawingml/2006/main" noGrp="1"/>
          </p:cNvSpPr>
          <p:nvPr/>
        </p:nvSpPr>
        <p:spPr>
          <a:xfrm xmlns:a="http://schemas.openxmlformats.org/drawingml/2006/main">
            <a:off x="457200" y="2743200"/>
            <a:ext cx="8229600" cy="1783080"/>
          </a:xfrm>
          <a:prstGeom xmlns:a="http://schemas.openxmlformats.org/drawingml/2006/main" prst="roundRect">
            <a:avLst>
              <a:gd name="adj" fmla="val 410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6" name="Text 13">
            <a:extLst xmlns:a="http://schemas.openxmlformats.org/drawingml/2006/main">
              <a:ext uri="{FF2B5EF4-FFF2-40B4-BE49-F238E27FC236}">
                <a16:creationId xmlns:a16="http://schemas.microsoft.com/office/drawing/2014/main" id="{98A99823-9FEF-444B-B36B-29015520B7F6}"/>
              </a:ext>
            </a:extLst>
          </p:cNvPr>
          <p:cNvSpPr>
            <a:spLocks xmlns:a="http://schemas.openxmlformats.org/drawingml/2006/main" noGrp="1"/>
          </p:cNvSpPr>
          <p:nvPr/>
        </p:nvSpPr>
        <p:spPr>
          <a:xfrm xmlns:a="http://schemas.openxmlformats.org/drawingml/2006/main">
            <a:off x="731520" y="2926080"/>
            <a:ext cx="7680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800"/>
              </a:spcAft>
              <a:buNone/>
            </a:pPr>
            <a:r>
              <a:rPr sz="1600" b="1">
                <a:solidFill>
                  <a:srgbClr val="1B4965"/>
                </a:solidFill>
                <a:latin typeface="Calibri"/>
                <a:ea typeface="Calibri"/>
                <a:cs typeface="Calibri"/>
              </a:rPr>
              <a:t>Project question</a:t>
            </a:r>
            <a:endParaRPr sz="1600"/>
          </a:p>
          <a:p xmlns:a="http://schemas.openxmlformats.org/drawingml/2006/main">
            <a:pPr marL="0" indent="0">
              <a:spcAft>
                <a:spcPts val="800"/>
              </a:spcAft>
              <a:buNone/>
            </a:pPr>
            <a:r>
              <a:rPr sz="1600">
                <a:solidFill>
                  <a:schemeClr val="tx1"/>
                </a:solidFill>
                <a:latin typeface="Calibri"/>
                <a:ea typeface="Calibri"/>
                <a:cs typeface="Calibri"/>
              </a:rPr>
              <a:t>How do three ways of adapting a pretrained model perform on the same held-out Khmer test clips?</a:t>
            </a:r>
            <a:endParaRPr sz="1600"/>
          </a:p>
          <a:p xmlns:a="http://schemas.openxmlformats.org/drawingml/2006/main">
            <a:pPr marL="0" indent="0">
              <a:spcAft>
                <a:spcPts val="800"/>
              </a:spcAft>
              <a:buNone/>
            </a:pPr>
            <a:r>
              <a:rPr sz="1600">
                <a:solidFill>
                  <a:schemeClr val="tx1"/>
                </a:solidFill>
                <a:latin typeface="Calibri"/>
                <a:ea typeface="Calibri"/>
                <a:cs typeface="Calibri"/>
              </a:rPr>
              <a:t>Khmer spaces often separate phrases, so word-level scoring uses ICU Khmer word breaks.</a:t>
            </a:r>
            <a:endParaRPr sz="1600"/>
          </a:p>
        </p:txBody>
      </p:sp>
      <p:sp>
        <p:nvSpPr>
          <p:cNvPr id="25" name="Slide Number Placeholder 0">
            <a:extLst xmlns:a="http://schemas.openxmlformats.org/drawingml/2006/main">
              <a:ext uri="{FF2B5EF4-FFF2-40B4-BE49-F238E27FC236}">
                <a16:creationId xmlns:a16="http://schemas.microsoft.com/office/drawing/2014/main" id="{9D3B1E17-4106-4C13-80CE-DC9CA30DF972}"/>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51052988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4C3EB5-AE61-45B2-A8BC-80EA1A9A1B66}"/>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Data: FLEURS Khmer</a:t>
            </a:r>
            <a:endParaRPr sz="3000"/>
          </a:p>
        </p:txBody>
      </p:sp>
      <p:sp>
        <p:nvSpPr>
          <p:cNvPr id="4" name="stat 1">
            <a:extLst xmlns:a="http://schemas.openxmlformats.org/drawingml/2006/main">
              <a:ext uri="{FF2B5EF4-FFF2-40B4-BE49-F238E27FC236}">
                <a16:creationId xmlns:a16="http://schemas.microsoft.com/office/drawing/2014/main" id="{26822102-7E5C-4672-8ED3-B40515DA0541}"/>
              </a:ext>
            </a:extLst>
          </p:cNvPr>
          <p:cNvSpPr>
            <a:spLocks xmlns:a="http://schemas.openxmlformats.org/drawingml/2006/main" noGrp="1"/>
          </p:cNvSpPr>
          <p:nvPr/>
        </p:nvSpPr>
        <p:spPr>
          <a:xfrm xmlns:a="http://schemas.openxmlformats.org/drawingml/2006/main">
            <a:off x="457200" y="1188720"/>
            <a:ext cx="2468880" cy="1920240"/>
          </a:xfrm>
          <a:prstGeom xmlns:a="http://schemas.openxmlformats.org/drawingml/2006/main" prst="roundRect">
            <a:avLst>
              <a:gd name="adj" fmla="val 3810"/>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5" name="Text 2">
            <a:extLst xmlns:a="http://schemas.openxmlformats.org/drawingml/2006/main">
              <a:ext uri="{FF2B5EF4-FFF2-40B4-BE49-F238E27FC236}">
                <a16:creationId xmlns:a16="http://schemas.microsoft.com/office/drawing/2014/main" id="{8950B3E5-2916-4742-BA6A-7D229874E98F}"/>
              </a:ext>
            </a:extLst>
          </p:cNvPr>
          <p:cNvSpPr>
            <a:spLocks xmlns:a="http://schemas.openxmlformats.org/drawingml/2006/main" noGrp="1"/>
          </p:cNvSpPr>
          <p:nvPr/>
        </p:nvSpPr>
        <p:spPr>
          <a:xfrm xmlns:a="http://schemas.openxmlformats.org/drawingml/2006/main">
            <a:off x="640080" y="1280160"/>
            <a:ext cx="2103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5C6B7A"/>
                </a:solidFill>
                <a:latin typeface="Cambria"/>
                <a:ea typeface="Cambria"/>
                <a:cs typeface="Cambria"/>
              </a:rPr>
              <a:t>531</a:t>
            </a:r>
            <a:endParaRPr sz="5400"/>
          </a:p>
        </p:txBody>
      </p:sp>
      <p:sp>
        <p:nvSpPr>
          <p:cNvPr id="6" name="Text 3">
            <a:extLst xmlns:a="http://schemas.openxmlformats.org/drawingml/2006/main">
              <a:ext uri="{FF2B5EF4-FFF2-40B4-BE49-F238E27FC236}">
                <a16:creationId xmlns:a16="http://schemas.microsoft.com/office/drawing/2014/main" id="{3BCD7DB1-86EC-462A-AC95-B2E06D2F143F}"/>
              </a:ext>
            </a:extLst>
          </p:cNvPr>
          <p:cNvSpPr>
            <a:spLocks xmlns:a="http://schemas.openxmlformats.org/drawingml/2006/main" noGrp="1"/>
          </p:cNvSpPr>
          <p:nvPr/>
        </p:nvSpPr>
        <p:spPr>
          <a:xfrm xmlns:a="http://schemas.openxmlformats.org/drawingml/2006/main">
            <a:off x="640080" y="2103120"/>
            <a:ext cx="2103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training clips</a:t>
            </a:r>
            <a:endParaRPr sz="1800"/>
          </a:p>
        </p:txBody>
      </p:sp>
      <p:sp>
        <p:nvSpPr>
          <p:cNvPr id="7" name="Text 4">
            <a:extLst xmlns:a="http://schemas.openxmlformats.org/drawingml/2006/main">
              <a:ext uri="{FF2B5EF4-FFF2-40B4-BE49-F238E27FC236}">
                <a16:creationId xmlns:a16="http://schemas.microsoft.com/office/drawing/2014/main" id="{28BE37AD-D8E4-46E6-989F-54D4931CF5E2}"/>
              </a:ext>
            </a:extLst>
          </p:cNvPr>
          <p:cNvSpPr>
            <a:spLocks xmlns:a="http://schemas.openxmlformats.org/drawingml/2006/main" noGrp="1"/>
          </p:cNvSpPr>
          <p:nvPr/>
        </p:nvSpPr>
        <p:spPr>
          <a:xfrm xmlns:a="http://schemas.openxmlformats.org/drawingml/2006/main">
            <a:off x="640080" y="2468880"/>
            <a:ext cx="2103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Whisper-Tiny and MMS-1B</a:t>
            </a:r>
            <a:endParaRPr sz="1400"/>
          </a:p>
        </p:txBody>
      </p:sp>
      <p:sp>
        <p:nvSpPr>
          <p:cNvPr id="8" name="stat 2">
            <a:extLst xmlns:a="http://schemas.openxmlformats.org/drawingml/2006/main">
              <a:ext uri="{FF2B5EF4-FFF2-40B4-BE49-F238E27FC236}">
                <a16:creationId xmlns:a16="http://schemas.microsoft.com/office/drawing/2014/main" id="{E7D98D26-96F0-44BD-AC33-9C4FC5118DF1}"/>
              </a:ext>
            </a:extLst>
          </p:cNvPr>
          <p:cNvSpPr>
            <a:spLocks xmlns:a="http://schemas.openxmlformats.org/drawingml/2006/main" noGrp="1"/>
          </p:cNvSpPr>
          <p:nvPr/>
        </p:nvSpPr>
        <p:spPr>
          <a:xfrm xmlns:a="http://schemas.openxmlformats.org/drawingml/2006/main">
            <a:off x="3291840" y="1188720"/>
            <a:ext cx="2468880" cy="1920240"/>
          </a:xfrm>
          <a:prstGeom xmlns:a="http://schemas.openxmlformats.org/drawingml/2006/main" prst="roundRect">
            <a:avLst>
              <a:gd name="adj" fmla="val 3810"/>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9" name="Text 6">
            <a:extLst xmlns:a="http://schemas.openxmlformats.org/drawingml/2006/main">
              <a:ext uri="{FF2B5EF4-FFF2-40B4-BE49-F238E27FC236}">
                <a16:creationId xmlns:a16="http://schemas.microsoft.com/office/drawing/2014/main" id="{9206F030-F4BC-44A9-BA11-19CA8FA3AF47}"/>
              </a:ext>
            </a:extLst>
          </p:cNvPr>
          <p:cNvSpPr>
            <a:spLocks xmlns:a="http://schemas.openxmlformats.org/drawingml/2006/main" noGrp="1"/>
          </p:cNvSpPr>
          <p:nvPr/>
        </p:nvSpPr>
        <p:spPr>
          <a:xfrm xmlns:a="http://schemas.openxmlformats.org/drawingml/2006/main">
            <a:off x="3474720" y="1280160"/>
            <a:ext cx="2103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B7740F"/>
                </a:solidFill>
                <a:latin typeface="Cambria"/>
                <a:ea typeface="Cambria"/>
                <a:cs typeface="Cambria"/>
              </a:rPr>
              <a:t>124</a:t>
            </a:r>
            <a:endParaRPr sz="5400"/>
          </a:p>
        </p:txBody>
      </p:sp>
      <p:sp>
        <p:nvSpPr>
          <p:cNvPr id="10" name="Text 7">
            <a:extLst xmlns:a="http://schemas.openxmlformats.org/drawingml/2006/main">
              <a:ext uri="{FF2B5EF4-FFF2-40B4-BE49-F238E27FC236}">
                <a16:creationId xmlns:a16="http://schemas.microsoft.com/office/drawing/2014/main" id="{0CA8AA2B-22BF-4CCA-AC67-9FC7F24A48CC}"/>
              </a:ext>
            </a:extLst>
          </p:cNvPr>
          <p:cNvSpPr>
            <a:spLocks xmlns:a="http://schemas.openxmlformats.org/drawingml/2006/main" noGrp="1"/>
          </p:cNvSpPr>
          <p:nvPr/>
        </p:nvSpPr>
        <p:spPr>
          <a:xfrm xmlns:a="http://schemas.openxmlformats.org/drawingml/2006/main">
            <a:off x="3474720" y="2103120"/>
            <a:ext cx="2103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validation clips</a:t>
            </a:r>
            <a:endParaRPr sz="1800"/>
          </a:p>
        </p:txBody>
      </p:sp>
      <p:sp>
        <p:nvSpPr>
          <p:cNvPr id="11" name="Text 8">
            <a:extLst xmlns:a="http://schemas.openxmlformats.org/drawingml/2006/main">
              <a:ext uri="{FF2B5EF4-FFF2-40B4-BE49-F238E27FC236}">
                <a16:creationId xmlns:a16="http://schemas.microsoft.com/office/drawing/2014/main" id="{ECA54F20-8301-4DA5-AF57-194345832F41}"/>
              </a:ext>
            </a:extLst>
          </p:cNvPr>
          <p:cNvSpPr>
            <a:spLocks xmlns:a="http://schemas.openxmlformats.org/drawingml/2006/main" noGrp="1"/>
          </p:cNvSpPr>
          <p:nvPr/>
        </p:nvSpPr>
        <p:spPr>
          <a:xfrm xmlns:a="http://schemas.openxmlformats.org/drawingml/2006/main">
            <a:off x="3474720" y="2468880"/>
            <a:ext cx="2103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Separate set; Qwen's selected epoch</a:t>
            </a:r>
            <a:endParaRPr sz="1400"/>
          </a:p>
        </p:txBody>
      </p:sp>
      <p:sp>
        <p:nvSpPr>
          <p:cNvPr id="12" name="stat 3">
            <a:extLst xmlns:a="http://schemas.openxmlformats.org/drawingml/2006/main">
              <a:ext uri="{FF2B5EF4-FFF2-40B4-BE49-F238E27FC236}">
                <a16:creationId xmlns:a16="http://schemas.microsoft.com/office/drawing/2014/main" id="{80943D4A-683E-4A11-8D79-0EE8CFDD45BA}"/>
              </a:ext>
            </a:extLst>
          </p:cNvPr>
          <p:cNvSpPr>
            <a:spLocks xmlns:a="http://schemas.openxmlformats.org/drawingml/2006/main" noGrp="1"/>
          </p:cNvSpPr>
          <p:nvPr/>
        </p:nvSpPr>
        <p:spPr>
          <a:xfrm xmlns:a="http://schemas.openxmlformats.org/drawingml/2006/main">
            <a:off x="6126480" y="1188720"/>
            <a:ext cx="2468880" cy="1920240"/>
          </a:xfrm>
          <a:prstGeom xmlns:a="http://schemas.openxmlformats.org/drawingml/2006/main" prst="roundRect">
            <a:avLst>
              <a:gd name="adj" fmla="val 3810"/>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3" name="Text 10">
            <a:extLst xmlns:a="http://schemas.openxmlformats.org/drawingml/2006/main">
              <a:ext uri="{FF2B5EF4-FFF2-40B4-BE49-F238E27FC236}">
                <a16:creationId xmlns:a16="http://schemas.microsoft.com/office/drawing/2014/main" id="{BCC9D9F4-D721-4628-830D-D5A5738E5424}"/>
              </a:ext>
            </a:extLst>
          </p:cNvPr>
          <p:cNvSpPr>
            <a:spLocks xmlns:a="http://schemas.openxmlformats.org/drawingml/2006/main" noGrp="1"/>
          </p:cNvSpPr>
          <p:nvPr/>
        </p:nvSpPr>
        <p:spPr>
          <a:xfrm xmlns:a="http://schemas.openxmlformats.org/drawingml/2006/main">
            <a:off x="6309360" y="1280160"/>
            <a:ext cx="2103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1B4965"/>
                </a:solidFill>
                <a:latin typeface="Cambria"/>
                <a:ea typeface="Cambria"/>
                <a:cs typeface="Cambria"/>
              </a:rPr>
              <a:t>114</a:t>
            </a:r>
            <a:endParaRPr sz="5400"/>
          </a:p>
        </p:txBody>
      </p:sp>
      <p:sp>
        <p:nvSpPr>
          <p:cNvPr id="14" name="Text 11">
            <a:extLst xmlns:a="http://schemas.openxmlformats.org/drawingml/2006/main">
              <a:ext uri="{FF2B5EF4-FFF2-40B4-BE49-F238E27FC236}">
                <a16:creationId xmlns:a16="http://schemas.microsoft.com/office/drawing/2014/main" id="{92B9D990-3BA4-415F-BC92-6B9EDE57EFF7}"/>
              </a:ext>
            </a:extLst>
          </p:cNvPr>
          <p:cNvSpPr>
            <a:spLocks xmlns:a="http://schemas.openxmlformats.org/drawingml/2006/main" noGrp="1"/>
          </p:cNvSpPr>
          <p:nvPr/>
        </p:nvSpPr>
        <p:spPr>
          <a:xfrm xmlns:a="http://schemas.openxmlformats.org/drawingml/2006/main">
            <a:off x="6309360" y="2103120"/>
            <a:ext cx="2103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test clips</a:t>
            </a:r>
            <a:endParaRPr sz="1800"/>
          </a:p>
        </p:txBody>
      </p:sp>
      <p:sp>
        <p:nvSpPr>
          <p:cNvPr id="15" name="Text 12">
            <a:extLst xmlns:a="http://schemas.openxmlformats.org/drawingml/2006/main">
              <a:ext uri="{FF2B5EF4-FFF2-40B4-BE49-F238E27FC236}">
                <a16:creationId xmlns:a16="http://schemas.microsoft.com/office/drawing/2014/main" id="{276DFF5B-A77C-4A79-8995-F26CB8AF7E62}"/>
              </a:ext>
            </a:extLst>
          </p:cNvPr>
          <p:cNvSpPr>
            <a:spLocks xmlns:a="http://schemas.openxmlformats.org/drawingml/2006/main" noGrp="1"/>
          </p:cNvSpPr>
          <p:nvPr/>
        </p:nvSpPr>
        <p:spPr>
          <a:xfrm xmlns:a="http://schemas.openxmlformats.org/drawingml/2006/main">
            <a:off x="6309360" y="2468880"/>
            <a:ext cx="2103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Held-out; same for all three models</a:t>
            </a:r>
            <a:endParaRPr sz="1400"/>
          </a:p>
        </p:txBody>
      </p:sp>
      <p:sp>
        <p:nvSpPr>
          <p:cNvPr id="16" name="qwen data card">
            <a:extLst xmlns:a="http://schemas.openxmlformats.org/drawingml/2006/main">
              <a:ext uri="{FF2B5EF4-FFF2-40B4-BE49-F238E27FC236}">
                <a16:creationId xmlns:a16="http://schemas.microsoft.com/office/drawing/2014/main" id="{B62F41B9-9001-4F46-8884-6209655FB618}"/>
              </a:ext>
            </a:extLst>
          </p:cNvPr>
          <p:cNvSpPr>
            <a:spLocks xmlns:a="http://schemas.openxmlformats.org/drawingml/2006/main" noGrp="1"/>
          </p:cNvSpPr>
          <p:nvPr/>
        </p:nvSpPr>
        <p:spPr>
          <a:xfrm xmlns:a="http://schemas.openxmlformats.org/drawingml/2006/main">
            <a:off x="457200" y="3383280"/>
            <a:ext cx="8229600" cy="1234440"/>
          </a:xfrm>
          <a:prstGeom xmlns:a="http://schemas.openxmlformats.org/drawingml/2006/main" prst="roundRect">
            <a:avLst>
              <a:gd name="adj" fmla="val 5926"/>
            </a:avLst>
          </a:prstGeom>
          <a:solidFill xmlns:a="http://schemas.openxmlformats.org/drawingml/2006/main">
            <a:srgbClr val="2A9D8F"/>
          </a:solidFill>
          <a:ln xmlns:a="http://schemas.openxmlformats.org/drawingml/2006/main" w="12700">
            <a:solidFill>
              <a:srgbClr val="2A9D8F"/>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7" name="Text 14">
            <a:extLst xmlns:a="http://schemas.openxmlformats.org/drawingml/2006/main">
              <a:ext uri="{FF2B5EF4-FFF2-40B4-BE49-F238E27FC236}">
                <a16:creationId xmlns:a16="http://schemas.microsoft.com/office/drawing/2014/main" id="{621A8794-DBD1-4523-A175-C3311ABE9572}"/>
              </a:ext>
            </a:extLst>
          </p:cNvPr>
          <p:cNvSpPr>
            <a:spLocks xmlns:a="http://schemas.openxmlformats.org/drawingml/2006/main" noGrp="1"/>
          </p:cNvSpPr>
          <p:nvPr/>
        </p:nvSpPr>
        <p:spPr>
          <a:xfrm xmlns:a="http://schemas.openxmlformats.org/drawingml/2006/main">
            <a:off x="731520" y="3520440"/>
            <a:ext cx="7680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FFFFFF"/>
                </a:solidFill>
                <a:latin typeface="Calibri"/>
                <a:ea typeface="Calibri"/>
                <a:cs typeface="Calibri"/>
              </a:rPr>
              <a:t>Qwen3-ASR used much more training data: </a:t>
            </a:r>
            <a:r>
              <a:rPr sz="1600">
                <a:solidFill>
                  <a:srgbClr val="FFFFFF"/>
                </a:solidFill>
                <a:latin typeface="Calibri"/>
                <a:ea typeface="Calibri"/>
                <a:cs typeface="Calibri"/>
              </a:rPr>
              <a:t>16,720 effective clips from a larger corpus.</a:t>
            </a:r>
            <a:endParaRPr sz="1600"/>
          </a:p>
        </p:txBody>
      </p:sp>
      <p:sp>
        <p:nvSpPr>
          <p:cNvPr id="18" name="Text 15">
            <a:extLst xmlns:a="http://schemas.openxmlformats.org/drawingml/2006/main">
              <a:ext uri="{FF2B5EF4-FFF2-40B4-BE49-F238E27FC236}">
                <a16:creationId xmlns:a16="http://schemas.microsoft.com/office/drawing/2014/main" id="{2F47655E-EA34-4001-AA34-874F70411E66}"/>
              </a:ext>
            </a:extLst>
          </p:cNvPr>
          <p:cNvSpPr>
            <a:spLocks xmlns:a="http://schemas.openxmlformats.org/drawingml/2006/main" noGrp="1"/>
          </p:cNvSpPr>
          <p:nvPr/>
        </p:nvSpPr>
        <p:spPr>
          <a:xfrm xmlns:a="http://schemas.openxmlformats.org/drawingml/2006/main">
            <a:off x="731520" y="4160520"/>
            <a:ext cx="7680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Validation and test are different clip sets. They are reported separately throughout.</a:t>
            </a:r>
            <a:endParaRPr sz="1400"/>
          </a:p>
        </p:txBody>
      </p:sp>
      <p:sp>
        <p:nvSpPr>
          <p:cNvPr id="25" name="Slide Number Placeholder 0">
            <a:extLst xmlns:a="http://schemas.openxmlformats.org/drawingml/2006/main">
              <a:ext uri="{FF2B5EF4-FFF2-40B4-BE49-F238E27FC236}">
                <a16:creationId xmlns:a16="http://schemas.microsoft.com/office/drawing/2014/main" id="{4DD912A5-DDDF-4DE0-86D5-217C6191412C}"/>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9624015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6247209-CFAB-480C-855A-E173B3E3EE1C}"/>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Metrics: CER and ICU Khmer WER</a:t>
            </a:r>
            <a:endParaRPr sz="3000"/>
          </a:p>
        </p:txBody>
      </p:sp>
      <p:sp>
        <p:nvSpPr>
          <p:cNvPr id="4" name="metric 1">
            <a:extLst xmlns:a="http://schemas.openxmlformats.org/drawingml/2006/main">
              <a:ext uri="{FF2B5EF4-FFF2-40B4-BE49-F238E27FC236}">
                <a16:creationId xmlns:a16="http://schemas.microsoft.com/office/drawing/2014/main" id="{5BE58009-E6F2-4D66-BBE9-BAC1E7D40C97}"/>
              </a:ext>
            </a:extLst>
          </p:cNvPr>
          <p:cNvSpPr>
            <a:spLocks xmlns:a="http://schemas.openxmlformats.org/drawingml/2006/main" noGrp="1"/>
          </p:cNvSpPr>
          <p:nvPr/>
        </p:nvSpPr>
        <p:spPr>
          <a:xfrm xmlns:a="http://schemas.openxmlformats.org/drawingml/2006/main">
            <a:off x="457200" y="1188720"/>
            <a:ext cx="4023360" cy="2103120"/>
          </a:xfrm>
          <a:prstGeom xmlns:a="http://schemas.openxmlformats.org/drawingml/2006/main" prst="roundRect">
            <a:avLst>
              <a:gd name="adj" fmla="val 3478"/>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5" name="badge CER">
            <a:extLst xmlns:a="http://schemas.openxmlformats.org/drawingml/2006/main">
              <a:ext uri="{FF2B5EF4-FFF2-40B4-BE49-F238E27FC236}">
                <a16:creationId xmlns:a16="http://schemas.microsoft.com/office/drawing/2014/main" id="{3A1221E7-F75F-4C57-8D24-BF856553850E}"/>
              </a:ext>
            </a:extLst>
          </p:cNvPr>
          <p:cNvSpPr>
            <a:spLocks xmlns:a="http://schemas.openxmlformats.org/drawingml/2006/main" noGrp="1"/>
          </p:cNvSpPr>
          <p:nvPr/>
        </p:nvSpPr>
        <p:spPr>
          <a:xfrm xmlns:a="http://schemas.openxmlformats.org/drawingml/2006/main">
            <a:off x="685800" y="1371600"/>
            <a:ext cx="1005840" cy="548640"/>
          </a:xfrm>
          <a:prstGeom xmlns:a="http://schemas.openxmlformats.org/drawingml/2006/main" prst="roundRect">
            <a:avLst>
              <a:gd name="adj" fmla="val 13333"/>
            </a:avLst>
          </a:prstGeom>
          <a:solidFill xmlns:a="http://schemas.openxmlformats.org/drawingml/2006/main">
            <a:srgbClr val="1B4965"/>
          </a:solidFill>
          <a:ln xmlns:a="http://schemas.openxmlformats.org/drawingml/2006/main" w="12700">
            <a:solidFill>
              <a:srgbClr val="1B4965"/>
            </a:solidFill>
            <a:prstDash val="solid"/>
          </a:ln>
        </p:spPr>
      </p:sp>
      <p:sp>
        <p:nvSpPr>
          <p:cNvPr id="6" name="Text 3">
            <a:extLst xmlns:a="http://schemas.openxmlformats.org/drawingml/2006/main">
              <a:ext uri="{FF2B5EF4-FFF2-40B4-BE49-F238E27FC236}">
                <a16:creationId xmlns:a16="http://schemas.microsoft.com/office/drawing/2014/main" id="{EBC23D3C-7B73-4EE2-9460-D64740A649E0}"/>
              </a:ext>
            </a:extLst>
          </p:cNvPr>
          <p:cNvSpPr>
            <a:spLocks xmlns:a="http://schemas.openxmlformats.org/drawingml/2006/main" noGrp="1"/>
          </p:cNvSpPr>
          <p:nvPr/>
        </p:nvSpPr>
        <p:spPr>
          <a:xfrm xmlns:a="http://schemas.openxmlformats.org/drawingml/2006/main">
            <a:off x="685800" y="1371600"/>
            <a:ext cx="1005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CER</a:t>
            </a:r>
            <a:endParaRPr sz="2200"/>
          </a:p>
        </p:txBody>
      </p:sp>
      <p:sp>
        <p:nvSpPr>
          <p:cNvPr id="7" name="Text 4">
            <a:extLst xmlns:a="http://schemas.openxmlformats.org/drawingml/2006/main">
              <a:ext uri="{FF2B5EF4-FFF2-40B4-BE49-F238E27FC236}">
                <a16:creationId xmlns:a16="http://schemas.microsoft.com/office/drawing/2014/main" id="{98A4313D-21A4-4D5A-A4BD-E2C204C51539}"/>
              </a:ext>
            </a:extLst>
          </p:cNvPr>
          <p:cNvSpPr>
            <a:spLocks xmlns:a="http://schemas.openxmlformats.org/drawingml/2006/main" noGrp="1"/>
          </p:cNvSpPr>
          <p:nvPr/>
        </p:nvSpPr>
        <p:spPr>
          <a:xfrm xmlns:a="http://schemas.openxmlformats.org/drawingml/2006/main">
            <a:off x="1828800" y="1371600"/>
            <a:ext cx="24688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tx1"/>
                </a:solidFill>
                <a:latin typeface="Calibri"/>
                <a:ea typeface="Calibri"/>
                <a:cs typeface="Calibri"/>
              </a:rPr>
              <a:t>Character error rate</a:t>
            </a:r>
            <a:endParaRPr sz="1600"/>
          </a:p>
        </p:txBody>
      </p:sp>
      <p:sp>
        <p:nvSpPr>
          <p:cNvPr id="8" name="Text 5">
            <a:extLst xmlns:a="http://schemas.openxmlformats.org/drawingml/2006/main">
              <a:ext uri="{FF2B5EF4-FFF2-40B4-BE49-F238E27FC236}">
                <a16:creationId xmlns:a16="http://schemas.microsoft.com/office/drawing/2014/main" id="{F7761A69-6D38-4BDC-9C13-28CBA48FD13F}"/>
              </a:ext>
            </a:extLst>
          </p:cNvPr>
          <p:cNvSpPr>
            <a:spLocks xmlns:a="http://schemas.openxmlformats.org/drawingml/2006/main" noGrp="1"/>
          </p:cNvSpPr>
          <p:nvPr/>
        </p:nvSpPr>
        <p:spPr>
          <a:xfrm xmlns:a="http://schemas.openxmlformats.org/drawingml/2006/main">
            <a:off x="685800" y="2103120"/>
            <a:ext cx="35661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latin typeface="Calibri"/>
                <a:ea typeface="Calibri"/>
                <a:cs typeface="Calibri"/>
              </a:rPr>
              <a:t>Edit operations ÷ reference characters. Spaces are removed before scoring.</a:t>
            </a:r>
            <a:endParaRPr sz="1600"/>
          </a:p>
        </p:txBody>
      </p:sp>
      <p:sp>
        <p:nvSpPr>
          <p:cNvPr id="9" name="metric 2">
            <a:extLst xmlns:a="http://schemas.openxmlformats.org/drawingml/2006/main">
              <a:ext uri="{FF2B5EF4-FFF2-40B4-BE49-F238E27FC236}">
                <a16:creationId xmlns:a16="http://schemas.microsoft.com/office/drawing/2014/main" id="{97DAB4FD-5CD5-4A68-973C-9D5067828A19}"/>
              </a:ext>
            </a:extLst>
          </p:cNvPr>
          <p:cNvSpPr>
            <a:spLocks xmlns:a="http://schemas.openxmlformats.org/drawingml/2006/main" noGrp="1"/>
          </p:cNvSpPr>
          <p:nvPr/>
        </p:nvSpPr>
        <p:spPr>
          <a:xfrm xmlns:a="http://schemas.openxmlformats.org/drawingml/2006/main">
            <a:off x="4663440" y="1188720"/>
            <a:ext cx="4023360" cy="2103120"/>
          </a:xfrm>
          <a:prstGeom xmlns:a="http://schemas.openxmlformats.org/drawingml/2006/main" prst="roundRect">
            <a:avLst>
              <a:gd name="adj" fmla="val 3478"/>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0" name="badge WER">
            <a:extLst xmlns:a="http://schemas.openxmlformats.org/drawingml/2006/main">
              <a:ext uri="{FF2B5EF4-FFF2-40B4-BE49-F238E27FC236}">
                <a16:creationId xmlns:a16="http://schemas.microsoft.com/office/drawing/2014/main" id="{3FB12679-38CA-4125-BF18-94A2E70087A7}"/>
              </a:ext>
            </a:extLst>
          </p:cNvPr>
          <p:cNvSpPr>
            <a:spLocks xmlns:a="http://schemas.openxmlformats.org/drawingml/2006/main" noGrp="1"/>
          </p:cNvSpPr>
          <p:nvPr/>
        </p:nvSpPr>
        <p:spPr>
          <a:xfrm xmlns:a="http://schemas.openxmlformats.org/drawingml/2006/main">
            <a:off x="4892040" y="1371600"/>
            <a:ext cx="1005840" cy="548640"/>
          </a:xfrm>
          <a:prstGeom xmlns:a="http://schemas.openxmlformats.org/drawingml/2006/main" prst="roundRect">
            <a:avLst>
              <a:gd name="adj" fmla="val 13333"/>
            </a:avLst>
          </a:prstGeom>
          <a:solidFill xmlns:a="http://schemas.openxmlformats.org/drawingml/2006/main">
            <a:srgbClr val="2A9D8F"/>
          </a:solidFill>
          <a:ln xmlns:a="http://schemas.openxmlformats.org/drawingml/2006/main" w="12700">
            <a:solidFill>
              <a:srgbClr val="2A9D8F"/>
            </a:solidFill>
            <a:prstDash val="solid"/>
          </a:ln>
        </p:spPr>
      </p:sp>
      <p:sp>
        <p:nvSpPr>
          <p:cNvPr id="11" name="Text 8">
            <a:extLst xmlns:a="http://schemas.openxmlformats.org/drawingml/2006/main">
              <a:ext uri="{FF2B5EF4-FFF2-40B4-BE49-F238E27FC236}">
                <a16:creationId xmlns:a16="http://schemas.microsoft.com/office/drawing/2014/main" id="{BC6DEC27-A1C2-4959-BFC8-F5624EB5A558}"/>
              </a:ext>
            </a:extLst>
          </p:cNvPr>
          <p:cNvSpPr>
            <a:spLocks xmlns:a="http://schemas.openxmlformats.org/drawingml/2006/main" noGrp="1"/>
          </p:cNvSpPr>
          <p:nvPr/>
        </p:nvSpPr>
        <p:spPr>
          <a:xfrm xmlns:a="http://schemas.openxmlformats.org/drawingml/2006/main">
            <a:off x="4892040" y="1371600"/>
            <a:ext cx="1005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WER</a:t>
            </a:r>
            <a:endParaRPr sz="2200"/>
          </a:p>
        </p:txBody>
      </p:sp>
      <p:sp>
        <p:nvSpPr>
          <p:cNvPr id="12" name="Text 9">
            <a:extLst xmlns:a="http://schemas.openxmlformats.org/drawingml/2006/main">
              <a:ext uri="{FF2B5EF4-FFF2-40B4-BE49-F238E27FC236}">
                <a16:creationId xmlns:a16="http://schemas.microsoft.com/office/drawing/2014/main" id="{5D341E29-1261-4AD8-8991-A780F5A7B0C1}"/>
              </a:ext>
            </a:extLst>
          </p:cNvPr>
          <p:cNvSpPr>
            <a:spLocks xmlns:a="http://schemas.openxmlformats.org/drawingml/2006/main" noGrp="1"/>
          </p:cNvSpPr>
          <p:nvPr/>
        </p:nvSpPr>
        <p:spPr>
          <a:xfrm xmlns:a="http://schemas.openxmlformats.org/drawingml/2006/main">
            <a:off x="6035040" y="1371600"/>
            <a:ext cx="24688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tx1"/>
                </a:solidFill>
                <a:latin typeface="Calibri"/>
                <a:ea typeface="Calibri"/>
                <a:cs typeface="Calibri"/>
              </a:rPr>
              <a:t>Word error rate (ICU Khmer)</a:t>
            </a:r>
            <a:endParaRPr sz="1600"/>
          </a:p>
        </p:txBody>
      </p:sp>
      <p:sp>
        <p:nvSpPr>
          <p:cNvPr id="13" name="Text 10">
            <a:extLst xmlns:a="http://schemas.openxmlformats.org/drawingml/2006/main">
              <a:ext uri="{FF2B5EF4-FFF2-40B4-BE49-F238E27FC236}">
                <a16:creationId xmlns:a16="http://schemas.microsoft.com/office/drawing/2014/main" id="{3E3B4174-431E-4BC3-AE2F-8AFB3E0DAE07}"/>
              </a:ext>
            </a:extLst>
          </p:cNvPr>
          <p:cNvSpPr>
            <a:spLocks xmlns:a="http://schemas.openxmlformats.org/drawingml/2006/main" noGrp="1"/>
          </p:cNvSpPr>
          <p:nvPr/>
        </p:nvSpPr>
        <p:spPr>
          <a:xfrm xmlns:a="http://schemas.openxmlformats.org/drawingml/2006/main">
            <a:off x="4892040" y="2103120"/>
            <a:ext cx="35661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latin typeface="Calibri"/>
                <a:ea typeface="Calibri"/>
                <a:cs typeface="Calibri"/>
              </a:rPr>
              <a:t>Edit operations ÷ ICU-segmented reference words. Punctuation-only segments are excluded.</a:t>
            </a:r>
            <a:endParaRPr sz="1600"/>
          </a:p>
        </p:txBody>
      </p:sp>
      <p:sp>
        <p:nvSpPr>
          <p:cNvPr id="14" name="reading card">
            <a:extLst xmlns:a="http://schemas.openxmlformats.org/drawingml/2006/main">
              <a:ext uri="{FF2B5EF4-FFF2-40B4-BE49-F238E27FC236}">
                <a16:creationId xmlns:a16="http://schemas.microsoft.com/office/drawing/2014/main" id="{10EE0BC6-96ED-4418-B96C-FE336B87D9F8}"/>
              </a:ext>
            </a:extLst>
          </p:cNvPr>
          <p:cNvSpPr>
            <a:spLocks xmlns:a="http://schemas.openxmlformats.org/drawingml/2006/main" noGrp="1"/>
          </p:cNvSpPr>
          <p:nvPr/>
        </p:nvSpPr>
        <p:spPr>
          <a:xfrm xmlns:a="http://schemas.openxmlformats.org/drawingml/2006/main">
            <a:off x="457200" y="3566160"/>
            <a:ext cx="8229600" cy="914400"/>
          </a:xfrm>
          <a:prstGeom xmlns:a="http://schemas.openxmlformats.org/drawingml/2006/main" prst="roundRect">
            <a:avLst>
              <a:gd name="adj" fmla="val 8000"/>
            </a:avLst>
          </a:prstGeom>
          <a:solidFill xmlns:a="http://schemas.openxmlformats.org/drawingml/2006/main">
            <a:srgbClr val="F2A33A"/>
          </a:solidFill>
          <a:ln xmlns:a="http://schemas.openxmlformats.org/drawingml/2006/main" w="12700">
            <a:solidFill>
              <a:srgbClr val="F2A33A"/>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5" name="Text 12">
            <a:extLst xmlns:a="http://schemas.openxmlformats.org/drawingml/2006/main">
              <a:ext uri="{FF2B5EF4-FFF2-40B4-BE49-F238E27FC236}">
                <a16:creationId xmlns:a16="http://schemas.microsoft.com/office/drawing/2014/main" id="{C974C202-42B1-4CFF-B271-7A46BB00FCFC}"/>
              </a:ext>
            </a:extLst>
          </p:cNvPr>
          <p:cNvSpPr>
            <a:spLocks xmlns:a="http://schemas.openxmlformats.org/drawingml/2006/main" noGrp="1"/>
          </p:cNvSpPr>
          <p:nvPr/>
        </p:nvSpPr>
        <p:spPr>
          <a:xfrm xmlns:a="http://schemas.openxmlformats.org/drawingml/2006/main">
            <a:off x="731520" y="3611880"/>
            <a:ext cx="7680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tx1"/>
                </a:solidFill>
                <a:latin typeface="Calibri"/>
                <a:ea typeface="Calibri"/>
                <a:cs typeface="Calibri"/>
              </a:rPr>
              <a:t>Lower is better. These are corpus error rates, not sentence accuracy. WER can exceed 100%.</a:t>
            </a:r>
            <a:endParaRPr sz="1600"/>
          </a:p>
        </p:txBody>
      </p:sp>
      <p:sp>
        <p:nvSpPr>
          <p:cNvPr id="25" name="Slide Number Placeholder 0">
            <a:extLst xmlns:a="http://schemas.openxmlformats.org/drawingml/2006/main">
              <a:ext uri="{FF2B5EF4-FFF2-40B4-BE49-F238E27FC236}">
                <a16:creationId xmlns:a16="http://schemas.microsoft.com/office/drawing/2014/main" id="{36D3C14B-E9A2-41D4-8162-255C697275D5}"/>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7996073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8C97B16-AD98-4949-9B09-2A71DF57646E}"/>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Three models</a:t>
            </a:r>
            <a:endParaRPr sz="3000"/>
          </a:p>
        </p:txBody>
      </p:sp>
      <p:sp>
        <p:nvSpPr>
          <p:cNvPr id="4" name="model card 1">
            <a:extLst xmlns:a="http://schemas.openxmlformats.org/drawingml/2006/main">
              <a:ext uri="{FF2B5EF4-FFF2-40B4-BE49-F238E27FC236}">
                <a16:creationId xmlns:a16="http://schemas.microsoft.com/office/drawing/2014/main" id="{05E79E3C-8FEB-45AF-92F0-32011D3A23A3}"/>
              </a:ext>
            </a:extLst>
          </p:cNvPr>
          <p:cNvSpPr>
            <a:spLocks xmlns:a="http://schemas.openxmlformats.org/drawingml/2006/main" noGrp="1"/>
          </p:cNvSpPr>
          <p:nvPr/>
        </p:nvSpPr>
        <p:spPr>
          <a:xfrm xmlns:a="http://schemas.openxmlformats.org/drawingml/2006/main">
            <a:off x="457200" y="1188720"/>
            <a:ext cx="2560320" cy="3337560"/>
          </a:xfrm>
          <a:prstGeom xmlns:a="http://schemas.openxmlformats.org/drawingml/2006/main" prst="roundRect">
            <a:avLst>
              <a:gd name="adj" fmla="val 2857"/>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5" name="model header 1">
            <a:extLst xmlns:a="http://schemas.openxmlformats.org/drawingml/2006/main">
              <a:ext uri="{FF2B5EF4-FFF2-40B4-BE49-F238E27FC236}">
                <a16:creationId xmlns:a16="http://schemas.microsoft.com/office/drawing/2014/main" id="{0025E665-75E9-497D-9F69-1F7588003EEB}"/>
              </a:ext>
            </a:extLst>
          </p:cNvPr>
          <p:cNvSpPr>
            <a:spLocks xmlns:a="http://schemas.openxmlformats.org/drawingml/2006/main" noGrp="1"/>
          </p:cNvSpPr>
          <p:nvPr/>
        </p:nvSpPr>
        <p:spPr>
          <a:xfrm xmlns:a="http://schemas.openxmlformats.org/drawingml/2006/main">
            <a:off x="457200" y="1188720"/>
            <a:ext cx="2560320" cy="1005840"/>
          </a:xfrm>
          <a:prstGeom xmlns:a="http://schemas.openxmlformats.org/drawingml/2006/main" prst="roundRect">
            <a:avLst>
              <a:gd name="adj" fmla="val 7273"/>
            </a:avLst>
          </a:prstGeom>
          <a:solidFill xmlns:a="http://schemas.openxmlformats.org/drawingml/2006/main">
            <a:srgbClr val="D1603D"/>
          </a:solidFill>
          <a:ln xmlns:a="http://schemas.openxmlformats.org/drawingml/2006/main" w="12700">
            <a:solidFill>
              <a:srgbClr val="D1603D"/>
            </a:solidFill>
            <a:prstDash val="solid"/>
          </a:ln>
        </p:spPr>
      </p:sp>
      <p:sp>
        <p:nvSpPr>
          <p:cNvPr id="6" name="Text 3">
            <a:extLst xmlns:a="http://schemas.openxmlformats.org/drawingml/2006/main">
              <a:ext uri="{FF2B5EF4-FFF2-40B4-BE49-F238E27FC236}">
                <a16:creationId xmlns:a16="http://schemas.microsoft.com/office/drawing/2014/main" id="{2A7216CB-3B72-4F65-8092-A72039E07488}"/>
              </a:ext>
            </a:extLst>
          </p:cNvPr>
          <p:cNvSpPr>
            <a:spLocks xmlns:a="http://schemas.openxmlformats.org/drawingml/2006/main" noGrp="1"/>
          </p:cNvSpPr>
          <p:nvPr/>
        </p:nvSpPr>
        <p:spPr>
          <a:xfrm xmlns:a="http://schemas.openxmlformats.org/drawingml/2006/main">
            <a:off x="640080" y="1280160"/>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Approach 1</a:t>
            </a:r>
            <a:endParaRPr sz="1200"/>
          </a:p>
        </p:txBody>
      </p:sp>
      <p:sp>
        <p:nvSpPr>
          <p:cNvPr id="7" name="Text 4">
            <a:extLst xmlns:a="http://schemas.openxmlformats.org/drawingml/2006/main">
              <a:ext uri="{FF2B5EF4-FFF2-40B4-BE49-F238E27FC236}">
                <a16:creationId xmlns:a16="http://schemas.microsoft.com/office/drawing/2014/main" id="{773992DA-2DA5-4DC1-82E0-86E2027CFD39}"/>
              </a:ext>
            </a:extLst>
          </p:cNvPr>
          <p:cNvSpPr>
            <a:spLocks xmlns:a="http://schemas.openxmlformats.org/drawingml/2006/main" noGrp="1"/>
          </p:cNvSpPr>
          <p:nvPr/>
        </p:nvSpPr>
        <p:spPr>
          <a:xfrm xmlns:a="http://schemas.openxmlformats.org/drawingml/2006/main">
            <a:off x="640080" y="1554480"/>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FFFFFF"/>
                </a:solidFill>
                <a:latin typeface="Cambria"/>
                <a:ea typeface="Cambria"/>
                <a:cs typeface="Cambria"/>
              </a:rPr>
              <a:t>Whisper-Tiny Khmer</a:t>
            </a:r>
            <a:endParaRPr sz="1800"/>
          </a:p>
        </p:txBody>
      </p:sp>
      <p:sp>
        <p:nvSpPr>
          <p:cNvPr id="8" name="Text 5">
            <a:extLst xmlns:a="http://schemas.openxmlformats.org/drawingml/2006/main">
              <a:ext uri="{FF2B5EF4-FFF2-40B4-BE49-F238E27FC236}">
                <a16:creationId xmlns:a16="http://schemas.microsoft.com/office/drawing/2014/main" id="{FFD447D2-7B82-4C40-9BD2-9BCA69108BD8}"/>
              </a:ext>
            </a:extLst>
          </p:cNvPr>
          <p:cNvSpPr>
            <a:spLocks xmlns:a="http://schemas.openxmlformats.org/drawingml/2006/main" noGrp="1"/>
          </p:cNvSpPr>
          <p:nvPr/>
        </p:nvSpPr>
        <p:spPr>
          <a:xfrm xmlns:a="http://schemas.openxmlformats.org/drawingml/2006/main">
            <a:off x="640080" y="2423160"/>
            <a:ext cx="21945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Calibri"/>
                <a:ea typeface="Calibri"/>
                <a:cs typeface="Calibri"/>
              </a:rPr>
              <a:t>Matched full fine-tuning checkpoint</a:t>
            </a:r>
            <a:endParaRPr sz="1600"/>
          </a:p>
        </p:txBody>
      </p:sp>
      <p:sp>
        <p:nvSpPr>
          <p:cNvPr id="9" name="Text 6">
            <a:extLst xmlns:a="http://schemas.openxmlformats.org/drawingml/2006/main">
              <a:ext uri="{FF2B5EF4-FFF2-40B4-BE49-F238E27FC236}">
                <a16:creationId xmlns:a16="http://schemas.microsoft.com/office/drawing/2014/main" id="{67819F85-9640-4FB2-8FAA-3FBC38F14986}"/>
              </a:ext>
            </a:extLst>
          </p:cNvPr>
          <p:cNvSpPr>
            <a:spLocks xmlns:a="http://schemas.openxmlformats.org/drawingml/2006/main" noGrp="1"/>
          </p:cNvSpPr>
          <p:nvPr/>
        </p:nvSpPr>
        <p:spPr>
          <a:xfrm xmlns:a="http://schemas.openxmlformats.org/drawingml/2006/main">
            <a:off x="640080" y="3657600"/>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All weights updated</a:t>
            </a:r>
            <a:endParaRPr sz="1400"/>
          </a:p>
        </p:txBody>
      </p:sp>
      <p:sp>
        <p:nvSpPr>
          <p:cNvPr id="10" name="model card 2">
            <a:extLst xmlns:a="http://schemas.openxmlformats.org/drawingml/2006/main">
              <a:ext uri="{FF2B5EF4-FFF2-40B4-BE49-F238E27FC236}">
                <a16:creationId xmlns:a16="http://schemas.microsoft.com/office/drawing/2014/main" id="{F36136C5-36EE-4353-84A4-94B6777A1EF9}"/>
              </a:ext>
            </a:extLst>
          </p:cNvPr>
          <p:cNvSpPr>
            <a:spLocks xmlns:a="http://schemas.openxmlformats.org/drawingml/2006/main" noGrp="1"/>
          </p:cNvSpPr>
          <p:nvPr/>
        </p:nvSpPr>
        <p:spPr>
          <a:xfrm xmlns:a="http://schemas.openxmlformats.org/drawingml/2006/main">
            <a:off x="3291840" y="1188720"/>
            <a:ext cx="2560320" cy="3337560"/>
          </a:xfrm>
          <a:prstGeom xmlns:a="http://schemas.openxmlformats.org/drawingml/2006/main" prst="roundRect">
            <a:avLst>
              <a:gd name="adj" fmla="val 2857"/>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1" name="model header 2">
            <a:extLst xmlns:a="http://schemas.openxmlformats.org/drawingml/2006/main">
              <a:ext uri="{FF2B5EF4-FFF2-40B4-BE49-F238E27FC236}">
                <a16:creationId xmlns:a16="http://schemas.microsoft.com/office/drawing/2014/main" id="{21E220FA-3DE9-426C-BB40-F0DEF54CDE3A}"/>
              </a:ext>
            </a:extLst>
          </p:cNvPr>
          <p:cNvSpPr>
            <a:spLocks xmlns:a="http://schemas.openxmlformats.org/drawingml/2006/main" noGrp="1"/>
          </p:cNvSpPr>
          <p:nvPr/>
        </p:nvSpPr>
        <p:spPr>
          <a:xfrm xmlns:a="http://schemas.openxmlformats.org/drawingml/2006/main">
            <a:off x="3291840" y="1188720"/>
            <a:ext cx="2560320" cy="1005840"/>
          </a:xfrm>
          <a:prstGeom xmlns:a="http://schemas.openxmlformats.org/drawingml/2006/main" prst="roundRect">
            <a:avLst>
              <a:gd name="adj" fmla="val 7273"/>
            </a:avLst>
          </a:prstGeom>
          <a:solidFill xmlns:a="http://schemas.openxmlformats.org/drawingml/2006/main">
            <a:srgbClr val="1B4965"/>
          </a:solidFill>
          <a:ln xmlns:a="http://schemas.openxmlformats.org/drawingml/2006/main" w="12700">
            <a:solidFill>
              <a:srgbClr val="1B4965"/>
            </a:solidFill>
            <a:prstDash val="solid"/>
          </a:ln>
        </p:spPr>
      </p:sp>
      <p:sp>
        <p:nvSpPr>
          <p:cNvPr id="12" name="Text 9">
            <a:extLst xmlns:a="http://schemas.openxmlformats.org/drawingml/2006/main">
              <a:ext uri="{FF2B5EF4-FFF2-40B4-BE49-F238E27FC236}">
                <a16:creationId xmlns:a16="http://schemas.microsoft.com/office/drawing/2014/main" id="{DA6C1AF7-344F-4F58-A1F2-236385EE0949}"/>
              </a:ext>
            </a:extLst>
          </p:cNvPr>
          <p:cNvSpPr>
            <a:spLocks xmlns:a="http://schemas.openxmlformats.org/drawingml/2006/main" noGrp="1"/>
          </p:cNvSpPr>
          <p:nvPr/>
        </p:nvSpPr>
        <p:spPr>
          <a:xfrm xmlns:a="http://schemas.openxmlformats.org/drawingml/2006/main">
            <a:off x="3474720" y="1280160"/>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Approach 2</a:t>
            </a:r>
            <a:endParaRPr sz="1200"/>
          </a:p>
        </p:txBody>
      </p:sp>
      <p:sp>
        <p:nvSpPr>
          <p:cNvPr id="13" name="Text 10">
            <a:extLst xmlns:a="http://schemas.openxmlformats.org/drawingml/2006/main">
              <a:ext uri="{FF2B5EF4-FFF2-40B4-BE49-F238E27FC236}">
                <a16:creationId xmlns:a16="http://schemas.microsoft.com/office/drawing/2014/main" id="{26738658-7DC9-4724-ACAE-29F58FAF3E33}"/>
              </a:ext>
            </a:extLst>
          </p:cNvPr>
          <p:cNvSpPr>
            <a:spLocks xmlns:a="http://schemas.openxmlformats.org/drawingml/2006/main" noGrp="1"/>
          </p:cNvSpPr>
          <p:nvPr/>
        </p:nvSpPr>
        <p:spPr>
          <a:xfrm xmlns:a="http://schemas.openxmlformats.org/drawingml/2006/main">
            <a:off x="3474720" y="1554480"/>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FFFFFF"/>
                </a:solidFill>
                <a:latin typeface="Cambria"/>
                <a:ea typeface="Cambria"/>
                <a:cs typeface="Cambria"/>
              </a:rPr>
              <a:t>Meta MMS-1B Khmer CTC</a:t>
            </a:r>
            <a:endParaRPr sz="1800"/>
          </a:p>
        </p:txBody>
      </p:sp>
      <p:sp>
        <p:nvSpPr>
          <p:cNvPr id="14" name="Text 11">
            <a:extLst xmlns:a="http://schemas.openxmlformats.org/drawingml/2006/main">
              <a:ext uri="{FF2B5EF4-FFF2-40B4-BE49-F238E27FC236}">
                <a16:creationId xmlns:a16="http://schemas.microsoft.com/office/drawing/2014/main" id="{ACEDB557-F503-4F01-AB25-8C04A0070C08}"/>
              </a:ext>
            </a:extLst>
          </p:cNvPr>
          <p:cNvSpPr>
            <a:spLocks xmlns:a="http://schemas.openxmlformats.org/drawingml/2006/main" noGrp="1"/>
          </p:cNvSpPr>
          <p:nvPr/>
        </p:nvSpPr>
        <p:spPr>
          <a:xfrm xmlns:a="http://schemas.openxmlformats.org/drawingml/2006/main">
            <a:off x="3474720" y="2423160"/>
            <a:ext cx="21945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Calibri"/>
                <a:ea typeface="Calibri"/>
                <a:cs typeface="Calibri"/>
              </a:rPr>
              <a:t>Top four Transformer layers and CTC head tuned</a:t>
            </a:r>
            <a:endParaRPr sz="1600"/>
          </a:p>
        </p:txBody>
      </p:sp>
      <p:sp>
        <p:nvSpPr>
          <p:cNvPr id="15" name="Text 12">
            <a:extLst xmlns:a="http://schemas.openxmlformats.org/drawingml/2006/main">
              <a:ext uri="{FF2B5EF4-FFF2-40B4-BE49-F238E27FC236}">
                <a16:creationId xmlns:a16="http://schemas.microsoft.com/office/drawing/2014/main" id="{9A44778F-83F9-489E-A9F2-084513E396CF}"/>
              </a:ext>
            </a:extLst>
          </p:cNvPr>
          <p:cNvSpPr>
            <a:spLocks xmlns:a="http://schemas.openxmlformats.org/drawingml/2006/main" noGrp="1"/>
          </p:cNvSpPr>
          <p:nvPr/>
        </p:nvSpPr>
        <p:spPr>
          <a:xfrm xmlns:a="http://schemas.openxmlformats.org/drawingml/2006/main">
            <a:off x="3474720" y="3657600"/>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Best checkpoint: step 300</a:t>
            </a:r>
            <a:endParaRPr sz="1400"/>
          </a:p>
        </p:txBody>
      </p:sp>
      <p:sp>
        <p:nvSpPr>
          <p:cNvPr id="16" name="model card 3">
            <a:extLst xmlns:a="http://schemas.openxmlformats.org/drawingml/2006/main">
              <a:ext uri="{FF2B5EF4-FFF2-40B4-BE49-F238E27FC236}">
                <a16:creationId xmlns:a16="http://schemas.microsoft.com/office/drawing/2014/main" id="{F07E3F6D-874C-44D5-90E9-11C3A3EDA6F9}"/>
              </a:ext>
            </a:extLst>
          </p:cNvPr>
          <p:cNvSpPr>
            <a:spLocks xmlns:a="http://schemas.openxmlformats.org/drawingml/2006/main" noGrp="1"/>
          </p:cNvSpPr>
          <p:nvPr/>
        </p:nvSpPr>
        <p:spPr>
          <a:xfrm xmlns:a="http://schemas.openxmlformats.org/drawingml/2006/main">
            <a:off x="6126480" y="1188720"/>
            <a:ext cx="2560320" cy="3337560"/>
          </a:xfrm>
          <a:prstGeom xmlns:a="http://schemas.openxmlformats.org/drawingml/2006/main" prst="roundRect">
            <a:avLst>
              <a:gd name="adj" fmla="val 2857"/>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7" name="model header 3">
            <a:extLst xmlns:a="http://schemas.openxmlformats.org/drawingml/2006/main">
              <a:ext uri="{FF2B5EF4-FFF2-40B4-BE49-F238E27FC236}">
                <a16:creationId xmlns:a16="http://schemas.microsoft.com/office/drawing/2014/main" id="{8426B27E-6496-4937-AE06-CCFB08DCEC23}"/>
              </a:ext>
            </a:extLst>
          </p:cNvPr>
          <p:cNvSpPr>
            <a:spLocks xmlns:a="http://schemas.openxmlformats.org/drawingml/2006/main" noGrp="1"/>
          </p:cNvSpPr>
          <p:nvPr/>
        </p:nvSpPr>
        <p:spPr>
          <a:xfrm xmlns:a="http://schemas.openxmlformats.org/drawingml/2006/main">
            <a:off x="6126480" y="1188720"/>
            <a:ext cx="2560320" cy="1005840"/>
          </a:xfrm>
          <a:prstGeom xmlns:a="http://schemas.openxmlformats.org/drawingml/2006/main" prst="roundRect">
            <a:avLst>
              <a:gd name="adj" fmla="val 7273"/>
            </a:avLst>
          </a:prstGeom>
          <a:solidFill xmlns:a="http://schemas.openxmlformats.org/drawingml/2006/main">
            <a:srgbClr val="2A9D8F"/>
          </a:solidFill>
          <a:ln xmlns:a="http://schemas.openxmlformats.org/drawingml/2006/main" w="12700">
            <a:solidFill>
              <a:srgbClr val="2A9D8F"/>
            </a:solidFill>
            <a:prstDash val="solid"/>
          </a:ln>
        </p:spPr>
      </p:sp>
      <p:sp>
        <p:nvSpPr>
          <p:cNvPr id="18" name="Text 15">
            <a:extLst xmlns:a="http://schemas.openxmlformats.org/drawingml/2006/main">
              <a:ext uri="{FF2B5EF4-FFF2-40B4-BE49-F238E27FC236}">
                <a16:creationId xmlns:a16="http://schemas.microsoft.com/office/drawing/2014/main" id="{96B8420E-FEF8-4EF7-9AF3-43AD3697C393}"/>
              </a:ext>
            </a:extLst>
          </p:cNvPr>
          <p:cNvSpPr>
            <a:spLocks xmlns:a="http://schemas.openxmlformats.org/drawingml/2006/main" noGrp="1"/>
          </p:cNvSpPr>
          <p:nvPr/>
        </p:nvSpPr>
        <p:spPr>
          <a:xfrm xmlns:a="http://schemas.openxmlformats.org/drawingml/2006/main">
            <a:off x="6309360" y="1280160"/>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Approach 3</a:t>
            </a:r>
            <a:endParaRPr sz="1200"/>
          </a:p>
        </p:txBody>
      </p:sp>
      <p:sp>
        <p:nvSpPr>
          <p:cNvPr id="19" name="Text 16">
            <a:extLst xmlns:a="http://schemas.openxmlformats.org/drawingml/2006/main">
              <a:ext uri="{FF2B5EF4-FFF2-40B4-BE49-F238E27FC236}">
                <a16:creationId xmlns:a16="http://schemas.microsoft.com/office/drawing/2014/main" id="{71D889C4-843F-4996-A82E-373362165B11}"/>
              </a:ext>
            </a:extLst>
          </p:cNvPr>
          <p:cNvSpPr>
            <a:spLocks xmlns:a="http://schemas.openxmlformats.org/drawingml/2006/main" noGrp="1"/>
          </p:cNvSpPr>
          <p:nvPr/>
        </p:nvSpPr>
        <p:spPr>
          <a:xfrm xmlns:a="http://schemas.openxmlformats.org/drawingml/2006/main">
            <a:off x="6309360" y="1554480"/>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FFFFFF"/>
                </a:solidFill>
                <a:latin typeface="Cambria"/>
                <a:ea typeface="Cambria"/>
                <a:cs typeface="Cambria"/>
              </a:rPr>
              <a:t>Qwen3-ASR 0.6B Khmer</a:t>
            </a:r>
            <a:endParaRPr sz="1800"/>
          </a:p>
        </p:txBody>
      </p:sp>
      <p:sp>
        <p:nvSpPr>
          <p:cNvPr id="20" name="Text 17">
            <a:extLst xmlns:a="http://schemas.openxmlformats.org/drawingml/2006/main">
              <a:ext uri="{FF2B5EF4-FFF2-40B4-BE49-F238E27FC236}">
                <a16:creationId xmlns:a16="http://schemas.microsoft.com/office/drawing/2014/main" id="{64F6A35E-68A3-4282-BC00-7FB9398F7762}"/>
              </a:ext>
            </a:extLst>
          </p:cNvPr>
          <p:cNvSpPr>
            <a:spLocks xmlns:a="http://schemas.openxmlformats.org/drawingml/2006/main" noGrp="1"/>
          </p:cNvSpPr>
          <p:nvPr/>
        </p:nvSpPr>
        <p:spPr>
          <a:xfrm xmlns:a="http://schemas.openxmlformats.org/drawingml/2006/main">
            <a:off x="6309360" y="2423160"/>
            <a:ext cx="21945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Calibri"/>
                <a:ea typeface="Calibri"/>
                <a:cs typeface="Calibri"/>
              </a:rPr>
              <a:t>Big-corpus LoRA, 16,720 effective clips</a:t>
            </a:r>
            <a:endParaRPr sz="1600"/>
          </a:p>
        </p:txBody>
      </p:sp>
      <p:sp>
        <p:nvSpPr>
          <p:cNvPr id="21" name="Text 18">
            <a:extLst xmlns:a="http://schemas.openxmlformats.org/drawingml/2006/main">
              <a:ext uri="{FF2B5EF4-FFF2-40B4-BE49-F238E27FC236}">
                <a16:creationId xmlns:a16="http://schemas.microsoft.com/office/drawing/2014/main" id="{FFB4888E-530A-45DD-A3BB-C9080AC7B0BB}"/>
              </a:ext>
            </a:extLst>
          </p:cNvPr>
          <p:cNvSpPr>
            <a:spLocks xmlns:a="http://schemas.openxmlformats.org/drawingml/2006/main" noGrp="1"/>
          </p:cNvSpPr>
          <p:nvPr/>
        </p:nvSpPr>
        <p:spPr>
          <a:xfrm xmlns:a="http://schemas.openxmlformats.org/drawingml/2006/main">
            <a:off x="6309360" y="3657600"/>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Selected at epoch 1</a:t>
            </a:r>
            <a:endParaRPr sz="1400"/>
          </a:p>
        </p:txBody>
      </p:sp>
      <p:sp>
        <p:nvSpPr>
          <p:cNvPr id="25" name="Slide Number Placeholder 0">
            <a:extLst xmlns:a="http://schemas.openxmlformats.org/drawingml/2006/main">
              <a:ext uri="{FF2B5EF4-FFF2-40B4-BE49-F238E27FC236}">
                <a16:creationId xmlns:a16="http://schemas.microsoft.com/office/drawing/2014/main" id="{11579342-AB1F-43A4-9F5A-B25D623CF3F4}"/>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17541895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32E9E1-59E5-41DC-8C14-E03BAE27C904}"/>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Training data and checkpoint selection</a:t>
            </a:r>
            <a:endParaRPr sz="3000"/>
          </a:p>
        </p:txBody>
      </p:sp>
      <p:graphicFrame>
        <p:nvGraphicFramePr>
          <p:cNvPr id="4" name="Chart 0">
            <a:extLst xmlns:a="http://schemas.openxmlformats.org/drawingml/2006/main">
              <a:ext uri="{FF2B5EF4-FFF2-40B4-BE49-F238E27FC236}">
                <a16:creationId xmlns:a16="http://schemas.microsoft.com/office/drawing/2014/main" id="{34944086-8AE5-4477-9344-E914C8BE6C84}"/>
              </a:ext>
            </a:extLst>
          </p:cNvPr>
          <p:cNvGraphicFramePr/>
          <p:nvPr/>
        </p:nvGraphicFramePr>
        <p:xfrm>
          <a:off xmlns:a="http://schemas.openxmlformats.org/drawingml/2006/main" x="365760" y="1097280"/>
          <a:ext xmlns:a="http://schemas.openxmlformats.org/drawingml/2006/main" cx="4572000" cy="3474720"/>
        </p:xfrm>
        <a:graphic xmlns:a="http://schemas.openxmlformats.org/drawingml/2006/main">
          <a:graphicData uri="http://schemas.openxmlformats.org/drawingml/2006/chart">
            <c:chart xmlns:r="http://schemas.openxmlformats.org/officeDocument/2006/relationships" xmlns:c="http://schemas.openxmlformats.org/drawingml/2006/chart" r:id="Ra51b3e5deb684604"/>
          </a:graphicData>
        </a:graphic>
      </p:graphicFrame>
      <p:sp>
        <p:nvSpPr>
          <p:cNvPr id="5" name="selection card">
            <a:extLst xmlns:a="http://schemas.openxmlformats.org/drawingml/2006/main">
              <a:ext uri="{FF2B5EF4-FFF2-40B4-BE49-F238E27FC236}">
                <a16:creationId xmlns:a16="http://schemas.microsoft.com/office/drawing/2014/main" id="{FEBA2782-D659-420F-813B-24B43392DB07}"/>
              </a:ext>
            </a:extLst>
          </p:cNvPr>
          <p:cNvSpPr>
            <a:spLocks xmlns:a="http://schemas.openxmlformats.org/drawingml/2006/main" noGrp="1"/>
          </p:cNvSpPr>
          <p:nvPr/>
        </p:nvSpPr>
        <p:spPr>
          <a:xfrm xmlns:a="http://schemas.openxmlformats.org/drawingml/2006/main">
            <a:off x="5212080" y="1188720"/>
            <a:ext cx="3474720" cy="1508760"/>
          </a:xfrm>
          <a:prstGeom xmlns:a="http://schemas.openxmlformats.org/drawingml/2006/main" prst="roundRect">
            <a:avLst>
              <a:gd name="adj" fmla="val 4848"/>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6" name="Text 2">
            <a:extLst xmlns:a="http://schemas.openxmlformats.org/drawingml/2006/main">
              <a:ext uri="{FF2B5EF4-FFF2-40B4-BE49-F238E27FC236}">
                <a16:creationId xmlns:a16="http://schemas.microsoft.com/office/drawing/2014/main" id="{0A3EE184-229C-41F6-B0E7-284D6B1E2BBD}"/>
              </a:ext>
            </a:extLst>
          </p:cNvPr>
          <p:cNvSpPr>
            <a:spLocks xmlns:a="http://schemas.openxmlformats.org/drawingml/2006/main" noGrp="1"/>
          </p:cNvSpPr>
          <p:nvPr/>
        </p:nvSpPr>
        <p:spPr>
          <a:xfrm xmlns:a="http://schemas.openxmlformats.org/drawingml/2006/main">
            <a:off x="5394960" y="1325880"/>
            <a:ext cx="310896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600" b="1">
                <a:solidFill>
                  <a:srgbClr val="2A9D8F"/>
                </a:solidFill>
                <a:latin typeface="Calibri"/>
                <a:ea typeface="Calibri"/>
                <a:cs typeface="Calibri"/>
              </a:rPr>
              <a:t>Qwen checkpoint: epoch 1</a:t>
            </a:r>
            <a:endParaRPr sz="1400"/>
          </a:p>
          <a:p xmlns:a="http://schemas.openxmlformats.org/drawingml/2006/main">
            <a:pPr marL="0" indent="0">
              <a:spcAft>
                <a:spcPts val="600"/>
              </a:spcAft>
              <a:buNone/>
            </a:pPr>
            <a:r>
              <a:rPr sz="1400">
                <a:solidFill>
                  <a:schemeClr val="tx1"/>
                </a:solidFill>
                <a:latin typeface="Calibri"/>
                <a:ea typeface="Calibri"/>
                <a:cs typeface="Calibri"/>
              </a:rPr>
              <a:t>Validation (124 clips): 12.42% CER, 27.99% WER. Goal: WER &lt;25%.</a:t>
            </a:r>
            <a:endParaRPr sz="1400"/>
          </a:p>
        </p:txBody>
      </p:sp>
      <p:sp>
        <p:nvSpPr>
          <p:cNvPr id="7" name="caveat card">
            <a:extLst xmlns:a="http://schemas.openxmlformats.org/drawingml/2006/main">
              <a:ext uri="{FF2B5EF4-FFF2-40B4-BE49-F238E27FC236}">
                <a16:creationId xmlns:a16="http://schemas.microsoft.com/office/drawing/2014/main" id="{A848DF1F-F5EA-47B9-83CE-B7F4816841FA}"/>
              </a:ext>
            </a:extLst>
          </p:cNvPr>
          <p:cNvSpPr>
            <a:spLocks xmlns:a="http://schemas.openxmlformats.org/drawingml/2006/main" noGrp="1"/>
          </p:cNvSpPr>
          <p:nvPr/>
        </p:nvSpPr>
        <p:spPr>
          <a:xfrm xmlns:a="http://schemas.openxmlformats.org/drawingml/2006/main">
            <a:off x="5212080" y="2926080"/>
            <a:ext cx="3474720" cy="1600200"/>
          </a:xfrm>
          <a:prstGeom xmlns:a="http://schemas.openxmlformats.org/drawingml/2006/main" prst="roundRect">
            <a:avLst>
              <a:gd name="adj" fmla="val 4571"/>
            </a:avLst>
          </a:prstGeom>
          <a:solidFill xmlns:a="http://schemas.openxmlformats.org/drawingml/2006/main">
            <a:srgbClr val="F2A33A"/>
          </a:solidFill>
          <a:ln xmlns:a="http://schemas.openxmlformats.org/drawingml/2006/main" w="12700">
            <a:solidFill>
              <a:srgbClr val="F2A33A"/>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8" name="Text 4">
            <a:extLst xmlns:a="http://schemas.openxmlformats.org/drawingml/2006/main">
              <a:ext uri="{FF2B5EF4-FFF2-40B4-BE49-F238E27FC236}">
                <a16:creationId xmlns:a16="http://schemas.microsoft.com/office/drawing/2014/main" id="{E9B659F3-6FCC-49B5-8898-3650CF620E99}"/>
              </a:ext>
            </a:extLst>
          </p:cNvPr>
          <p:cNvSpPr>
            <a:spLocks xmlns:a="http://schemas.openxmlformats.org/drawingml/2006/main" noGrp="1"/>
          </p:cNvSpPr>
          <p:nvPr/>
        </p:nvSpPr>
        <p:spPr>
          <a:xfrm xmlns:a="http://schemas.openxmlformats.org/drawingml/2006/main">
            <a:off x="5394960" y="3063240"/>
            <a:ext cx="3108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600" b="1">
                <a:solidFill>
                  <a:schemeClr val="tx1"/>
                </a:solidFill>
                <a:latin typeface="Calibri"/>
                <a:ea typeface="Calibri"/>
                <a:cs typeface="Calibri"/>
              </a:rPr>
              <a:t>Not a controlled comparison</a:t>
            </a:r>
            <a:endParaRPr sz="1400"/>
          </a:p>
          <a:p xmlns:a="http://schemas.openxmlformats.org/drawingml/2006/main">
            <a:pPr marL="0" indent="0">
              <a:spcAft>
                <a:spcPts val="600"/>
              </a:spcAft>
              <a:buNone/>
            </a:pPr>
            <a:r>
              <a:rPr sz="1400">
                <a:solidFill>
                  <a:schemeClr val="tx1"/>
                </a:solidFill>
                <a:latin typeface="Calibri"/>
                <a:ea typeface="Calibri"/>
                <a:cs typeface="Calibri"/>
              </a:rPr>
              <a:t>Qwen used 31.5× as many training clips. Shared test scores cannot isolate architecture.</a:t>
            </a:r>
            <a:endParaRPr sz="1400"/>
          </a:p>
        </p:txBody>
      </p:sp>
      <p:sp>
        <p:nvSpPr>
          <p:cNvPr id="25" name="Slide Number Placeholder 0">
            <a:extLst xmlns:a="http://schemas.openxmlformats.org/drawingml/2006/main">
              <a:ext uri="{FF2B5EF4-FFF2-40B4-BE49-F238E27FC236}">
                <a16:creationId xmlns:a16="http://schemas.microsoft.com/office/drawing/2014/main" id="{915396BA-FF88-491E-8392-46E00F912AF8}"/>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990609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CD834D-26DD-4070-9007-9E0E5FDAE773}"/>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Results: held-out test, 114 clips</a:t>
            </a:r>
            <a:endParaRPr sz="3000"/>
          </a:p>
        </p:txBody>
      </p:sp>
      <p:graphicFrame>
        <p:nvGraphicFramePr>
          <p:cNvPr id="4" name="Chart 0">
            <a:extLst xmlns:a="http://schemas.openxmlformats.org/drawingml/2006/main">
              <a:ext uri="{FF2B5EF4-FFF2-40B4-BE49-F238E27FC236}">
                <a16:creationId xmlns:a16="http://schemas.microsoft.com/office/drawing/2014/main" id="{32031E4D-5177-435C-BEDA-B7389A914F96}"/>
              </a:ext>
            </a:extLst>
          </p:cNvPr>
          <p:cNvGraphicFramePr/>
          <p:nvPr/>
        </p:nvGraphicFramePr>
        <p:xfrm>
          <a:off xmlns:a="http://schemas.openxmlformats.org/drawingml/2006/main" x="365760" y="1051560"/>
          <a:ext xmlns:a="http://schemas.openxmlformats.org/drawingml/2006/main" cx="5577840" cy="3611880"/>
        </p:xfrm>
        <a:graphic xmlns:a="http://schemas.openxmlformats.org/drawingml/2006/main">
          <a:graphicData uri="http://schemas.openxmlformats.org/drawingml/2006/chart">
            <c:chart xmlns:r="http://schemas.openxmlformats.org/officeDocument/2006/relationships" xmlns:c="http://schemas.openxmlformats.org/drawingml/2006/chart" r:id="R68b82a3d4990485e"/>
          </a:graphicData>
        </a:graphic>
      </p:graphicFrame>
      <p:sp>
        <p:nvSpPr>
          <p:cNvPr id="5" name="best card">
            <a:extLst xmlns:a="http://schemas.openxmlformats.org/drawingml/2006/main">
              <a:ext uri="{FF2B5EF4-FFF2-40B4-BE49-F238E27FC236}">
                <a16:creationId xmlns:a16="http://schemas.microsoft.com/office/drawing/2014/main" id="{AD01BAC6-E1B1-4CAE-A7BD-17987AAA4D0A}"/>
              </a:ext>
            </a:extLst>
          </p:cNvPr>
          <p:cNvSpPr>
            <a:spLocks xmlns:a="http://schemas.openxmlformats.org/drawingml/2006/main" noGrp="1"/>
          </p:cNvSpPr>
          <p:nvPr/>
        </p:nvSpPr>
        <p:spPr>
          <a:xfrm xmlns:a="http://schemas.openxmlformats.org/drawingml/2006/main">
            <a:off x="6217920" y="1188720"/>
            <a:ext cx="2468880" cy="1371600"/>
          </a:xfrm>
          <a:prstGeom xmlns:a="http://schemas.openxmlformats.org/drawingml/2006/main" prst="roundRect">
            <a:avLst>
              <a:gd name="adj" fmla="val 5333"/>
            </a:avLst>
          </a:prstGeom>
          <a:solidFill xmlns:a="http://schemas.openxmlformats.org/drawingml/2006/main">
            <a:srgbClr val="2A9D8F"/>
          </a:solidFill>
          <a:ln xmlns:a="http://schemas.openxmlformats.org/drawingml/2006/main" w="12700">
            <a:solidFill>
              <a:srgbClr val="2A9D8F"/>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6" name="Text 2">
            <a:extLst xmlns:a="http://schemas.openxmlformats.org/drawingml/2006/main">
              <a:ext uri="{FF2B5EF4-FFF2-40B4-BE49-F238E27FC236}">
                <a16:creationId xmlns:a16="http://schemas.microsoft.com/office/drawing/2014/main" id="{AE1D1F20-37B9-4924-92DD-84B2F43FC57F}"/>
              </a:ext>
            </a:extLst>
          </p:cNvPr>
          <p:cNvSpPr>
            <a:spLocks xmlns:a="http://schemas.openxmlformats.org/drawingml/2006/main" noGrp="1"/>
          </p:cNvSpPr>
          <p:nvPr/>
        </p:nvSpPr>
        <p:spPr>
          <a:xfrm xmlns:a="http://schemas.openxmlformats.org/drawingml/2006/main">
            <a:off x="6400800" y="1298448"/>
            <a:ext cx="21031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300"/>
              </a:spcAft>
              <a:buNone/>
            </a:pPr>
            <a:r>
              <a:rPr sz="1200">
                <a:solidFill>
                  <a:srgbClr val="FFFFFF"/>
                </a:solidFill>
                <a:latin typeface="Calibri"/>
                <a:ea typeface="Calibri"/>
                <a:cs typeface="Calibri"/>
              </a:rPr>
              <a:t>Lowest error</a:t>
            </a:r>
            <a:endParaRPr sz="1400"/>
          </a:p>
          <a:p xmlns:a="http://schemas.openxmlformats.org/drawingml/2006/main">
            <a:pPr marL="0" indent="0">
              <a:spcAft>
                <a:spcPts val="300"/>
              </a:spcAft>
              <a:buNone/>
            </a:pPr>
            <a:r>
              <a:rPr sz="2000" b="1">
                <a:solidFill>
                  <a:srgbClr val="FFFFFF"/>
                </a:solidFill>
                <a:latin typeface="Cambria"/>
                <a:ea typeface="Cambria"/>
                <a:cs typeface="Cambria"/>
              </a:rPr>
              <a:t>Qwen3-ASR</a:t>
            </a:r>
            <a:endParaRPr sz="1400"/>
          </a:p>
          <a:p xmlns:a="http://schemas.openxmlformats.org/drawingml/2006/main">
            <a:pPr marL="0" indent="0">
              <a:spcAft>
                <a:spcPts val="300"/>
              </a:spcAft>
              <a:buNone/>
            </a:pPr>
            <a:r>
              <a:rPr sz="1400">
                <a:solidFill>
                  <a:srgbClr val="FFFFFF"/>
                </a:solidFill>
                <a:latin typeface="Calibri"/>
                <a:ea typeface="Calibri"/>
                <a:cs typeface="Calibri"/>
              </a:rPr>
              <a:t>13.71% CER | 33.40% WER</a:t>
            </a:r>
            <a:endParaRPr sz="1400"/>
          </a:p>
        </p:txBody>
      </p:sp>
      <p:sp>
        <p:nvSpPr>
          <p:cNvPr id="7" name="note card">
            <a:extLst xmlns:a="http://schemas.openxmlformats.org/drawingml/2006/main">
              <a:ext uri="{FF2B5EF4-FFF2-40B4-BE49-F238E27FC236}">
                <a16:creationId xmlns:a16="http://schemas.microsoft.com/office/drawing/2014/main" id="{2326B042-1493-43DC-9B5E-2C1EDADE6E91}"/>
              </a:ext>
            </a:extLst>
          </p:cNvPr>
          <p:cNvSpPr>
            <a:spLocks xmlns:a="http://schemas.openxmlformats.org/drawingml/2006/main" noGrp="1"/>
          </p:cNvSpPr>
          <p:nvPr/>
        </p:nvSpPr>
        <p:spPr>
          <a:xfrm xmlns:a="http://schemas.openxmlformats.org/drawingml/2006/main">
            <a:off x="6217920" y="2788920"/>
            <a:ext cx="2468880" cy="1737360"/>
          </a:xfrm>
          <a:prstGeom xmlns:a="http://schemas.openxmlformats.org/drawingml/2006/main" prst="roundRect">
            <a:avLst>
              <a:gd name="adj" fmla="val 4211"/>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8" name="Text 4">
            <a:extLst xmlns:a="http://schemas.openxmlformats.org/drawingml/2006/main">
              <a:ext uri="{FF2B5EF4-FFF2-40B4-BE49-F238E27FC236}">
                <a16:creationId xmlns:a16="http://schemas.microsoft.com/office/drawing/2014/main" id="{524CEC00-0552-46DD-977F-13E92DC8CD9E}"/>
              </a:ext>
            </a:extLst>
          </p:cNvPr>
          <p:cNvSpPr>
            <a:spLocks xmlns:a="http://schemas.openxmlformats.org/drawingml/2006/main" noGrp="1"/>
          </p:cNvSpPr>
          <p:nvPr/>
        </p:nvSpPr>
        <p:spPr>
          <a:xfrm xmlns:a="http://schemas.openxmlformats.org/drawingml/2006/main">
            <a:off x="6400800" y="2926080"/>
            <a:ext cx="21031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400" b="1">
                <a:solidFill>
                  <a:schemeClr val="tx1"/>
                </a:solidFill>
                <a:latin typeface="Calibri"/>
                <a:ea typeface="Calibri"/>
                <a:cs typeface="Calibri"/>
              </a:rPr>
              <a:t>Same 114 test clips for all three.</a:t>
            </a:r>
            <a:endParaRPr sz="1400"/>
          </a:p>
          <a:p xmlns:a="http://schemas.openxmlformats.org/drawingml/2006/main">
            <a:pPr marL="0" indent="0">
              <a:spcAft>
                <a:spcPts val="600"/>
              </a:spcAft>
              <a:buNone/>
            </a:pPr>
            <a:r>
              <a:rPr sz="1400">
                <a:solidFill>
                  <a:schemeClr val="tx1"/>
                </a:solidFill>
                <a:latin typeface="Calibri"/>
                <a:ea typeface="Calibri"/>
                <a:cs typeface="Calibri"/>
              </a:rPr>
              <a:t>Training data differs (531 vs 16,720 clips), so this is not a controlled comparison.</a:t>
            </a:r>
            <a:endParaRPr sz="1400"/>
          </a:p>
        </p:txBody>
      </p:sp>
      <p:sp>
        <p:nvSpPr>
          <p:cNvPr id="25" name="Slide Number Placeholder 0">
            <a:extLst xmlns:a="http://schemas.openxmlformats.org/drawingml/2006/main">
              <a:ext uri="{FF2B5EF4-FFF2-40B4-BE49-F238E27FC236}">
                <a16:creationId xmlns:a16="http://schemas.microsoft.com/office/drawing/2014/main" id="{E5DFE48E-50EE-4271-B104-13626F39770E}"/>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6750271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190090-700C-4A66-BD18-1390E25AB9FB}"/>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Qwen3-ASR: validation vs test</a:t>
            </a:r>
            <a:endParaRPr sz="3000"/>
          </a:p>
        </p:txBody>
      </p:sp>
      <p:sp>
        <p:nvSpPr>
          <p:cNvPr id="4" name="split 1">
            <a:extLst xmlns:a="http://schemas.openxmlformats.org/drawingml/2006/main">
              <a:ext uri="{FF2B5EF4-FFF2-40B4-BE49-F238E27FC236}">
                <a16:creationId xmlns:a16="http://schemas.microsoft.com/office/drawing/2014/main" id="{D6F7510B-2558-4E3F-A0C5-FA541C0982D6}"/>
              </a:ext>
            </a:extLst>
          </p:cNvPr>
          <p:cNvSpPr>
            <a:spLocks xmlns:a="http://schemas.openxmlformats.org/drawingml/2006/main" noGrp="1"/>
          </p:cNvSpPr>
          <p:nvPr/>
        </p:nvSpPr>
        <p:spPr>
          <a:xfrm xmlns:a="http://schemas.openxmlformats.org/drawingml/2006/main">
            <a:off x="457200" y="1188720"/>
            <a:ext cx="4023360" cy="2057400"/>
          </a:xfrm>
          <a:prstGeom xmlns:a="http://schemas.openxmlformats.org/drawingml/2006/main" prst="roundRect">
            <a:avLst>
              <a:gd name="adj" fmla="val 3556"/>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5" name="Text 2">
            <a:extLst xmlns:a="http://schemas.openxmlformats.org/drawingml/2006/main">
              <a:ext uri="{FF2B5EF4-FFF2-40B4-BE49-F238E27FC236}">
                <a16:creationId xmlns:a16="http://schemas.microsoft.com/office/drawing/2014/main" id="{0C0B423A-5002-43D0-A08B-454DE5772C04}"/>
              </a:ext>
            </a:extLst>
          </p:cNvPr>
          <p:cNvSpPr>
            <a:spLocks xmlns:a="http://schemas.openxmlformats.org/drawingml/2006/main" noGrp="1"/>
          </p:cNvSpPr>
          <p:nvPr/>
        </p:nvSpPr>
        <p:spPr>
          <a:xfrm xmlns:a="http://schemas.openxmlformats.org/drawingml/2006/main">
            <a:off x="731520" y="1325880"/>
            <a:ext cx="347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B7740F"/>
                </a:solidFill>
                <a:latin typeface="Calibri"/>
                <a:ea typeface="Calibri"/>
                <a:cs typeface="Calibri"/>
              </a:rPr>
              <a:t>Validation  |  124 clips</a:t>
            </a:r>
            <a:endParaRPr sz="1800"/>
          </a:p>
        </p:txBody>
      </p:sp>
      <p:sp>
        <p:nvSpPr>
          <p:cNvPr id="6" name="Text 3">
            <a:extLst xmlns:a="http://schemas.openxmlformats.org/drawingml/2006/main">
              <a:ext uri="{FF2B5EF4-FFF2-40B4-BE49-F238E27FC236}">
                <a16:creationId xmlns:a16="http://schemas.microsoft.com/office/drawing/2014/main" id="{69FA8C97-3B2D-4CF1-81C2-1561AAC5B94E}"/>
              </a:ext>
            </a:extLst>
          </p:cNvPr>
          <p:cNvSpPr>
            <a:spLocks xmlns:a="http://schemas.openxmlformats.org/drawingml/2006/main" noGrp="1"/>
          </p:cNvSpPr>
          <p:nvPr/>
        </p:nvSpPr>
        <p:spPr>
          <a:xfrm xmlns:a="http://schemas.openxmlformats.org/drawingml/2006/main">
            <a:off x="731520" y="1828800"/>
            <a:ext cx="1737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chemeClr val="tx1"/>
                </a:solidFill>
                <a:latin typeface="Cambria"/>
                <a:ea typeface="Cambria"/>
                <a:cs typeface="Cambria"/>
              </a:rPr>
              <a:t>12.42</a:t>
            </a:r>
            <a:endParaRPr sz="4000"/>
          </a:p>
        </p:txBody>
      </p:sp>
      <p:sp>
        <p:nvSpPr>
          <p:cNvPr id="7" name="Text 4">
            <a:extLst xmlns:a="http://schemas.openxmlformats.org/drawingml/2006/main">
              <a:ext uri="{FF2B5EF4-FFF2-40B4-BE49-F238E27FC236}">
                <a16:creationId xmlns:a16="http://schemas.microsoft.com/office/drawing/2014/main" id="{3DCBCC9D-17F9-4E84-B485-117FD13644E5}"/>
              </a:ext>
            </a:extLst>
          </p:cNvPr>
          <p:cNvSpPr>
            <a:spLocks xmlns:a="http://schemas.openxmlformats.org/drawingml/2006/main" noGrp="1"/>
          </p:cNvSpPr>
          <p:nvPr/>
        </p:nvSpPr>
        <p:spPr>
          <a:xfrm xmlns:a="http://schemas.openxmlformats.org/drawingml/2006/main">
            <a:off x="731520" y="256032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CER (%)</a:t>
            </a:r>
            <a:endParaRPr sz="1400"/>
          </a:p>
        </p:txBody>
      </p:sp>
      <p:sp>
        <p:nvSpPr>
          <p:cNvPr id="8" name="Text 5">
            <a:extLst xmlns:a="http://schemas.openxmlformats.org/drawingml/2006/main">
              <a:ext uri="{FF2B5EF4-FFF2-40B4-BE49-F238E27FC236}">
                <a16:creationId xmlns:a16="http://schemas.microsoft.com/office/drawing/2014/main" id="{21493949-F8C4-4C6A-AB9E-A3E95222A496}"/>
              </a:ext>
            </a:extLst>
          </p:cNvPr>
          <p:cNvSpPr>
            <a:spLocks xmlns:a="http://schemas.openxmlformats.org/drawingml/2006/main" noGrp="1"/>
          </p:cNvSpPr>
          <p:nvPr/>
        </p:nvSpPr>
        <p:spPr>
          <a:xfrm xmlns:a="http://schemas.openxmlformats.org/drawingml/2006/main">
            <a:off x="2560320" y="1828800"/>
            <a:ext cx="1737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chemeClr val="tx1"/>
                </a:solidFill>
                <a:latin typeface="Cambria"/>
                <a:ea typeface="Cambria"/>
                <a:cs typeface="Cambria"/>
              </a:rPr>
              <a:t>27.99</a:t>
            </a:r>
            <a:endParaRPr sz="4000"/>
          </a:p>
        </p:txBody>
      </p:sp>
      <p:sp>
        <p:nvSpPr>
          <p:cNvPr id="9" name="Text 6">
            <a:extLst xmlns:a="http://schemas.openxmlformats.org/drawingml/2006/main">
              <a:ext uri="{FF2B5EF4-FFF2-40B4-BE49-F238E27FC236}">
                <a16:creationId xmlns:a16="http://schemas.microsoft.com/office/drawing/2014/main" id="{79542EA4-BC84-440B-96CD-DE3AA4C3DAA8}"/>
              </a:ext>
            </a:extLst>
          </p:cNvPr>
          <p:cNvSpPr>
            <a:spLocks xmlns:a="http://schemas.openxmlformats.org/drawingml/2006/main" noGrp="1"/>
          </p:cNvSpPr>
          <p:nvPr/>
        </p:nvSpPr>
        <p:spPr>
          <a:xfrm xmlns:a="http://schemas.openxmlformats.org/drawingml/2006/main">
            <a:off x="2560320" y="256032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ICU WER (%)</a:t>
            </a:r>
            <a:endParaRPr sz="1400"/>
          </a:p>
        </p:txBody>
      </p:sp>
      <p:sp>
        <p:nvSpPr>
          <p:cNvPr id="10" name="split 2">
            <a:extLst xmlns:a="http://schemas.openxmlformats.org/drawingml/2006/main">
              <a:ext uri="{FF2B5EF4-FFF2-40B4-BE49-F238E27FC236}">
                <a16:creationId xmlns:a16="http://schemas.microsoft.com/office/drawing/2014/main" id="{ACFFB98E-D459-4D85-80C0-9D8317DA7068}"/>
              </a:ext>
            </a:extLst>
          </p:cNvPr>
          <p:cNvSpPr>
            <a:spLocks xmlns:a="http://schemas.openxmlformats.org/drawingml/2006/main" noGrp="1"/>
          </p:cNvSpPr>
          <p:nvPr/>
        </p:nvSpPr>
        <p:spPr>
          <a:xfrm xmlns:a="http://schemas.openxmlformats.org/drawingml/2006/main">
            <a:off x="4663440" y="1188720"/>
            <a:ext cx="4023360" cy="2057400"/>
          </a:xfrm>
          <a:prstGeom xmlns:a="http://schemas.openxmlformats.org/drawingml/2006/main" prst="roundRect">
            <a:avLst>
              <a:gd name="adj" fmla="val 3556"/>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1" name="Text 8">
            <a:extLst xmlns:a="http://schemas.openxmlformats.org/drawingml/2006/main">
              <a:ext uri="{FF2B5EF4-FFF2-40B4-BE49-F238E27FC236}">
                <a16:creationId xmlns:a16="http://schemas.microsoft.com/office/drawing/2014/main" id="{4BCD6CD9-DC93-40AC-8151-B9C25905E026}"/>
              </a:ext>
            </a:extLst>
          </p:cNvPr>
          <p:cNvSpPr>
            <a:spLocks xmlns:a="http://schemas.openxmlformats.org/drawingml/2006/main" noGrp="1"/>
          </p:cNvSpPr>
          <p:nvPr/>
        </p:nvSpPr>
        <p:spPr>
          <a:xfrm xmlns:a="http://schemas.openxmlformats.org/drawingml/2006/main">
            <a:off x="4937760" y="1325880"/>
            <a:ext cx="347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B4965"/>
                </a:solidFill>
                <a:latin typeface="Calibri"/>
                <a:ea typeface="Calibri"/>
                <a:cs typeface="Calibri"/>
              </a:rPr>
              <a:t>Test  |  114 clips</a:t>
            </a:r>
            <a:endParaRPr sz="1800"/>
          </a:p>
        </p:txBody>
      </p:sp>
      <p:sp>
        <p:nvSpPr>
          <p:cNvPr id="12" name="Text 9">
            <a:extLst xmlns:a="http://schemas.openxmlformats.org/drawingml/2006/main">
              <a:ext uri="{FF2B5EF4-FFF2-40B4-BE49-F238E27FC236}">
                <a16:creationId xmlns:a16="http://schemas.microsoft.com/office/drawing/2014/main" id="{06822997-09AF-4958-9676-150F3B0022B2}"/>
              </a:ext>
            </a:extLst>
          </p:cNvPr>
          <p:cNvSpPr>
            <a:spLocks xmlns:a="http://schemas.openxmlformats.org/drawingml/2006/main" noGrp="1"/>
          </p:cNvSpPr>
          <p:nvPr/>
        </p:nvSpPr>
        <p:spPr>
          <a:xfrm xmlns:a="http://schemas.openxmlformats.org/drawingml/2006/main">
            <a:off x="4937760" y="1828800"/>
            <a:ext cx="1737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chemeClr val="tx1"/>
                </a:solidFill>
                <a:latin typeface="Cambria"/>
                <a:ea typeface="Cambria"/>
                <a:cs typeface="Cambria"/>
              </a:rPr>
              <a:t>13.71</a:t>
            </a:r>
            <a:endParaRPr sz="4000"/>
          </a:p>
        </p:txBody>
      </p:sp>
      <p:sp>
        <p:nvSpPr>
          <p:cNvPr id="13" name="Text 10">
            <a:extLst xmlns:a="http://schemas.openxmlformats.org/drawingml/2006/main">
              <a:ext uri="{FF2B5EF4-FFF2-40B4-BE49-F238E27FC236}">
                <a16:creationId xmlns:a16="http://schemas.microsoft.com/office/drawing/2014/main" id="{0BCE05E6-9E84-4338-8AD5-CF48CAF1B10E}"/>
              </a:ext>
            </a:extLst>
          </p:cNvPr>
          <p:cNvSpPr>
            <a:spLocks xmlns:a="http://schemas.openxmlformats.org/drawingml/2006/main" noGrp="1"/>
          </p:cNvSpPr>
          <p:nvPr/>
        </p:nvSpPr>
        <p:spPr>
          <a:xfrm xmlns:a="http://schemas.openxmlformats.org/drawingml/2006/main">
            <a:off x="4937760" y="256032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CER (%)</a:t>
            </a:r>
            <a:endParaRPr sz="1400"/>
          </a:p>
        </p:txBody>
      </p:sp>
      <p:sp>
        <p:nvSpPr>
          <p:cNvPr id="14" name="Text 11">
            <a:extLst xmlns:a="http://schemas.openxmlformats.org/drawingml/2006/main">
              <a:ext uri="{FF2B5EF4-FFF2-40B4-BE49-F238E27FC236}">
                <a16:creationId xmlns:a16="http://schemas.microsoft.com/office/drawing/2014/main" id="{95D422A0-7BFD-495A-A3EA-5DC82FB565BE}"/>
              </a:ext>
            </a:extLst>
          </p:cNvPr>
          <p:cNvSpPr>
            <a:spLocks xmlns:a="http://schemas.openxmlformats.org/drawingml/2006/main" noGrp="1"/>
          </p:cNvSpPr>
          <p:nvPr/>
        </p:nvSpPr>
        <p:spPr>
          <a:xfrm xmlns:a="http://schemas.openxmlformats.org/drawingml/2006/main">
            <a:off x="6766560" y="1828800"/>
            <a:ext cx="1737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chemeClr val="tx1"/>
                </a:solidFill>
                <a:latin typeface="Cambria"/>
                <a:ea typeface="Cambria"/>
                <a:cs typeface="Cambria"/>
              </a:rPr>
              <a:t>33.40</a:t>
            </a:r>
            <a:endParaRPr sz="4000"/>
          </a:p>
        </p:txBody>
      </p:sp>
      <p:sp>
        <p:nvSpPr>
          <p:cNvPr id="15" name="Text 12">
            <a:extLst xmlns:a="http://schemas.openxmlformats.org/drawingml/2006/main">
              <a:ext uri="{FF2B5EF4-FFF2-40B4-BE49-F238E27FC236}">
                <a16:creationId xmlns:a16="http://schemas.microsoft.com/office/drawing/2014/main" id="{4ABD5EA5-8EE9-42C9-B9F1-C5E2D8CDBFF7}"/>
              </a:ext>
            </a:extLst>
          </p:cNvPr>
          <p:cNvSpPr>
            <a:spLocks xmlns:a="http://schemas.openxmlformats.org/drawingml/2006/main" noGrp="1"/>
          </p:cNvSpPr>
          <p:nvPr/>
        </p:nvSpPr>
        <p:spPr>
          <a:xfrm xmlns:a="http://schemas.openxmlformats.org/drawingml/2006/main">
            <a:off x="6766560" y="256032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C6B7A"/>
                </a:solidFill>
                <a:latin typeface="Calibri"/>
                <a:ea typeface="Calibri"/>
                <a:cs typeface="Calibri"/>
              </a:rPr>
              <a:t>ICU WER (%)</a:t>
            </a:r>
            <a:endParaRPr sz="1400"/>
          </a:p>
        </p:txBody>
      </p:sp>
      <p:sp>
        <p:nvSpPr>
          <p:cNvPr id="16" name="split note">
            <a:extLst xmlns:a="http://schemas.openxmlformats.org/drawingml/2006/main">
              <a:ext uri="{FF2B5EF4-FFF2-40B4-BE49-F238E27FC236}">
                <a16:creationId xmlns:a16="http://schemas.microsoft.com/office/drawing/2014/main" id="{C2F1334A-B6F0-4F88-AB7C-AED0A0B3EAA8}"/>
              </a:ext>
            </a:extLst>
          </p:cNvPr>
          <p:cNvSpPr>
            <a:spLocks xmlns:a="http://schemas.openxmlformats.org/drawingml/2006/main" noGrp="1"/>
          </p:cNvSpPr>
          <p:nvPr/>
        </p:nvSpPr>
        <p:spPr>
          <a:xfrm xmlns:a="http://schemas.openxmlformats.org/drawingml/2006/main">
            <a:off x="457200" y="3520440"/>
            <a:ext cx="8229600" cy="914400"/>
          </a:xfrm>
          <a:prstGeom xmlns:a="http://schemas.openxmlformats.org/drawingml/2006/main" prst="roundRect">
            <a:avLst>
              <a:gd name="adj" fmla="val 8000"/>
            </a:avLst>
          </a:prstGeom>
          <a:solidFill xmlns:a="http://schemas.openxmlformats.org/drawingml/2006/main">
            <a:srgbClr val="5C6B7A"/>
          </a:solidFill>
          <a:ln xmlns:a="http://schemas.openxmlformats.org/drawingml/2006/main" w="12700">
            <a:solidFill>
              <a:srgbClr val="5C6B7A"/>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7" name="Text 14">
            <a:extLst xmlns:a="http://schemas.openxmlformats.org/drawingml/2006/main">
              <a:ext uri="{FF2B5EF4-FFF2-40B4-BE49-F238E27FC236}">
                <a16:creationId xmlns:a16="http://schemas.microsoft.com/office/drawing/2014/main" id="{CEAAF9D2-5AB6-48A4-B903-1203EDE7CE88}"/>
              </a:ext>
            </a:extLst>
          </p:cNvPr>
          <p:cNvSpPr>
            <a:spLocks xmlns:a="http://schemas.openxmlformats.org/drawingml/2006/main" noGrp="1"/>
          </p:cNvSpPr>
          <p:nvPr/>
        </p:nvSpPr>
        <p:spPr>
          <a:xfrm xmlns:a="http://schemas.openxmlformats.org/drawingml/2006/main">
            <a:off x="731520" y="3566160"/>
            <a:ext cx="7680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FFFFFF"/>
                </a:solidFill>
                <a:latin typeface="Calibri"/>
                <a:ea typeface="Calibri"/>
                <a:cs typeface="Calibri"/>
              </a:rPr>
              <a:t>Test is 1.29 points higher in CER and 5.41 in WER. These are different clips. Model comparisons use test scores only.</a:t>
            </a:r>
            <a:endParaRPr sz="1500"/>
          </a:p>
        </p:txBody>
      </p:sp>
      <p:sp>
        <p:nvSpPr>
          <p:cNvPr id="25" name="Slide Number Placeholder 0">
            <a:extLst xmlns:a="http://schemas.openxmlformats.org/drawingml/2006/main">
              <a:ext uri="{FF2B5EF4-FFF2-40B4-BE49-F238E27FC236}">
                <a16:creationId xmlns:a16="http://schemas.microsoft.com/office/drawing/2014/main" id="{21DDEBD3-76B3-47C9-8AB1-A6C0617DAF3F}"/>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160187535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5D192F-7C90-4E58-9A6A-78B732F9E133}"/>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Word errors on the shared test</a:t>
            </a:r>
            <a:endParaRPr sz="3000"/>
          </a:p>
        </p:txBody>
      </p:sp>
      <p:sp>
        <p:nvSpPr>
          <p:cNvPr id="4" name="reading 1">
            <a:extLst xmlns:a="http://schemas.openxmlformats.org/drawingml/2006/main">
              <a:ext uri="{FF2B5EF4-FFF2-40B4-BE49-F238E27FC236}">
                <a16:creationId xmlns:a16="http://schemas.microsoft.com/office/drawing/2014/main" id="{3848A2B7-333D-451E-854A-86CBC8469EFF}"/>
              </a:ext>
            </a:extLst>
          </p:cNvPr>
          <p:cNvSpPr>
            <a:spLocks xmlns:a="http://schemas.openxmlformats.org/drawingml/2006/main" noGrp="1"/>
          </p:cNvSpPr>
          <p:nvPr/>
        </p:nvSpPr>
        <p:spPr>
          <a:xfrm xmlns:a="http://schemas.openxmlformats.org/drawingml/2006/main">
            <a:off x="457200" y="1143000"/>
            <a:ext cx="8229600" cy="896112"/>
          </a:xfrm>
          <a:prstGeom xmlns:a="http://schemas.openxmlformats.org/drawingml/2006/main" prst="roundRect">
            <a:avLst>
              <a:gd name="adj" fmla="val 816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5" name="reading label 1">
            <a:extLst xmlns:a="http://schemas.openxmlformats.org/drawingml/2006/main">
              <a:ext uri="{FF2B5EF4-FFF2-40B4-BE49-F238E27FC236}">
                <a16:creationId xmlns:a16="http://schemas.microsoft.com/office/drawing/2014/main" id="{EE211F22-97F0-4A50-AEA8-710774A063B7}"/>
              </a:ext>
            </a:extLst>
          </p:cNvPr>
          <p:cNvSpPr>
            <a:spLocks xmlns:a="http://schemas.openxmlformats.org/drawingml/2006/main" noGrp="1"/>
          </p:cNvSpPr>
          <p:nvPr/>
        </p:nvSpPr>
        <p:spPr>
          <a:xfrm xmlns:a="http://schemas.openxmlformats.org/drawingml/2006/main">
            <a:off x="457200" y="1143000"/>
            <a:ext cx="1920240" cy="896112"/>
          </a:xfrm>
          <a:prstGeom xmlns:a="http://schemas.openxmlformats.org/drawingml/2006/main" prst="roundRect">
            <a:avLst>
              <a:gd name="adj" fmla="val 8163"/>
            </a:avLst>
          </a:prstGeom>
          <a:solidFill xmlns:a="http://schemas.openxmlformats.org/drawingml/2006/main">
            <a:srgbClr val="D1603D"/>
          </a:solidFill>
          <a:ln xmlns:a="http://schemas.openxmlformats.org/drawingml/2006/main" w="12700">
            <a:solidFill>
              <a:srgbClr val="D1603D"/>
            </a:solidFill>
            <a:prstDash val="solid"/>
          </a:ln>
        </p:spPr>
      </p:sp>
      <p:sp>
        <p:nvSpPr>
          <p:cNvPr id="6" name="Text 3">
            <a:extLst xmlns:a="http://schemas.openxmlformats.org/drawingml/2006/main">
              <a:ext uri="{FF2B5EF4-FFF2-40B4-BE49-F238E27FC236}">
                <a16:creationId xmlns:a16="http://schemas.microsoft.com/office/drawing/2014/main" id="{0F0618E1-DFF4-4439-95D6-BF6F59DDD980}"/>
              </a:ext>
            </a:extLst>
          </p:cNvPr>
          <p:cNvSpPr>
            <a:spLocks xmlns:a="http://schemas.openxmlformats.org/drawingml/2006/main" noGrp="1"/>
          </p:cNvSpPr>
          <p:nvPr/>
        </p:nvSpPr>
        <p:spPr>
          <a:xfrm xmlns:a="http://schemas.openxmlformats.org/drawingml/2006/main">
            <a:off x="594360" y="1143000"/>
            <a:ext cx="169164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Whisper-Tiny</a:t>
            </a:r>
            <a:endParaRPr sz="1600"/>
          </a:p>
        </p:txBody>
      </p:sp>
      <p:sp>
        <p:nvSpPr>
          <p:cNvPr id="7" name="Text 4">
            <a:extLst xmlns:a="http://schemas.openxmlformats.org/drawingml/2006/main">
              <a:ext uri="{FF2B5EF4-FFF2-40B4-BE49-F238E27FC236}">
                <a16:creationId xmlns:a16="http://schemas.microsoft.com/office/drawing/2014/main" id="{219A35BE-3AF1-4CB0-8918-B914CEDC72C8}"/>
              </a:ext>
            </a:extLst>
          </p:cNvPr>
          <p:cNvSpPr>
            <a:spLocks xmlns:a="http://schemas.openxmlformats.org/drawingml/2006/main" noGrp="1"/>
          </p:cNvSpPr>
          <p:nvPr/>
        </p:nvSpPr>
        <p:spPr>
          <a:xfrm xmlns:a="http://schemas.openxmlformats.org/drawingml/2006/main">
            <a:off x="2606040" y="1143000"/>
            <a:ext cx="594360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latin typeface="Calibri"/>
                <a:ea typeface="Calibri"/>
                <a:cs typeface="Calibri"/>
              </a:rPr>
              <a:t>2,644 word edits across 2,488 reference words. WER: 106.27%.</a:t>
            </a:r>
            <a:endParaRPr sz="1400"/>
          </a:p>
        </p:txBody>
      </p:sp>
      <p:sp>
        <p:nvSpPr>
          <p:cNvPr id="8" name="reading 2">
            <a:extLst xmlns:a="http://schemas.openxmlformats.org/drawingml/2006/main">
              <a:ext uri="{FF2B5EF4-FFF2-40B4-BE49-F238E27FC236}">
                <a16:creationId xmlns:a16="http://schemas.microsoft.com/office/drawing/2014/main" id="{89920C7F-CA50-4F2C-89B4-8B014875B381}"/>
              </a:ext>
            </a:extLst>
          </p:cNvPr>
          <p:cNvSpPr>
            <a:spLocks xmlns:a="http://schemas.openxmlformats.org/drawingml/2006/main" noGrp="1"/>
          </p:cNvSpPr>
          <p:nvPr/>
        </p:nvSpPr>
        <p:spPr>
          <a:xfrm xmlns:a="http://schemas.openxmlformats.org/drawingml/2006/main">
            <a:off x="457200" y="2167128"/>
            <a:ext cx="8229600" cy="896112"/>
          </a:xfrm>
          <a:prstGeom xmlns:a="http://schemas.openxmlformats.org/drawingml/2006/main" prst="roundRect">
            <a:avLst>
              <a:gd name="adj" fmla="val 816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9" name="reading label 2">
            <a:extLst xmlns:a="http://schemas.openxmlformats.org/drawingml/2006/main">
              <a:ext uri="{FF2B5EF4-FFF2-40B4-BE49-F238E27FC236}">
                <a16:creationId xmlns:a16="http://schemas.microsoft.com/office/drawing/2014/main" id="{D1A80AEB-881C-45D4-931F-960CE0B10147}"/>
              </a:ext>
            </a:extLst>
          </p:cNvPr>
          <p:cNvSpPr>
            <a:spLocks xmlns:a="http://schemas.openxmlformats.org/drawingml/2006/main" noGrp="1"/>
          </p:cNvSpPr>
          <p:nvPr/>
        </p:nvSpPr>
        <p:spPr>
          <a:xfrm xmlns:a="http://schemas.openxmlformats.org/drawingml/2006/main">
            <a:off x="457200" y="2167128"/>
            <a:ext cx="1920240" cy="896112"/>
          </a:xfrm>
          <a:prstGeom xmlns:a="http://schemas.openxmlformats.org/drawingml/2006/main" prst="roundRect">
            <a:avLst>
              <a:gd name="adj" fmla="val 8163"/>
            </a:avLst>
          </a:prstGeom>
          <a:solidFill xmlns:a="http://schemas.openxmlformats.org/drawingml/2006/main">
            <a:srgbClr val="1B4965"/>
          </a:solidFill>
          <a:ln xmlns:a="http://schemas.openxmlformats.org/drawingml/2006/main" w="12700">
            <a:solidFill>
              <a:srgbClr val="1B4965"/>
            </a:solidFill>
            <a:prstDash val="solid"/>
          </a:ln>
        </p:spPr>
      </p:sp>
      <p:sp>
        <p:nvSpPr>
          <p:cNvPr id="10" name="Text 7">
            <a:extLst xmlns:a="http://schemas.openxmlformats.org/drawingml/2006/main">
              <a:ext uri="{FF2B5EF4-FFF2-40B4-BE49-F238E27FC236}">
                <a16:creationId xmlns:a16="http://schemas.microsoft.com/office/drawing/2014/main" id="{6E3CADC3-4F72-4F9C-B953-AED21AC5D2CF}"/>
              </a:ext>
            </a:extLst>
          </p:cNvPr>
          <p:cNvSpPr>
            <a:spLocks xmlns:a="http://schemas.openxmlformats.org/drawingml/2006/main" noGrp="1"/>
          </p:cNvSpPr>
          <p:nvPr/>
        </p:nvSpPr>
        <p:spPr>
          <a:xfrm xmlns:a="http://schemas.openxmlformats.org/drawingml/2006/main">
            <a:off x="594360" y="2167128"/>
            <a:ext cx="169164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MMS-1B</a:t>
            </a:r>
            <a:endParaRPr sz="1600"/>
          </a:p>
        </p:txBody>
      </p:sp>
      <p:sp>
        <p:nvSpPr>
          <p:cNvPr id="11" name="Text 8">
            <a:extLst xmlns:a="http://schemas.openxmlformats.org/drawingml/2006/main">
              <a:ext uri="{FF2B5EF4-FFF2-40B4-BE49-F238E27FC236}">
                <a16:creationId xmlns:a16="http://schemas.microsoft.com/office/drawing/2014/main" id="{6206D854-CEC7-4307-B758-6AEF68EA5A67}"/>
              </a:ext>
            </a:extLst>
          </p:cNvPr>
          <p:cNvSpPr>
            <a:spLocks xmlns:a="http://schemas.openxmlformats.org/drawingml/2006/main" noGrp="1"/>
          </p:cNvSpPr>
          <p:nvPr/>
        </p:nvSpPr>
        <p:spPr>
          <a:xfrm xmlns:a="http://schemas.openxmlformats.org/drawingml/2006/main">
            <a:off x="2606040" y="2167128"/>
            <a:ext cx="594360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latin typeface="Calibri"/>
                <a:ea typeface="Calibri"/>
                <a:cs typeface="Calibri"/>
              </a:rPr>
              <a:t>1,671 word edits across the same references. WER: 67.16%.</a:t>
            </a:r>
            <a:endParaRPr sz="1400"/>
          </a:p>
        </p:txBody>
      </p:sp>
      <p:sp>
        <p:nvSpPr>
          <p:cNvPr id="12" name="reading 3">
            <a:extLst xmlns:a="http://schemas.openxmlformats.org/drawingml/2006/main">
              <a:ext uri="{FF2B5EF4-FFF2-40B4-BE49-F238E27FC236}">
                <a16:creationId xmlns:a16="http://schemas.microsoft.com/office/drawing/2014/main" id="{5F60DC10-2233-4A60-BDBE-B5E9ED47707A}"/>
              </a:ext>
            </a:extLst>
          </p:cNvPr>
          <p:cNvSpPr>
            <a:spLocks xmlns:a="http://schemas.openxmlformats.org/drawingml/2006/main" noGrp="1"/>
          </p:cNvSpPr>
          <p:nvPr/>
        </p:nvSpPr>
        <p:spPr>
          <a:xfrm xmlns:a="http://schemas.openxmlformats.org/drawingml/2006/main">
            <a:off x="457200" y="3191256"/>
            <a:ext cx="8229600" cy="896112"/>
          </a:xfrm>
          <a:prstGeom xmlns:a="http://schemas.openxmlformats.org/drawingml/2006/main" prst="roundRect">
            <a:avLst>
              <a:gd name="adj" fmla="val 816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3" name="reading label 3">
            <a:extLst xmlns:a="http://schemas.openxmlformats.org/drawingml/2006/main">
              <a:ext uri="{FF2B5EF4-FFF2-40B4-BE49-F238E27FC236}">
                <a16:creationId xmlns:a16="http://schemas.microsoft.com/office/drawing/2014/main" id="{4CDE3F58-A544-4705-B42D-AE6B9C052004}"/>
              </a:ext>
            </a:extLst>
          </p:cNvPr>
          <p:cNvSpPr>
            <a:spLocks xmlns:a="http://schemas.openxmlformats.org/drawingml/2006/main" noGrp="1"/>
          </p:cNvSpPr>
          <p:nvPr/>
        </p:nvSpPr>
        <p:spPr>
          <a:xfrm xmlns:a="http://schemas.openxmlformats.org/drawingml/2006/main">
            <a:off x="457200" y="3191256"/>
            <a:ext cx="1920240" cy="896112"/>
          </a:xfrm>
          <a:prstGeom xmlns:a="http://schemas.openxmlformats.org/drawingml/2006/main" prst="roundRect">
            <a:avLst>
              <a:gd name="adj" fmla="val 8163"/>
            </a:avLst>
          </a:prstGeom>
          <a:solidFill xmlns:a="http://schemas.openxmlformats.org/drawingml/2006/main">
            <a:srgbClr val="2A9D8F"/>
          </a:solidFill>
          <a:ln xmlns:a="http://schemas.openxmlformats.org/drawingml/2006/main" w="12700">
            <a:solidFill>
              <a:srgbClr val="2A9D8F"/>
            </a:solidFill>
            <a:prstDash val="solid"/>
          </a:ln>
        </p:spPr>
      </p:sp>
      <p:sp>
        <p:nvSpPr>
          <p:cNvPr id="14" name="Text 11">
            <a:extLst xmlns:a="http://schemas.openxmlformats.org/drawingml/2006/main">
              <a:ext uri="{FF2B5EF4-FFF2-40B4-BE49-F238E27FC236}">
                <a16:creationId xmlns:a16="http://schemas.microsoft.com/office/drawing/2014/main" id="{C482425E-45B7-4832-951B-CC44724D4ED3}"/>
              </a:ext>
            </a:extLst>
          </p:cNvPr>
          <p:cNvSpPr>
            <a:spLocks xmlns:a="http://schemas.openxmlformats.org/drawingml/2006/main" noGrp="1"/>
          </p:cNvSpPr>
          <p:nvPr/>
        </p:nvSpPr>
        <p:spPr>
          <a:xfrm xmlns:a="http://schemas.openxmlformats.org/drawingml/2006/main">
            <a:off x="594360" y="3191256"/>
            <a:ext cx="169164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Qwen3-ASR</a:t>
            </a:r>
            <a:endParaRPr sz="1600"/>
          </a:p>
        </p:txBody>
      </p:sp>
      <p:sp>
        <p:nvSpPr>
          <p:cNvPr id="15" name="Text 12">
            <a:extLst xmlns:a="http://schemas.openxmlformats.org/drawingml/2006/main">
              <a:ext uri="{FF2B5EF4-FFF2-40B4-BE49-F238E27FC236}">
                <a16:creationId xmlns:a16="http://schemas.microsoft.com/office/drawing/2014/main" id="{C1F2E9B1-4DCC-46BA-B126-AF1D6E1346EA}"/>
              </a:ext>
            </a:extLst>
          </p:cNvPr>
          <p:cNvSpPr>
            <a:spLocks xmlns:a="http://schemas.openxmlformats.org/drawingml/2006/main" noGrp="1"/>
          </p:cNvSpPr>
          <p:nvPr/>
        </p:nvSpPr>
        <p:spPr>
          <a:xfrm xmlns:a="http://schemas.openxmlformats.org/drawingml/2006/main">
            <a:off x="2606040" y="3191256"/>
            <a:ext cx="594360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latin typeface="Calibri"/>
                <a:ea typeface="Calibri"/>
                <a:cs typeface="Calibri"/>
              </a:rPr>
              <a:t>831 word edits across the same references. WER: 33.40%.</a:t>
            </a:r>
            <a:endParaRPr sz="1400"/>
          </a:p>
        </p:txBody>
      </p:sp>
      <p:sp>
        <p:nvSpPr>
          <p:cNvPr id="16" name="Text 13">
            <a:extLst xmlns:a="http://schemas.openxmlformats.org/drawingml/2006/main">
              <a:ext uri="{FF2B5EF4-FFF2-40B4-BE49-F238E27FC236}">
                <a16:creationId xmlns:a16="http://schemas.microsoft.com/office/drawing/2014/main" id="{495B9AD4-64FE-4BFE-A633-F401640CC023}"/>
              </a:ext>
            </a:extLst>
          </p:cNvPr>
          <p:cNvSpPr>
            <a:spLocks xmlns:a="http://schemas.openxmlformats.org/drawingml/2006/main" noGrp="1"/>
          </p:cNvSpPr>
          <p:nvPr/>
        </p:nvSpPr>
        <p:spPr>
          <a:xfrm xmlns:a="http://schemas.openxmlformats.org/drawingml/2006/main">
            <a:off x="457200" y="425196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5C6B7A"/>
                </a:solidFill>
                <a:latin typeface="Calibri"/>
                <a:ea typeface="Calibri"/>
                <a:cs typeface="Calibri"/>
              </a:rPr>
              <a:t>Word edits are substitutions, deletions and insertions summed over the test set.</a:t>
            </a:r>
            <a:endParaRPr sz="1200"/>
          </a:p>
        </p:txBody>
      </p:sp>
      <p:sp>
        <p:nvSpPr>
          <p:cNvPr id="25" name="Slide Number Placeholder 0">
            <a:extLst xmlns:a="http://schemas.openxmlformats.org/drawingml/2006/main">
              <a:ext uri="{FF2B5EF4-FFF2-40B4-BE49-F238E27FC236}">
                <a16:creationId xmlns:a16="http://schemas.microsoft.com/office/drawing/2014/main" id="{DD1BCF82-35BA-4C9E-B117-F3362AE392DD}"/>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83381825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1D66DEA-AF8F-4940-9F9B-AA2CCB74210C}"/>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Limitations</a:t>
            </a:r>
            <a:endParaRPr sz="3000"/>
          </a:p>
        </p:txBody>
      </p:sp>
      <p:sp>
        <p:nvSpPr>
          <p:cNvPr id="4" name="limit 1">
            <a:extLst xmlns:a="http://schemas.openxmlformats.org/drawingml/2006/main">
              <a:ext uri="{FF2B5EF4-FFF2-40B4-BE49-F238E27FC236}">
                <a16:creationId xmlns:a16="http://schemas.microsoft.com/office/drawing/2014/main" id="{8041F7AB-808B-4F95-B7E6-16AA607804E5}"/>
              </a:ext>
            </a:extLst>
          </p:cNvPr>
          <p:cNvSpPr>
            <a:spLocks xmlns:a="http://schemas.openxmlformats.org/drawingml/2006/main" noGrp="1"/>
          </p:cNvSpPr>
          <p:nvPr/>
        </p:nvSpPr>
        <p:spPr>
          <a:xfrm xmlns:a="http://schemas.openxmlformats.org/drawingml/2006/main">
            <a:off x="457200" y="1188720"/>
            <a:ext cx="4023360" cy="932688"/>
          </a:xfrm>
          <a:prstGeom xmlns:a="http://schemas.openxmlformats.org/drawingml/2006/main" prst="roundRect">
            <a:avLst>
              <a:gd name="adj" fmla="val 784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5" name="limit number 1">
            <a:extLst xmlns:a="http://schemas.openxmlformats.org/drawingml/2006/main">
              <a:ext uri="{FF2B5EF4-FFF2-40B4-BE49-F238E27FC236}">
                <a16:creationId xmlns:a16="http://schemas.microsoft.com/office/drawing/2014/main" id="{15D747D9-D75F-40BD-AF5B-EE4CC99FC9FB}"/>
              </a:ext>
            </a:extLst>
          </p:cNvPr>
          <p:cNvSpPr>
            <a:spLocks xmlns:a="http://schemas.openxmlformats.org/drawingml/2006/main" noGrp="1"/>
          </p:cNvSpPr>
          <p:nvPr/>
        </p:nvSpPr>
        <p:spPr>
          <a:xfrm xmlns:a="http://schemas.openxmlformats.org/drawingml/2006/main">
            <a:off x="640080" y="1408176"/>
            <a:ext cx="502920" cy="502920"/>
          </a:xfrm>
          <a:prstGeom xmlns:a="http://schemas.openxmlformats.org/drawingml/2006/main" prst="ellipse">
            <a:avLst/>
          </a:prstGeom>
          <a:solidFill xmlns:a="http://schemas.openxmlformats.org/drawingml/2006/main">
            <a:srgbClr val="1B4965"/>
          </a:solidFill>
          <a:ln xmlns:a="http://schemas.openxmlformats.org/drawingml/2006/main" w="12700">
            <a:solidFill>
              <a:srgbClr val="1B4965"/>
            </a:solidFill>
            <a:prstDash val="solid"/>
          </a:ln>
        </p:spPr>
      </p:sp>
      <p:sp>
        <p:nvSpPr>
          <p:cNvPr id="6" name="Text 3">
            <a:extLst xmlns:a="http://schemas.openxmlformats.org/drawingml/2006/main">
              <a:ext uri="{FF2B5EF4-FFF2-40B4-BE49-F238E27FC236}">
                <a16:creationId xmlns:a16="http://schemas.microsoft.com/office/drawing/2014/main" id="{899C962E-5958-41F6-B655-568D0365E514}"/>
              </a:ext>
            </a:extLst>
          </p:cNvPr>
          <p:cNvSpPr>
            <a:spLocks xmlns:a="http://schemas.openxmlformats.org/drawingml/2006/main" noGrp="1"/>
          </p:cNvSpPr>
          <p:nvPr/>
        </p:nvSpPr>
        <p:spPr>
          <a:xfrm xmlns:a="http://schemas.openxmlformats.org/drawingml/2006/main">
            <a:off x="640080" y="1408176"/>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endParaRPr sz="1600"/>
          </a:p>
        </p:txBody>
      </p:sp>
      <p:sp>
        <p:nvSpPr>
          <p:cNvPr id="7" name="Text 4">
            <a:extLst xmlns:a="http://schemas.openxmlformats.org/drawingml/2006/main">
              <a:ext uri="{FF2B5EF4-FFF2-40B4-BE49-F238E27FC236}">
                <a16:creationId xmlns:a16="http://schemas.microsoft.com/office/drawing/2014/main" id="{958D5FF1-EEFC-4ED2-A6A3-8F5E6FB3E855}"/>
              </a:ext>
            </a:extLst>
          </p:cNvPr>
          <p:cNvSpPr>
            <a:spLocks xmlns:a="http://schemas.openxmlformats.org/drawingml/2006/main" noGrp="1"/>
          </p:cNvSpPr>
          <p:nvPr/>
        </p:nvSpPr>
        <p:spPr>
          <a:xfrm xmlns:a="http://schemas.openxmlformats.org/drawingml/2006/main">
            <a:off x="1325880" y="1234440"/>
            <a:ext cx="301752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chemeClr val="tx1"/>
                </a:solidFill>
                <a:latin typeface="Calibri"/>
                <a:ea typeface="Calibri"/>
                <a:cs typeface="Calibri"/>
              </a:rPr>
              <a:t>Not controlled: 531 vs 16,720 training clips</a:t>
            </a:r>
            <a:endParaRPr sz="1500"/>
          </a:p>
        </p:txBody>
      </p:sp>
      <p:sp>
        <p:nvSpPr>
          <p:cNvPr id="8" name="limit 2">
            <a:extLst xmlns:a="http://schemas.openxmlformats.org/drawingml/2006/main">
              <a:ext uri="{FF2B5EF4-FFF2-40B4-BE49-F238E27FC236}">
                <a16:creationId xmlns:a16="http://schemas.microsoft.com/office/drawing/2014/main" id="{CC2FCE1F-0135-4672-9EF2-207A57E5210C}"/>
              </a:ext>
            </a:extLst>
          </p:cNvPr>
          <p:cNvSpPr>
            <a:spLocks xmlns:a="http://schemas.openxmlformats.org/drawingml/2006/main" noGrp="1"/>
          </p:cNvSpPr>
          <p:nvPr/>
        </p:nvSpPr>
        <p:spPr>
          <a:xfrm xmlns:a="http://schemas.openxmlformats.org/drawingml/2006/main">
            <a:off x="4663440" y="1188720"/>
            <a:ext cx="4023360" cy="932688"/>
          </a:xfrm>
          <a:prstGeom xmlns:a="http://schemas.openxmlformats.org/drawingml/2006/main" prst="roundRect">
            <a:avLst>
              <a:gd name="adj" fmla="val 784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9" name="limit number 2">
            <a:extLst xmlns:a="http://schemas.openxmlformats.org/drawingml/2006/main">
              <a:ext uri="{FF2B5EF4-FFF2-40B4-BE49-F238E27FC236}">
                <a16:creationId xmlns:a16="http://schemas.microsoft.com/office/drawing/2014/main" id="{69AB93CB-33D7-4144-B31F-062BA3088AFD}"/>
              </a:ext>
            </a:extLst>
          </p:cNvPr>
          <p:cNvSpPr>
            <a:spLocks xmlns:a="http://schemas.openxmlformats.org/drawingml/2006/main" noGrp="1"/>
          </p:cNvSpPr>
          <p:nvPr/>
        </p:nvSpPr>
        <p:spPr>
          <a:xfrm xmlns:a="http://schemas.openxmlformats.org/drawingml/2006/main">
            <a:off x="4846320" y="1408176"/>
            <a:ext cx="502920" cy="502920"/>
          </a:xfrm>
          <a:prstGeom xmlns:a="http://schemas.openxmlformats.org/drawingml/2006/main" prst="ellipse">
            <a:avLst/>
          </a:prstGeom>
          <a:solidFill xmlns:a="http://schemas.openxmlformats.org/drawingml/2006/main">
            <a:srgbClr val="1B4965"/>
          </a:solidFill>
          <a:ln xmlns:a="http://schemas.openxmlformats.org/drawingml/2006/main" w="12700">
            <a:solidFill>
              <a:srgbClr val="1B4965"/>
            </a:solidFill>
            <a:prstDash val="solid"/>
          </a:ln>
        </p:spPr>
      </p:sp>
      <p:sp>
        <p:nvSpPr>
          <p:cNvPr id="10" name="Text 7">
            <a:extLst xmlns:a="http://schemas.openxmlformats.org/drawingml/2006/main">
              <a:ext uri="{FF2B5EF4-FFF2-40B4-BE49-F238E27FC236}">
                <a16:creationId xmlns:a16="http://schemas.microsoft.com/office/drawing/2014/main" id="{F9E6728A-D913-4DA0-978C-C7D5FCF1B09A}"/>
              </a:ext>
            </a:extLst>
          </p:cNvPr>
          <p:cNvSpPr>
            <a:spLocks xmlns:a="http://schemas.openxmlformats.org/drawingml/2006/main" noGrp="1"/>
          </p:cNvSpPr>
          <p:nvPr/>
        </p:nvSpPr>
        <p:spPr>
          <a:xfrm xmlns:a="http://schemas.openxmlformats.org/drawingml/2006/main">
            <a:off x="4846320" y="1408176"/>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endParaRPr sz="1600"/>
          </a:p>
        </p:txBody>
      </p:sp>
      <p:sp>
        <p:nvSpPr>
          <p:cNvPr id="11" name="Text 8">
            <a:extLst xmlns:a="http://schemas.openxmlformats.org/drawingml/2006/main">
              <a:ext uri="{FF2B5EF4-FFF2-40B4-BE49-F238E27FC236}">
                <a16:creationId xmlns:a16="http://schemas.microsoft.com/office/drawing/2014/main" id="{858DCD82-42D4-4639-A6A1-310A102257BE}"/>
              </a:ext>
            </a:extLst>
          </p:cNvPr>
          <p:cNvSpPr>
            <a:spLocks xmlns:a="http://schemas.openxmlformats.org/drawingml/2006/main" noGrp="1"/>
          </p:cNvSpPr>
          <p:nvPr/>
        </p:nvSpPr>
        <p:spPr>
          <a:xfrm xmlns:a="http://schemas.openxmlformats.org/drawingml/2006/main">
            <a:off x="5532120" y="1234440"/>
            <a:ext cx="301752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chemeClr val="tx1"/>
                </a:solidFill>
                <a:latin typeface="Calibri"/>
                <a:ea typeface="Calibri"/>
                <a:cs typeface="Calibri"/>
              </a:rPr>
              <a:t>Small test set: 114 clips</a:t>
            </a:r>
            <a:endParaRPr sz="1500"/>
          </a:p>
        </p:txBody>
      </p:sp>
      <p:sp>
        <p:nvSpPr>
          <p:cNvPr id="12" name="limit 3">
            <a:extLst xmlns:a="http://schemas.openxmlformats.org/drawingml/2006/main">
              <a:ext uri="{FF2B5EF4-FFF2-40B4-BE49-F238E27FC236}">
                <a16:creationId xmlns:a16="http://schemas.microsoft.com/office/drawing/2014/main" id="{EFBCA1ED-64D6-4E1B-B27B-0715A2D1B42D}"/>
              </a:ext>
            </a:extLst>
          </p:cNvPr>
          <p:cNvSpPr>
            <a:spLocks xmlns:a="http://schemas.openxmlformats.org/drawingml/2006/main" noGrp="1"/>
          </p:cNvSpPr>
          <p:nvPr/>
        </p:nvSpPr>
        <p:spPr>
          <a:xfrm xmlns:a="http://schemas.openxmlformats.org/drawingml/2006/main">
            <a:off x="457200" y="2286000"/>
            <a:ext cx="4023360" cy="932688"/>
          </a:xfrm>
          <a:prstGeom xmlns:a="http://schemas.openxmlformats.org/drawingml/2006/main" prst="roundRect">
            <a:avLst>
              <a:gd name="adj" fmla="val 784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3" name="limit number 3">
            <a:extLst xmlns:a="http://schemas.openxmlformats.org/drawingml/2006/main">
              <a:ext uri="{FF2B5EF4-FFF2-40B4-BE49-F238E27FC236}">
                <a16:creationId xmlns:a16="http://schemas.microsoft.com/office/drawing/2014/main" id="{50F649E9-6A7E-4111-AC62-A5876979FDD9}"/>
              </a:ext>
            </a:extLst>
          </p:cNvPr>
          <p:cNvSpPr>
            <a:spLocks xmlns:a="http://schemas.openxmlformats.org/drawingml/2006/main" noGrp="1"/>
          </p:cNvSpPr>
          <p:nvPr/>
        </p:nvSpPr>
        <p:spPr>
          <a:xfrm xmlns:a="http://schemas.openxmlformats.org/drawingml/2006/main">
            <a:off x="640080" y="2505456"/>
            <a:ext cx="502920" cy="502920"/>
          </a:xfrm>
          <a:prstGeom xmlns:a="http://schemas.openxmlformats.org/drawingml/2006/main" prst="ellipse">
            <a:avLst/>
          </a:prstGeom>
          <a:solidFill xmlns:a="http://schemas.openxmlformats.org/drawingml/2006/main">
            <a:srgbClr val="1B4965"/>
          </a:solidFill>
          <a:ln xmlns:a="http://schemas.openxmlformats.org/drawingml/2006/main" w="12700">
            <a:solidFill>
              <a:srgbClr val="1B4965"/>
            </a:solidFill>
            <a:prstDash val="solid"/>
          </a:ln>
        </p:spPr>
      </p:sp>
      <p:sp>
        <p:nvSpPr>
          <p:cNvPr id="14" name="Text 11">
            <a:extLst xmlns:a="http://schemas.openxmlformats.org/drawingml/2006/main">
              <a:ext uri="{FF2B5EF4-FFF2-40B4-BE49-F238E27FC236}">
                <a16:creationId xmlns:a16="http://schemas.microsoft.com/office/drawing/2014/main" id="{A01B7A10-F351-4ABD-8DA0-98754BA22576}"/>
              </a:ext>
            </a:extLst>
          </p:cNvPr>
          <p:cNvSpPr>
            <a:spLocks xmlns:a="http://schemas.openxmlformats.org/drawingml/2006/main" noGrp="1"/>
          </p:cNvSpPr>
          <p:nvPr/>
        </p:nvSpPr>
        <p:spPr>
          <a:xfrm xmlns:a="http://schemas.openxmlformats.org/drawingml/2006/main">
            <a:off x="640080" y="2505456"/>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endParaRPr sz="1600"/>
          </a:p>
        </p:txBody>
      </p:sp>
      <p:sp>
        <p:nvSpPr>
          <p:cNvPr id="15" name="Text 12">
            <a:extLst xmlns:a="http://schemas.openxmlformats.org/drawingml/2006/main">
              <a:ext uri="{FF2B5EF4-FFF2-40B4-BE49-F238E27FC236}">
                <a16:creationId xmlns:a16="http://schemas.microsoft.com/office/drawing/2014/main" id="{E03986FF-CC78-49AE-99FE-83EE10496F63}"/>
              </a:ext>
            </a:extLst>
          </p:cNvPr>
          <p:cNvSpPr>
            <a:spLocks xmlns:a="http://schemas.openxmlformats.org/drawingml/2006/main" noGrp="1"/>
          </p:cNvSpPr>
          <p:nvPr/>
        </p:nvSpPr>
        <p:spPr>
          <a:xfrm xmlns:a="http://schemas.openxmlformats.org/drawingml/2006/main">
            <a:off x="1325880" y="2331720"/>
            <a:ext cx="301752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chemeClr val="tx1"/>
                </a:solidFill>
                <a:latin typeface="Calibri"/>
                <a:ea typeface="Calibri"/>
                <a:cs typeface="Calibri"/>
              </a:rPr>
              <a:t>WER depends on ICU word segmentation</a:t>
            </a:r>
            <a:endParaRPr sz="1500"/>
          </a:p>
        </p:txBody>
      </p:sp>
      <p:sp>
        <p:nvSpPr>
          <p:cNvPr id="16" name="limit 4">
            <a:extLst xmlns:a="http://schemas.openxmlformats.org/drawingml/2006/main">
              <a:ext uri="{FF2B5EF4-FFF2-40B4-BE49-F238E27FC236}">
                <a16:creationId xmlns:a16="http://schemas.microsoft.com/office/drawing/2014/main" id="{EA674981-1104-4880-860D-BF9B0DB16ED0}"/>
              </a:ext>
            </a:extLst>
          </p:cNvPr>
          <p:cNvSpPr>
            <a:spLocks xmlns:a="http://schemas.openxmlformats.org/drawingml/2006/main" noGrp="1"/>
          </p:cNvSpPr>
          <p:nvPr/>
        </p:nvSpPr>
        <p:spPr>
          <a:xfrm xmlns:a="http://schemas.openxmlformats.org/drawingml/2006/main">
            <a:off x="4663440" y="2286000"/>
            <a:ext cx="4023360" cy="932688"/>
          </a:xfrm>
          <a:prstGeom xmlns:a="http://schemas.openxmlformats.org/drawingml/2006/main" prst="roundRect">
            <a:avLst>
              <a:gd name="adj" fmla="val 784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17" name="limit number 4">
            <a:extLst xmlns:a="http://schemas.openxmlformats.org/drawingml/2006/main">
              <a:ext uri="{FF2B5EF4-FFF2-40B4-BE49-F238E27FC236}">
                <a16:creationId xmlns:a16="http://schemas.microsoft.com/office/drawing/2014/main" id="{41298113-35EF-40D1-AD49-C8CA2A742824}"/>
              </a:ext>
            </a:extLst>
          </p:cNvPr>
          <p:cNvSpPr>
            <a:spLocks xmlns:a="http://schemas.openxmlformats.org/drawingml/2006/main" noGrp="1"/>
          </p:cNvSpPr>
          <p:nvPr/>
        </p:nvSpPr>
        <p:spPr>
          <a:xfrm xmlns:a="http://schemas.openxmlformats.org/drawingml/2006/main">
            <a:off x="4846320" y="2505456"/>
            <a:ext cx="502920" cy="502920"/>
          </a:xfrm>
          <a:prstGeom xmlns:a="http://schemas.openxmlformats.org/drawingml/2006/main" prst="ellipse">
            <a:avLst/>
          </a:prstGeom>
          <a:solidFill xmlns:a="http://schemas.openxmlformats.org/drawingml/2006/main">
            <a:srgbClr val="1B4965"/>
          </a:solidFill>
          <a:ln xmlns:a="http://schemas.openxmlformats.org/drawingml/2006/main" w="12700">
            <a:solidFill>
              <a:srgbClr val="1B4965"/>
            </a:solidFill>
            <a:prstDash val="solid"/>
          </a:ln>
        </p:spPr>
      </p:sp>
      <p:sp>
        <p:nvSpPr>
          <p:cNvPr id="18" name="Text 15">
            <a:extLst xmlns:a="http://schemas.openxmlformats.org/drawingml/2006/main">
              <a:ext uri="{FF2B5EF4-FFF2-40B4-BE49-F238E27FC236}">
                <a16:creationId xmlns:a16="http://schemas.microsoft.com/office/drawing/2014/main" id="{071897C9-AA3B-495B-BFB0-2CC09A8B85DD}"/>
              </a:ext>
            </a:extLst>
          </p:cNvPr>
          <p:cNvSpPr>
            <a:spLocks xmlns:a="http://schemas.openxmlformats.org/drawingml/2006/main" noGrp="1"/>
          </p:cNvSpPr>
          <p:nvPr/>
        </p:nvSpPr>
        <p:spPr>
          <a:xfrm xmlns:a="http://schemas.openxmlformats.org/drawingml/2006/main">
            <a:off x="4846320" y="2505456"/>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4</a:t>
            </a:r>
            <a:endParaRPr sz="1600"/>
          </a:p>
        </p:txBody>
      </p:sp>
      <p:sp>
        <p:nvSpPr>
          <p:cNvPr id="19" name="Text 16">
            <a:extLst xmlns:a="http://schemas.openxmlformats.org/drawingml/2006/main">
              <a:ext uri="{FF2B5EF4-FFF2-40B4-BE49-F238E27FC236}">
                <a16:creationId xmlns:a16="http://schemas.microsoft.com/office/drawing/2014/main" id="{C345F4FA-C6E7-42C1-87FF-B09DFDED8266}"/>
              </a:ext>
            </a:extLst>
          </p:cNvPr>
          <p:cNvSpPr>
            <a:spLocks xmlns:a="http://schemas.openxmlformats.org/drawingml/2006/main" noGrp="1"/>
          </p:cNvSpPr>
          <p:nvPr/>
        </p:nvSpPr>
        <p:spPr>
          <a:xfrm xmlns:a="http://schemas.openxmlformats.org/drawingml/2006/main">
            <a:off x="5532120" y="2331720"/>
            <a:ext cx="301752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chemeClr val="tx1"/>
                </a:solidFill>
                <a:latin typeface="Calibri"/>
                <a:ea typeface="Calibri"/>
                <a:cs typeface="Calibri"/>
              </a:rPr>
              <a:t>Whisper-Tiny failure mode needs further diagnosis</a:t>
            </a:r>
            <a:endParaRPr sz="1500"/>
          </a:p>
        </p:txBody>
      </p:sp>
      <p:sp>
        <p:nvSpPr>
          <p:cNvPr id="20" name="limit 5">
            <a:extLst xmlns:a="http://schemas.openxmlformats.org/drawingml/2006/main">
              <a:ext uri="{FF2B5EF4-FFF2-40B4-BE49-F238E27FC236}">
                <a16:creationId xmlns:a16="http://schemas.microsoft.com/office/drawing/2014/main" id="{0FED1BB5-E1BD-4C67-A178-7B2E6EFF877A}"/>
              </a:ext>
            </a:extLst>
          </p:cNvPr>
          <p:cNvSpPr>
            <a:spLocks xmlns:a="http://schemas.openxmlformats.org/drawingml/2006/main" noGrp="1"/>
          </p:cNvSpPr>
          <p:nvPr/>
        </p:nvSpPr>
        <p:spPr>
          <a:xfrm xmlns:a="http://schemas.openxmlformats.org/drawingml/2006/main">
            <a:off x="457200" y="3383280"/>
            <a:ext cx="4023360" cy="932688"/>
          </a:xfrm>
          <a:prstGeom xmlns:a="http://schemas.openxmlformats.org/drawingml/2006/main" prst="roundRect">
            <a:avLst>
              <a:gd name="adj" fmla="val 784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21" name="limit number 5">
            <a:extLst xmlns:a="http://schemas.openxmlformats.org/drawingml/2006/main">
              <a:ext uri="{FF2B5EF4-FFF2-40B4-BE49-F238E27FC236}">
                <a16:creationId xmlns:a16="http://schemas.microsoft.com/office/drawing/2014/main" id="{EF579318-308C-4F37-9FE2-66F3A2DEFF0E}"/>
              </a:ext>
            </a:extLst>
          </p:cNvPr>
          <p:cNvSpPr>
            <a:spLocks xmlns:a="http://schemas.openxmlformats.org/drawingml/2006/main" noGrp="1"/>
          </p:cNvSpPr>
          <p:nvPr/>
        </p:nvSpPr>
        <p:spPr>
          <a:xfrm xmlns:a="http://schemas.openxmlformats.org/drawingml/2006/main">
            <a:off x="640080" y="3602736"/>
            <a:ext cx="502920" cy="502920"/>
          </a:xfrm>
          <a:prstGeom xmlns:a="http://schemas.openxmlformats.org/drawingml/2006/main" prst="ellipse">
            <a:avLst/>
          </a:prstGeom>
          <a:solidFill xmlns:a="http://schemas.openxmlformats.org/drawingml/2006/main">
            <a:srgbClr val="1B4965"/>
          </a:solidFill>
          <a:ln xmlns:a="http://schemas.openxmlformats.org/drawingml/2006/main" w="12700">
            <a:solidFill>
              <a:srgbClr val="1B4965"/>
            </a:solidFill>
            <a:prstDash val="solid"/>
          </a:ln>
        </p:spPr>
      </p:sp>
      <p:sp>
        <p:nvSpPr>
          <p:cNvPr id="22" name="Text 19">
            <a:extLst xmlns:a="http://schemas.openxmlformats.org/drawingml/2006/main">
              <a:ext uri="{FF2B5EF4-FFF2-40B4-BE49-F238E27FC236}">
                <a16:creationId xmlns:a16="http://schemas.microsoft.com/office/drawing/2014/main" id="{EC385625-8485-41F0-B40D-07D5ED0F95B6}"/>
              </a:ext>
            </a:extLst>
          </p:cNvPr>
          <p:cNvSpPr>
            <a:spLocks xmlns:a="http://schemas.openxmlformats.org/drawingml/2006/main" noGrp="1"/>
          </p:cNvSpPr>
          <p:nvPr/>
        </p:nvSpPr>
        <p:spPr>
          <a:xfrm xmlns:a="http://schemas.openxmlformats.org/drawingml/2006/main">
            <a:off x="640080" y="3602736"/>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5</a:t>
            </a:r>
            <a:endParaRPr sz="1600"/>
          </a:p>
        </p:txBody>
      </p:sp>
      <p:sp>
        <p:nvSpPr>
          <p:cNvPr id="23" name="Text 20">
            <a:extLst xmlns:a="http://schemas.openxmlformats.org/drawingml/2006/main">
              <a:ext uri="{FF2B5EF4-FFF2-40B4-BE49-F238E27FC236}">
                <a16:creationId xmlns:a16="http://schemas.microsoft.com/office/drawing/2014/main" id="{020E05E8-7241-402E-AF6E-EB31A9608B02}"/>
              </a:ext>
            </a:extLst>
          </p:cNvPr>
          <p:cNvSpPr>
            <a:spLocks xmlns:a="http://schemas.openxmlformats.org/drawingml/2006/main" noGrp="1"/>
          </p:cNvSpPr>
          <p:nvPr/>
        </p:nvSpPr>
        <p:spPr>
          <a:xfrm xmlns:a="http://schemas.openxmlformats.org/drawingml/2006/main">
            <a:off x="1325880" y="3429000"/>
            <a:ext cx="301752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chemeClr val="tx1"/>
                </a:solidFill>
                <a:latin typeface="Calibri"/>
                <a:ea typeface="Calibri"/>
                <a:cs typeface="Calibri"/>
              </a:rPr>
              <a:t>No listening-based diagnosis of Qwen test errors</a:t>
            </a:r>
            <a:endParaRPr sz="1500"/>
          </a:p>
        </p:txBody>
      </p:sp>
      <p:sp>
        <p:nvSpPr>
          <p:cNvPr id="24" name="limit 6">
            <a:extLst xmlns:a="http://schemas.openxmlformats.org/drawingml/2006/main">
              <a:ext uri="{FF2B5EF4-FFF2-40B4-BE49-F238E27FC236}">
                <a16:creationId xmlns:a16="http://schemas.microsoft.com/office/drawing/2014/main" id="{2B44C636-9BB0-4F47-8047-6662DAF7325E}"/>
              </a:ext>
            </a:extLst>
          </p:cNvPr>
          <p:cNvSpPr>
            <a:spLocks xmlns:a="http://schemas.openxmlformats.org/drawingml/2006/main" noGrp="1"/>
          </p:cNvSpPr>
          <p:nvPr/>
        </p:nvSpPr>
        <p:spPr>
          <a:xfrm xmlns:a="http://schemas.openxmlformats.org/drawingml/2006/main">
            <a:off x="4663440" y="3383280"/>
            <a:ext cx="4023360" cy="932688"/>
          </a:xfrm>
          <a:prstGeom xmlns:a="http://schemas.openxmlformats.org/drawingml/2006/main" prst="roundRect">
            <a:avLst>
              <a:gd name="adj" fmla="val 7843"/>
            </a:avLst>
          </a:prstGeom>
          <a:solidFill xmlns:a="http://schemas.openxmlformats.org/drawingml/2006/main">
            <a:srgbClr val="EEF3F5"/>
          </a:solidFill>
          <a:ln xmlns:a="http://schemas.openxmlformats.org/drawingml/2006/main" w="12700">
            <a:solidFill>
              <a:srgbClr val="EEF3F5"/>
            </a:solidFill>
            <a:prstDash val="solid"/>
          </a:ln>
          <a:effectLst xmlns:a="http://schemas.openxmlformats.org/drawingml/2006/main">
            <a:outerShdw blurRad="76200" dist="25400" dir="5400000" sx="100000" sy="100000" kx="0" ky="0" algn="bl" rotWithShape="0">
              <a:srgbClr val="000000">
                <a:alpha val="12000"/>
              </a:srgbClr>
            </a:outerShdw>
          </a:effectLst>
        </p:spPr>
      </p:sp>
      <p:sp>
        <p:nvSpPr>
          <p:cNvPr id="25" name="limit number 6">
            <a:extLst xmlns:a="http://schemas.openxmlformats.org/drawingml/2006/main">
              <a:ext uri="{FF2B5EF4-FFF2-40B4-BE49-F238E27FC236}">
                <a16:creationId xmlns:a16="http://schemas.microsoft.com/office/drawing/2014/main" id="{7AF5D12D-5934-4C0A-8045-AD0EB042BA0C}"/>
              </a:ext>
            </a:extLst>
          </p:cNvPr>
          <p:cNvSpPr>
            <a:spLocks xmlns:a="http://schemas.openxmlformats.org/drawingml/2006/main" noGrp="1"/>
          </p:cNvSpPr>
          <p:nvPr/>
        </p:nvSpPr>
        <p:spPr>
          <a:xfrm xmlns:a="http://schemas.openxmlformats.org/drawingml/2006/main">
            <a:off x="4846320" y="3602736"/>
            <a:ext cx="502920" cy="502920"/>
          </a:xfrm>
          <a:prstGeom xmlns:a="http://schemas.openxmlformats.org/drawingml/2006/main" prst="ellipse">
            <a:avLst/>
          </a:prstGeom>
          <a:solidFill xmlns:a="http://schemas.openxmlformats.org/drawingml/2006/main">
            <a:srgbClr val="1B4965"/>
          </a:solidFill>
          <a:ln xmlns:a="http://schemas.openxmlformats.org/drawingml/2006/main" w="12700">
            <a:solidFill>
              <a:srgbClr val="1B4965"/>
            </a:solidFill>
            <a:prstDash val="solid"/>
          </a:ln>
        </p:spPr>
      </p:sp>
      <p:sp>
        <p:nvSpPr>
          <p:cNvPr id="26" name="Text 23">
            <a:extLst xmlns:a="http://schemas.openxmlformats.org/drawingml/2006/main">
              <a:ext uri="{FF2B5EF4-FFF2-40B4-BE49-F238E27FC236}">
                <a16:creationId xmlns:a16="http://schemas.microsoft.com/office/drawing/2014/main" id="{0312FF08-6CB4-45CF-8583-1155555AE0EA}"/>
              </a:ext>
            </a:extLst>
          </p:cNvPr>
          <p:cNvSpPr>
            <a:spLocks xmlns:a="http://schemas.openxmlformats.org/drawingml/2006/main" noGrp="1"/>
          </p:cNvSpPr>
          <p:nvPr/>
        </p:nvSpPr>
        <p:spPr>
          <a:xfrm xmlns:a="http://schemas.openxmlformats.org/drawingml/2006/main">
            <a:off x="4846320" y="3602736"/>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6</a:t>
            </a:r>
            <a:endParaRPr sz="1600"/>
          </a:p>
        </p:txBody>
      </p:sp>
      <p:sp>
        <p:nvSpPr>
          <p:cNvPr id="27" name="Text 24">
            <a:extLst xmlns:a="http://schemas.openxmlformats.org/drawingml/2006/main">
              <a:ext uri="{FF2B5EF4-FFF2-40B4-BE49-F238E27FC236}">
                <a16:creationId xmlns:a16="http://schemas.microsoft.com/office/drawing/2014/main" id="{168D401D-39E9-4E46-873C-F501DA50A927}"/>
              </a:ext>
            </a:extLst>
          </p:cNvPr>
          <p:cNvSpPr>
            <a:spLocks xmlns:a="http://schemas.openxmlformats.org/drawingml/2006/main" noGrp="1"/>
          </p:cNvSpPr>
          <p:nvPr/>
        </p:nvSpPr>
        <p:spPr>
          <a:xfrm xmlns:a="http://schemas.openxmlformats.org/drawingml/2006/main">
            <a:off x="5532120" y="3429000"/>
            <a:ext cx="301752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chemeClr val="tx1"/>
                </a:solidFill>
                <a:latin typeface="Calibri"/>
                <a:ea typeface="Calibri"/>
                <a:cs typeface="Calibri"/>
              </a:rPr>
              <a:t>Qwen's 27.99% validation WER misses the &lt;25% goal</a:t>
            </a:r>
            <a:endParaRPr sz="1500"/>
          </a:p>
        </p:txBody>
      </p:sp>
      <p:sp>
        <p:nvSpPr>
          <p:cNvPr id="28" name="Slide Number Placeholder 0">
            <a:extLst xmlns:a="http://schemas.openxmlformats.org/drawingml/2006/main">
              <a:ext uri="{FF2B5EF4-FFF2-40B4-BE49-F238E27FC236}">
                <a16:creationId xmlns:a16="http://schemas.microsoft.com/office/drawing/2014/main" id="{3784470E-FCD0-42DD-B535-DBDD7581AE0B}"/>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7126851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EAA0A7-AD65-45D0-81E5-BFE21F7664FD}"/>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bg1"/>
                </a:solidFill>
                <a:latin typeface="Cambria"/>
                <a:ea typeface="Cambria"/>
                <a:cs typeface="Cambria"/>
              </a:rPr>
              <a:t>Conclusion</a:t>
            </a:r>
            <a:endParaRPr sz="3000"/>
          </a:p>
        </p:txBody>
      </p:sp>
      <p:sp>
        <p:nvSpPr>
          <p:cNvPr id="4" name="Text 1">
            <a:extLst xmlns:a="http://schemas.openxmlformats.org/drawingml/2006/main">
              <a:ext uri="{FF2B5EF4-FFF2-40B4-BE49-F238E27FC236}">
                <a16:creationId xmlns:a16="http://schemas.microsoft.com/office/drawing/2014/main" id="{F6C45F59-261C-49B1-AB2F-DCC7A3EDEFC7}"/>
              </a:ext>
            </a:extLst>
          </p:cNvPr>
          <p:cNvSpPr>
            <a:spLocks xmlns:a="http://schemas.openxmlformats.org/drawingml/2006/main" noGrp="1"/>
          </p:cNvSpPr>
          <p:nvPr/>
        </p:nvSpPr>
        <p:spPr>
          <a:xfrm xmlns:a="http://schemas.openxmlformats.org/drawingml/2006/main">
            <a:off x="457200" y="10972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B8C4CE"/>
                </a:solidFill>
                <a:latin typeface="Calibri"/>
                <a:ea typeface="Calibri"/>
                <a:cs typeface="Calibri"/>
              </a:rPr>
              <a:t>Test, 114 clips</a:t>
            </a:r>
            <a:endParaRPr sz="1200"/>
          </a:p>
        </p:txBody>
      </p:sp>
      <p:sp>
        <p:nvSpPr>
          <p:cNvPr id="5" name="Text 2">
            <a:extLst xmlns:a="http://schemas.openxmlformats.org/drawingml/2006/main">
              <a:ext uri="{FF2B5EF4-FFF2-40B4-BE49-F238E27FC236}">
                <a16:creationId xmlns:a16="http://schemas.microsoft.com/office/drawing/2014/main" id="{555B02B9-8237-4EE0-81E8-8852AB6523D4}"/>
              </a:ext>
            </a:extLst>
          </p:cNvPr>
          <p:cNvSpPr>
            <a:spLocks xmlns:a="http://schemas.openxmlformats.org/drawingml/2006/main" noGrp="1"/>
          </p:cNvSpPr>
          <p:nvPr/>
        </p:nvSpPr>
        <p:spPr>
          <a:xfrm xmlns:a="http://schemas.openxmlformats.org/drawingml/2006/main">
            <a:off x="3657600" y="1097280"/>
            <a:ext cx="1280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200">
                <a:solidFill>
                  <a:srgbClr val="B8C4CE"/>
                </a:solidFill>
                <a:latin typeface="Calibri"/>
                <a:ea typeface="Calibri"/>
                <a:cs typeface="Calibri"/>
              </a:rPr>
              <a:t>CER</a:t>
            </a:r>
            <a:endParaRPr sz="1200"/>
          </a:p>
        </p:txBody>
      </p:sp>
      <p:sp>
        <p:nvSpPr>
          <p:cNvPr id="6" name="Text 3">
            <a:extLst xmlns:a="http://schemas.openxmlformats.org/drawingml/2006/main">
              <a:ext uri="{FF2B5EF4-FFF2-40B4-BE49-F238E27FC236}">
                <a16:creationId xmlns:a16="http://schemas.microsoft.com/office/drawing/2014/main" id="{B65A8444-B0D4-49D5-A020-BD81D5025755}"/>
              </a:ext>
            </a:extLst>
          </p:cNvPr>
          <p:cNvSpPr>
            <a:spLocks xmlns:a="http://schemas.openxmlformats.org/drawingml/2006/main" noGrp="1"/>
          </p:cNvSpPr>
          <p:nvPr/>
        </p:nvSpPr>
        <p:spPr>
          <a:xfrm xmlns:a="http://schemas.openxmlformats.org/drawingml/2006/main">
            <a:off x="5029200" y="1097280"/>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200">
                <a:solidFill>
                  <a:srgbClr val="B8C4CE"/>
                </a:solidFill>
                <a:latin typeface="Calibri"/>
                <a:ea typeface="Calibri"/>
                <a:cs typeface="Calibri"/>
              </a:rPr>
              <a:t>ICU WER</a:t>
            </a:r>
            <a:endParaRPr sz="1200"/>
          </a:p>
        </p:txBody>
      </p:sp>
      <p:sp>
        <p:nvSpPr>
          <p:cNvPr id="7" name="result row 1">
            <a:extLst xmlns:a="http://schemas.openxmlformats.org/drawingml/2006/main">
              <a:ext uri="{FF2B5EF4-FFF2-40B4-BE49-F238E27FC236}">
                <a16:creationId xmlns:a16="http://schemas.microsoft.com/office/drawing/2014/main" id="{2C2837D8-DD31-4AD3-8047-99F1DE909563}"/>
              </a:ext>
            </a:extLst>
          </p:cNvPr>
          <p:cNvSpPr>
            <a:spLocks xmlns:a="http://schemas.openxmlformats.org/drawingml/2006/main" noGrp="1"/>
          </p:cNvSpPr>
          <p:nvPr/>
        </p:nvSpPr>
        <p:spPr>
          <a:xfrm xmlns:a="http://schemas.openxmlformats.org/drawingml/2006/main">
            <a:off x="457200" y="1417320"/>
            <a:ext cx="5943600" cy="603504"/>
          </a:xfrm>
          <a:prstGeom xmlns:a="http://schemas.openxmlformats.org/drawingml/2006/main" prst="roundRect">
            <a:avLst>
              <a:gd name="adj" fmla="val 12121"/>
            </a:avLst>
          </a:prstGeom>
          <a:solidFill xmlns:a="http://schemas.openxmlformats.org/drawingml/2006/main">
            <a:srgbClr val="2A9D8F"/>
          </a:solidFill>
          <a:ln xmlns:a="http://schemas.openxmlformats.org/drawingml/2006/main" w="12700">
            <a:solidFill>
              <a:srgbClr val="2A9D8F"/>
            </a:solidFill>
            <a:prstDash val="solid"/>
          </a:ln>
        </p:spPr>
      </p:sp>
      <p:sp>
        <p:nvSpPr>
          <p:cNvPr id="8" name="Text 5">
            <a:extLst xmlns:a="http://schemas.openxmlformats.org/drawingml/2006/main">
              <a:ext uri="{FF2B5EF4-FFF2-40B4-BE49-F238E27FC236}">
                <a16:creationId xmlns:a16="http://schemas.microsoft.com/office/drawing/2014/main" id="{8862E60C-39F5-47A8-8069-ADF2C4A74430}"/>
              </a:ext>
            </a:extLst>
          </p:cNvPr>
          <p:cNvSpPr>
            <a:spLocks xmlns:a="http://schemas.openxmlformats.org/drawingml/2006/main" noGrp="1"/>
          </p:cNvSpPr>
          <p:nvPr/>
        </p:nvSpPr>
        <p:spPr>
          <a:xfrm xmlns:a="http://schemas.openxmlformats.org/drawingml/2006/main">
            <a:off x="640080" y="1417320"/>
            <a:ext cx="29260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mbria"/>
                <a:ea typeface="Cambria"/>
                <a:cs typeface="Cambria"/>
              </a:rPr>
              <a:t>Qwen3-ASR</a:t>
            </a:r>
            <a:endParaRPr sz="1800"/>
          </a:p>
        </p:txBody>
      </p:sp>
      <p:sp>
        <p:nvSpPr>
          <p:cNvPr id="9" name="Text 6">
            <a:extLst xmlns:a="http://schemas.openxmlformats.org/drawingml/2006/main">
              <a:ext uri="{FF2B5EF4-FFF2-40B4-BE49-F238E27FC236}">
                <a16:creationId xmlns:a16="http://schemas.microsoft.com/office/drawing/2014/main" id="{FF3E3973-C8F4-4EFC-8DC8-FDD1BA3D1310}"/>
              </a:ext>
            </a:extLst>
          </p:cNvPr>
          <p:cNvSpPr>
            <a:spLocks xmlns:a="http://schemas.openxmlformats.org/drawingml/2006/main" noGrp="1"/>
          </p:cNvSpPr>
          <p:nvPr/>
        </p:nvSpPr>
        <p:spPr>
          <a:xfrm xmlns:a="http://schemas.openxmlformats.org/drawingml/2006/main">
            <a:off x="3657600" y="1417320"/>
            <a:ext cx="1280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800" b="1">
                <a:solidFill>
                  <a:srgbClr val="FFFFFF"/>
                </a:solidFill>
                <a:latin typeface="Calibri"/>
                <a:ea typeface="Calibri"/>
                <a:cs typeface="Calibri"/>
              </a:rPr>
              <a:t>13.71%</a:t>
            </a:r>
            <a:endParaRPr sz="1800"/>
          </a:p>
        </p:txBody>
      </p:sp>
      <p:sp>
        <p:nvSpPr>
          <p:cNvPr id="10" name="Text 7">
            <a:extLst xmlns:a="http://schemas.openxmlformats.org/drawingml/2006/main">
              <a:ext uri="{FF2B5EF4-FFF2-40B4-BE49-F238E27FC236}">
                <a16:creationId xmlns:a16="http://schemas.microsoft.com/office/drawing/2014/main" id="{0002569B-5478-4471-A731-F72FA80901FC}"/>
              </a:ext>
            </a:extLst>
          </p:cNvPr>
          <p:cNvSpPr>
            <a:spLocks xmlns:a="http://schemas.openxmlformats.org/drawingml/2006/main" noGrp="1"/>
          </p:cNvSpPr>
          <p:nvPr/>
        </p:nvSpPr>
        <p:spPr>
          <a:xfrm xmlns:a="http://schemas.openxmlformats.org/drawingml/2006/main">
            <a:off x="5029200" y="1417320"/>
            <a:ext cx="12344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800" b="1">
                <a:solidFill>
                  <a:srgbClr val="FFFFFF"/>
                </a:solidFill>
                <a:latin typeface="Calibri"/>
                <a:ea typeface="Calibri"/>
                <a:cs typeface="Calibri"/>
              </a:rPr>
              <a:t>33.40%</a:t>
            </a:r>
            <a:endParaRPr sz="1800"/>
          </a:p>
        </p:txBody>
      </p:sp>
      <p:sp>
        <p:nvSpPr>
          <p:cNvPr id="11" name="result row 2">
            <a:extLst xmlns:a="http://schemas.openxmlformats.org/drawingml/2006/main">
              <a:ext uri="{FF2B5EF4-FFF2-40B4-BE49-F238E27FC236}">
                <a16:creationId xmlns:a16="http://schemas.microsoft.com/office/drawing/2014/main" id="{CC55C2B8-9284-4845-B280-CCAC2A47DBE8}"/>
              </a:ext>
            </a:extLst>
          </p:cNvPr>
          <p:cNvSpPr>
            <a:spLocks xmlns:a="http://schemas.openxmlformats.org/drawingml/2006/main" noGrp="1"/>
          </p:cNvSpPr>
          <p:nvPr/>
        </p:nvSpPr>
        <p:spPr>
          <a:xfrm xmlns:a="http://schemas.openxmlformats.org/drawingml/2006/main">
            <a:off x="457200" y="2130552"/>
            <a:ext cx="5943600" cy="603504"/>
          </a:xfrm>
          <a:prstGeom xmlns:a="http://schemas.openxmlformats.org/drawingml/2006/main" prst="roundRect">
            <a:avLst>
              <a:gd name="adj" fmla="val 12121"/>
            </a:avLst>
          </a:prstGeom>
          <a:solidFill xmlns:a="http://schemas.openxmlformats.org/drawingml/2006/main">
            <a:srgbClr val="1B4965"/>
          </a:solidFill>
          <a:ln xmlns:a="http://schemas.openxmlformats.org/drawingml/2006/main" w="12700">
            <a:solidFill>
              <a:srgbClr val="1B4965"/>
            </a:solidFill>
            <a:prstDash val="solid"/>
          </a:ln>
        </p:spPr>
      </p:sp>
      <p:sp>
        <p:nvSpPr>
          <p:cNvPr id="12" name="Text 9">
            <a:extLst xmlns:a="http://schemas.openxmlformats.org/drawingml/2006/main">
              <a:ext uri="{FF2B5EF4-FFF2-40B4-BE49-F238E27FC236}">
                <a16:creationId xmlns:a16="http://schemas.microsoft.com/office/drawing/2014/main" id="{7869D690-D823-439A-AF81-E963D11FA88B}"/>
              </a:ext>
            </a:extLst>
          </p:cNvPr>
          <p:cNvSpPr>
            <a:spLocks xmlns:a="http://schemas.openxmlformats.org/drawingml/2006/main" noGrp="1"/>
          </p:cNvSpPr>
          <p:nvPr/>
        </p:nvSpPr>
        <p:spPr>
          <a:xfrm xmlns:a="http://schemas.openxmlformats.org/drawingml/2006/main">
            <a:off x="640080" y="2130552"/>
            <a:ext cx="29260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mbria"/>
                <a:ea typeface="Cambria"/>
                <a:cs typeface="Cambria"/>
              </a:rPr>
              <a:t>MMS-1B</a:t>
            </a:r>
            <a:endParaRPr sz="1800"/>
          </a:p>
        </p:txBody>
      </p:sp>
      <p:sp>
        <p:nvSpPr>
          <p:cNvPr id="13" name="Text 10">
            <a:extLst xmlns:a="http://schemas.openxmlformats.org/drawingml/2006/main">
              <a:ext uri="{FF2B5EF4-FFF2-40B4-BE49-F238E27FC236}">
                <a16:creationId xmlns:a16="http://schemas.microsoft.com/office/drawing/2014/main" id="{A3957B9E-9F1A-4983-9BAB-4EE5472716F3}"/>
              </a:ext>
            </a:extLst>
          </p:cNvPr>
          <p:cNvSpPr>
            <a:spLocks xmlns:a="http://schemas.openxmlformats.org/drawingml/2006/main" noGrp="1"/>
          </p:cNvSpPr>
          <p:nvPr/>
        </p:nvSpPr>
        <p:spPr>
          <a:xfrm xmlns:a="http://schemas.openxmlformats.org/drawingml/2006/main">
            <a:off x="3657600" y="2130552"/>
            <a:ext cx="1280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800" b="1">
                <a:solidFill>
                  <a:srgbClr val="FFFFFF"/>
                </a:solidFill>
                <a:latin typeface="Calibri"/>
                <a:ea typeface="Calibri"/>
                <a:cs typeface="Calibri"/>
              </a:rPr>
              <a:t>15.84%</a:t>
            </a:r>
            <a:endParaRPr sz="1800"/>
          </a:p>
        </p:txBody>
      </p:sp>
      <p:sp>
        <p:nvSpPr>
          <p:cNvPr id="14" name="Text 11">
            <a:extLst xmlns:a="http://schemas.openxmlformats.org/drawingml/2006/main">
              <a:ext uri="{FF2B5EF4-FFF2-40B4-BE49-F238E27FC236}">
                <a16:creationId xmlns:a16="http://schemas.microsoft.com/office/drawing/2014/main" id="{D090E7E8-A602-4FF1-A133-F0E1686BBBB6}"/>
              </a:ext>
            </a:extLst>
          </p:cNvPr>
          <p:cNvSpPr>
            <a:spLocks xmlns:a="http://schemas.openxmlformats.org/drawingml/2006/main" noGrp="1"/>
          </p:cNvSpPr>
          <p:nvPr/>
        </p:nvSpPr>
        <p:spPr>
          <a:xfrm xmlns:a="http://schemas.openxmlformats.org/drawingml/2006/main">
            <a:off x="5029200" y="2130552"/>
            <a:ext cx="12344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800" b="1">
                <a:solidFill>
                  <a:srgbClr val="FFFFFF"/>
                </a:solidFill>
                <a:latin typeface="Calibri"/>
                <a:ea typeface="Calibri"/>
                <a:cs typeface="Calibri"/>
              </a:rPr>
              <a:t>67.16%</a:t>
            </a:r>
            <a:endParaRPr sz="1800"/>
          </a:p>
        </p:txBody>
      </p:sp>
      <p:sp>
        <p:nvSpPr>
          <p:cNvPr id="15" name="result row 3">
            <a:extLst xmlns:a="http://schemas.openxmlformats.org/drawingml/2006/main">
              <a:ext uri="{FF2B5EF4-FFF2-40B4-BE49-F238E27FC236}">
                <a16:creationId xmlns:a16="http://schemas.microsoft.com/office/drawing/2014/main" id="{1599767B-6C4B-48BC-AFC8-AEA31FFA1ED2}"/>
              </a:ext>
            </a:extLst>
          </p:cNvPr>
          <p:cNvSpPr>
            <a:spLocks xmlns:a="http://schemas.openxmlformats.org/drawingml/2006/main" noGrp="1"/>
          </p:cNvSpPr>
          <p:nvPr/>
        </p:nvSpPr>
        <p:spPr>
          <a:xfrm xmlns:a="http://schemas.openxmlformats.org/drawingml/2006/main">
            <a:off x="457200" y="2843784"/>
            <a:ext cx="5943600" cy="603504"/>
          </a:xfrm>
          <a:prstGeom xmlns:a="http://schemas.openxmlformats.org/drawingml/2006/main" prst="roundRect">
            <a:avLst>
              <a:gd name="adj" fmla="val 12121"/>
            </a:avLst>
          </a:prstGeom>
          <a:solidFill xmlns:a="http://schemas.openxmlformats.org/drawingml/2006/main">
            <a:srgbClr val="D1603D"/>
          </a:solidFill>
          <a:ln xmlns:a="http://schemas.openxmlformats.org/drawingml/2006/main" w="12700">
            <a:solidFill>
              <a:srgbClr val="D1603D"/>
            </a:solidFill>
            <a:prstDash val="solid"/>
          </a:ln>
        </p:spPr>
      </p:sp>
      <p:sp>
        <p:nvSpPr>
          <p:cNvPr id="16" name="Text 13">
            <a:extLst xmlns:a="http://schemas.openxmlformats.org/drawingml/2006/main">
              <a:ext uri="{FF2B5EF4-FFF2-40B4-BE49-F238E27FC236}">
                <a16:creationId xmlns:a16="http://schemas.microsoft.com/office/drawing/2014/main" id="{F6E35D1E-6C35-43C6-A16D-2D12E8899576}"/>
              </a:ext>
            </a:extLst>
          </p:cNvPr>
          <p:cNvSpPr>
            <a:spLocks xmlns:a="http://schemas.openxmlformats.org/drawingml/2006/main" noGrp="1"/>
          </p:cNvSpPr>
          <p:nvPr/>
        </p:nvSpPr>
        <p:spPr>
          <a:xfrm xmlns:a="http://schemas.openxmlformats.org/drawingml/2006/main">
            <a:off x="640080" y="2843784"/>
            <a:ext cx="29260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mbria"/>
                <a:ea typeface="Cambria"/>
                <a:cs typeface="Cambria"/>
              </a:rPr>
              <a:t>Whisper-Tiny</a:t>
            </a:r>
            <a:endParaRPr sz="1800"/>
          </a:p>
        </p:txBody>
      </p:sp>
      <p:sp>
        <p:nvSpPr>
          <p:cNvPr id="17" name="Text 14">
            <a:extLst xmlns:a="http://schemas.openxmlformats.org/drawingml/2006/main">
              <a:ext uri="{FF2B5EF4-FFF2-40B4-BE49-F238E27FC236}">
                <a16:creationId xmlns:a16="http://schemas.microsoft.com/office/drawing/2014/main" id="{6DBB83DC-E244-459F-AA18-7BA52BBCED5A}"/>
              </a:ext>
            </a:extLst>
          </p:cNvPr>
          <p:cNvSpPr>
            <a:spLocks xmlns:a="http://schemas.openxmlformats.org/drawingml/2006/main" noGrp="1"/>
          </p:cNvSpPr>
          <p:nvPr/>
        </p:nvSpPr>
        <p:spPr>
          <a:xfrm xmlns:a="http://schemas.openxmlformats.org/drawingml/2006/main">
            <a:off x="3657600" y="2843784"/>
            <a:ext cx="1280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800" b="1">
                <a:solidFill>
                  <a:srgbClr val="FFFFFF"/>
                </a:solidFill>
                <a:latin typeface="Calibri"/>
                <a:ea typeface="Calibri"/>
                <a:cs typeface="Calibri"/>
              </a:rPr>
              <a:t>86.76%</a:t>
            </a:r>
            <a:endParaRPr sz="1800"/>
          </a:p>
        </p:txBody>
      </p:sp>
      <p:sp>
        <p:nvSpPr>
          <p:cNvPr id="18" name="Text 15">
            <a:extLst xmlns:a="http://schemas.openxmlformats.org/drawingml/2006/main">
              <a:ext uri="{FF2B5EF4-FFF2-40B4-BE49-F238E27FC236}">
                <a16:creationId xmlns:a16="http://schemas.microsoft.com/office/drawing/2014/main" id="{A43B1786-04F8-4008-BDE6-92A9156A6830}"/>
              </a:ext>
            </a:extLst>
          </p:cNvPr>
          <p:cNvSpPr>
            <a:spLocks xmlns:a="http://schemas.openxmlformats.org/drawingml/2006/main" noGrp="1"/>
          </p:cNvSpPr>
          <p:nvPr/>
        </p:nvSpPr>
        <p:spPr>
          <a:xfrm xmlns:a="http://schemas.openxmlformats.org/drawingml/2006/main">
            <a:off x="5029200" y="2843784"/>
            <a:ext cx="12344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800" b="1">
                <a:solidFill>
                  <a:srgbClr val="FFFFFF"/>
                </a:solidFill>
                <a:latin typeface="Calibri"/>
                <a:ea typeface="Calibri"/>
                <a:cs typeface="Calibri"/>
              </a:rPr>
              <a:t>106.27%</a:t>
            </a:r>
            <a:endParaRPr sz="1800"/>
          </a:p>
        </p:txBody>
      </p:sp>
      <p:sp>
        <p:nvSpPr>
          <p:cNvPr id="19" name="caveat panel">
            <a:extLst xmlns:a="http://schemas.openxmlformats.org/drawingml/2006/main">
              <a:ext uri="{FF2B5EF4-FFF2-40B4-BE49-F238E27FC236}">
                <a16:creationId xmlns:a16="http://schemas.microsoft.com/office/drawing/2014/main" id="{1F2ABC6F-83C8-4F11-BC0A-829B80784F31}"/>
              </a:ext>
            </a:extLst>
          </p:cNvPr>
          <p:cNvSpPr>
            <a:spLocks xmlns:a="http://schemas.openxmlformats.org/drawingml/2006/main" noGrp="1"/>
          </p:cNvSpPr>
          <p:nvPr/>
        </p:nvSpPr>
        <p:spPr>
          <a:xfrm xmlns:a="http://schemas.openxmlformats.org/drawingml/2006/main">
            <a:off x="6675120" y="1097280"/>
            <a:ext cx="2011680" cy="2468880"/>
          </a:xfrm>
          <a:prstGeom xmlns:a="http://schemas.openxmlformats.org/drawingml/2006/main" prst="roundRect">
            <a:avLst>
              <a:gd name="adj" fmla="val 3636"/>
            </a:avLst>
          </a:prstGeom>
          <a:solidFill xmlns:a="http://schemas.openxmlformats.org/drawingml/2006/main">
            <a:srgbClr val="0F4C5C"/>
          </a:solidFill>
          <a:ln xmlns:a="http://schemas.openxmlformats.org/drawingml/2006/main" w="12700">
            <a:solidFill>
              <a:srgbClr val="0F4C5C"/>
            </a:solidFill>
            <a:prstDash val="solid"/>
          </a:ln>
        </p:spPr>
      </p:sp>
      <p:sp>
        <p:nvSpPr>
          <p:cNvPr id="20" name="Text 17">
            <a:extLst xmlns:a="http://schemas.openxmlformats.org/drawingml/2006/main">
              <a:ext uri="{FF2B5EF4-FFF2-40B4-BE49-F238E27FC236}">
                <a16:creationId xmlns:a16="http://schemas.microsoft.com/office/drawing/2014/main" id="{F7AC860A-083C-423A-A4BA-197B5AA3CB76}"/>
              </a:ext>
            </a:extLst>
          </p:cNvPr>
          <p:cNvSpPr>
            <a:spLocks xmlns:a="http://schemas.openxmlformats.org/drawingml/2006/main" noGrp="1"/>
          </p:cNvSpPr>
          <p:nvPr/>
        </p:nvSpPr>
        <p:spPr>
          <a:xfrm xmlns:a="http://schemas.openxmlformats.org/drawingml/2006/main">
            <a:off x="6858000" y="1234440"/>
            <a:ext cx="164592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600" b="1">
                <a:solidFill>
                  <a:srgbClr val="F2A33A"/>
                </a:solidFill>
                <a:latin typeface="Calibri"/>
                <a:ea typeface="Calibri"/>
                <a:cs typeface="Calibri"/>
              </a:rPr>
              <a:t>Caveat</a:t>
            </a:r>
            <a:endParaRPr sz="1400"/>
          </a:p>
          <a:p xmlns:a="http://schemas.openxmlformats.org/drawingml/2006/main">
            <a:pPr marL="0" indent="0">
              <a:spcAft>
                <a:spcPts val="600"/>
              </a:spcAft>
              <a:buNone/>
            </a:pPr>
            <a:r>
              <a:rPr sz="1400">
                <a:solidFill>
                  <a:srgbClr val="FFFFFF"/>
                </a:solidFill>
                <a:latin typeface="Calibri"/>
                <a:ea typeface="Calibri"/>
                <a:cs typeface="Calibri"/>
              </a:rPr>
              <a:t>Qwen trained on far more data, so this does not isolate architecture.</a:t>
            </a:r>
            <a:endParaRPr sz="1400"/>
          </a:p>
        </p:txBody>
      </p:sp>
      <p:sp>
        <p:nvSpPr>
          <p:cNvPr id="21" name="Text 18">
            <a:extLst xmlns:a="http://schemas.openxmlformats.org/drawingml/2006/main">
              <a:ext uri="{FF2B5EF4-FFF2-40B4-BE49-F238E27FC236}">
                <a16:creationId xmlns:a16="http://schemas.microsoft.com/office/drawing/2014/main" id="{2B4D4307-82F2-40AD-B2C6-98B7D198FA7D}"/>
              </a:ext>
            </a:extLst>
          </p:cNvPr>
          <p:cNvSpPr>
            <a:spLocks xmlns:a="http://schemas.openxmlformats.org/drawingml/2006/main" noGrp="1"/>
          </p:cNvSpPr>
          <p:nvPr/>
        </p:nvSpPr>
        <p:spPr>
          <a:xfrm xmlns:a="http://schemas.openxmlformats.org/drawingml/2006/main">
            <a:off x="457200" y="3840480"/>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F2A33A"/>
                </a:solidFill>
                <a:latin typeface="Calibri"/>
                <a:ea typeface="Calibri"/>
                <a:cs typeface="Calibri"/>
              </a:rPr>
              <a:t>Next step: </a:t>
            </a:r>
            <a:r>
              <a:rPr sz="1600">
                <a:solidFill>
                  <a:srgbClr val="FFFFFF"/>
                </a:solidFill>
                <a:latin typeface="Calibri"/>
                <a:ea typeface="Calibri"/>
                <a:cs typeface="Calibri"/>
              </a:rPr>
              <a:t>audit transcript errors, then compare models with matched training data.</a:t>
            </a:r>
            <a:endParaRPr sz="1600"/>
          </a:p>
        </p:txBody>
      </p:sp>
      <p:sp>
        <p:nvSpPr>
          <p:cNvPr id="22" name="Text 19">
            <a:extLst xmlns:a="http://schemas.openxmlformats.org/drawingml/2006/main">
              <a:ext uri="{FF2B5EF4-FFF2-40B4-BE49-F238E27FC236}">
                <a16:creationId xmlns:a16="http://schemas.microsoft.com/office/drawing/2014/main" id="{F55A75CD-9C9A-4577-8F55-9486CA7BEDC5}"/>
              </a:ext>
            </a:extLst>
          </p:cNvPr>
          <p:cNvSpPr>
            <a:spLocks xmlns:a="http://schemas.openxmlformats.org/drawingml/2006/main" noGrp="1"/>
          </p:cNvSpPr>
          <p:nvPr/>
        </p:nvSpPr>
        <p:spPr>
          <a:xfrm xmlns:a="http://schemas.openxmlformats.org/drawingml/2006/main">
            <a:off x="457200" y="4297680"/>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B8C4CE"/>
                </a:solidFill>
                <a:latin typeface="Calibri"/>
                <a:ea typeface="Calibri"/>
                <a:cs typeface="Calibri"/>
              </a:rPr>
              <a:t>Thank you. Questions?</a:t>
            </a:r>
            <a:endParaRPr sz="1600"/>
          </a:p>
        </p:txBody>
      </p:sp>
      <p:sp>
        <p:nvSpPr>
          <p:cNvPr id="25" name="Slide Number Placeholder 0">
            <a:extLst xmlns:a="http://schemas.openxmlformats.org/drawingml/2006/main">
              <a:ext uri="{FF2B5EF4-FFF2-40B4-BE49-F238E27FC236}">
                <a16:creationId xmlns:a16="http://schemas.microsoft.com/office/drawing/2014/main" id="{830683F0-B966-48EF-8A25-D9434A9FD135}"/>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B8C4CE"/>
                </a:solidFill>
                <a:latin typeface="Calibri"/>
                <a:ea typeface="Calibri"/>
                <a:cs typeface="Calibri"/>
              </a:defRPr>
            </a:lvl1pPr>
          </a:lstStyle>
          <a:p xmlns:a="http://schemas.openxmlformats.org/drawingml/2006/main">
            <a:pPr algn="r">
              <a:buNone/>
            </a:pPr>
            <a:fld id="{F7021451-1387-4CA6-816F-3879F97B5CBC}" type="slidenum">
              <a:rPr b="0"/>
              <a:t>11</a:t>
            </a:fld>
            <a:endParaRPr/>
          </a:p>
        </p:txBody>
      </p:sp>
    </p:spTree>
    <p:extLst>
      <p:ext uri="{BB962C8B-B14F-4D97-AF65-F5344CB8AC3E}">
        <p14:creationId xmlns:p14="http://schemas.microsoft.com/office/powerpoint/2010/main" val="23574813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EDB9A4-FDDE-41FD-B8BB-3354E652247F}"/>
              </a:ext>
            </a:extLst>
          </p:cNvPr>
          <p:cNvSpPr>
            <a:spLocks xmlns:a="http://schemas.openxmlformats.org/drawingml/2006/main" noGrp="1"/>
          </p:cNvSpPr>
          <p:nvPr>
            <p:ph type="title" idx="100"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latin typeface="Cambria"/>
                <a:ea typeface="Cambria"/>
                <a:cs typeface="Cambria"/>
              </a:rPr>
              <a:t>References</a:t>
            </a:r>
            <a:endParaRPr sz="3000"/>
          </a:p>
        </p:txBody>
      </p:sp>
      <p:sp>
        <p:nvSpPr>
          <p:cNvPr id="4" name="Text 1">
            <a:extLst xmlns:a="http://schemas.openxmlformats.org/drawingml/2006/main">
              <a:ext uri="{FF2B5EF4-FFF2-40B4-BE49-F238E27FC236}">
                <a16:creationId xmlns:a16="http://schemas.microsoft.com/office/drawing/2014/main" id="{6BEED7C0-CA2D-46D4-9261-A8DE362866F9}"/>
              </a:ext>
            </a:extLst>
          </p:cNvPr>
          <p:cNvSpPr>
            <a:spLocks xmlns:a="http://schemas.openxmlformats.org/drawingml/2006/main" noGrp="1"/>
          </p:cNvSpPr>
          <p:nvPr/>
        </p:nvSpPr>
        <p:spPr>
          <a:xfrm xmlns:a="http://schemas.openxmlformats.org/drawingml/2006/main">
            <a:off x="457200" y="1097280"/>
            <a:ext cx="822960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Font typeface="+mj-lt"/>
              <a:buAutoNum type="arabicPeriod" startAt="1"/>
            </a:pPr>
            <a:r>
              <a:rPr sz="1400">
                <a:solidFill>
                  <a:schemeClr val="tx1"/>
                </a:solidFill>
                <a:latin typeface="Calibri"/>
                <a:ea typeface="Calibri"/>
                <a:cs typeface="Calibri"/>
              </a:rPr>
              <a:t>Conneau, A. et al. (2022). FLEURS: Few-shot Learning Evaluation of Universal Representations of Speech. arXiv:2205.12446.</a:t>
            </a:r>
            <a:endParaRPr sz="1400"/>
          </a:p>
          <a:p xmlns:a="http://schemas.openxmlformats.org/drawingml/2006/main">
            <a:pPr marL="342900" indent="-342900">
              <a:spcAft>
                <a:spcPts val="700"/>
              </a:spcAft>
              <a:buSzPct val="100000"/>
              <a:buFont typeface="+mj-lt"/>
              <a:buAutoNum type="arabicPeriod" startAt="1"/>
            </a:pPr>
            <a:r>
              <a:rPr sz="1400">
                <a:solidFill>
                  <a:schemeClr val="tx1"/>
                </a:solidFill>
                <a:latin typeface="Calibri"/>
                <a:ea typeface="Calibri"/>
                <a:cs typeface="Calibri"/>
              </a:rPr>
              <a:t>Radford, A. et al. (2022). Robust Speech Recognition via Large-Scale Weak Supervision (Whisper). arXiv:2212.04356.</a:t>
            </a:r>
            <a:endParaRPr sz="1400"/>
          </a:p>
          <a:p xmlns:a="http://schemas.openxmlformats.org/drawingml/2006/main">
            <a:pPr marL="342900" indent="-342900">
              <a:spcAft>
                <a:spcPts val="700"/>
              </a:spcAft>
              <a:buSzPct val="100000"/>
              <a:buFont typeface="+mj-lt"/>
              <a:buAutoNum type="arabicPeriod" startAt="1"/>
            </a:pPr>
            <a:r>
              <a:rPr sz="1400">
                <a:solidFill>
                  <a:schemeClr val="tx1"/>
                </a:solidFill>
                <a:latin typeface="Calibri"/>
                <a:ea typeface="Calibri"/>
                <a:cs typeface="Calibri"/>
              </a:rPr>
              <a:t>Pratap, V. et al. (2023). Scaling Speech Technology to 1,000+ Languages (MMS). arXiv:2305.13516.</a:t>
            </a:r>
            <a:endParaRPr sz="1400"/>
          </a:p>
          <a:p xmlns:a="http://schemas.openxmlformats.org/drawingml/2006/main">
            <a:pPr marL="342900" indent="-342900">
              <a:spcAft>
                <a:spcPts val="700"/>
              </a:spcAft>
              <a:buSzPct val="100000"/>
              <a:buFont typeface="+mj-lt"/>
              <a:buAutoNum type="arabicPeriod" startAt="1"/>
            </a:pPr>
            <a:r>
              <a:rPr sz="1400">
                <a:solidFill>
                  <a:schemeClr val="tx1"/>
                </a:solidFill>
                <a:latin typeface="Calibri"/>
                <a:ea typeface="Calibri"/>
                <a:cs typeface="Calibri"/>
              </a:rPr>
              <a:t>Graves, A. et al. (2006). Connectionist Temporal Classification. ICML 2006.</a:t>
            </a:r>
            <a:endParaRPr sz="1400"/>
          </a:p>
          <a:p xmlns:a="http://schemas.openxmlformats.org/drawingml/2006/main">
            <a:pPr marL="342900" indent="-342900">
              <a:spcAft>
                <a:spcPts val="700"/>
              </a:spcAft>
              <a:buSzPct val="100000"/>
              <a:buFont typeface="+mj-lt"/>
              <a:buAutoNum type="arabicPeriod" startAt="1"/>
            </a:pPr>
            <a:r>
              <a:rPr sz="1400">
                <a:solidFill>
                  <a:schemeClr val="tx1"/>
                </a:solidFill>
                <a:latin typeface="Calibri"/>
                <a:ea typeface="Calibri"/>
                <a:cs typeface="Calibri"/>
              </a:rPr>
              <a:t>Hu, E. J. et al. (2021). LoRA: Low-Rank Adaptation of Large Language Models. arXiv:2106.09685.</a:t>
            </a:r>
            <a:endParaRPr sz="1400"/>
          </a:p>
          <a:p xmlns:a="http://schemas.openxmlformats.org/drawingml/2006/main">
            <a:pPr marL="342900" indent="-342900">
              <a:spcAft>
                <a:spcPts val="700"/>
              </a:spcAft>
              <a:buSzPct val="100000"/>
              <a:buFont typeface="+mj-lt"/>
              <a:buAutoNum type="arabicPeriod" startAt="1"/>
            </a:pPr>
            <a:r>
              <a:rPr sz="1400">
                <a:solidFill>
                  <a:schemeClr val="tx1"/>
                </a:solidFill>
                <a:latin typeface="Calibri"/>
                <a:ea typeface="Calibri"/>
                <a:cs typeface="Calibri"/>
              </a:rPr>
              <a:t>Qwen Khmer base: seanghay/Qwen3-ASR-0.6B-Khmer (Hugging Face).</a:t>
            </a:r>
            <a:endParaRPr sz="1400"/>
          </a:p>
          <a:p xmlns:a="http://schemas.openxmlformats.org/drawingml/2006/main">
            <a:pPr marL="342900" indent="-342900">
              <a:spcAft>
                <a:spcPts val="700"/>
              </a:spcAft>
              <a:buSzPct val="100000"/>
              <a:buFont typeface="+mj-lt"/>
              <a:buAutoNum type="arabicPeriod" startAt="1"/>
            </a:pPr>
            <a:r>
              <a:rPr sz="1400">
                <a:solidFill>
                  <a:schemeClr val="tx1"/>
                </a:solidFill>
                <a:latin typeface="Calibri"/>
                <a:ea typeface="Calibri"/>
                <a:cs typeface="Calibri"/>
              </a:rPr>
              <a:t>Unicode Consortium. ICU: International Components for Unicode, Khmer word break rules. icu.unicode.org</a:t>
            </a:r>
            <a:endParaRPr sz="1400"/>
          </a:p>
        </p:txBody>
      </p:sp>
      <p:sp>
        <p:nvSpPr>
          <p:cNvPr id="25" name="Slide Number Placeholder 0">
            <a:extLst xmlns:a="http://schemas.openxmlformats.org/drawingml/2006/main">
              <a:ext uri="{FF2B5EF4-FFF2-40B4-BE49-F238E27FC236}">
                <a16:creationId xmlns:a16="http://schemas.microsoft.com/office/drawing/2014/main" id="{FD7B0011-BDD9-4567-8ED4-1CF8DE850597}"/>
              </a:ext>
            </a:extLst>
          </p:cNvPr>
          <p:cNvSpPr>
            <a:spLocks xmlns:a="http://schemas.openxmlformats.org/drawingml/2006/main" noGrp="1"/>
          </p:cNvSpPr>
          <p:nvPr>
            <p:ph type="sldNum" idx="4294967295"/>
          </p:nvPr>
        </p:nvSpPr>
        <p:spPr>
          <a:xfrm xmlns:a="http://schemas.openxmlformats.org/drawingml/2006/main">
            <a:off x="8229600" y="4773168"/>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latin typeface="Calibri"/>
                <a:ea typeface="Calibri"/>
                <a:cs typeface="Calibri"/>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354251362"/>
      </p:ext>
    </p:extLst>
  </p:cSld>
</p:sld>
</file>

<file path=ppt/theme/theme1.xml><?xml version="1.0" encoding="utf-8"?>
<a:theme xmlns:a="http://schemas.openxmlformats.org/drawingml/2006/main" name="KhmerASR">
  <a:themeElements>
    <a:clrScheme name="KhmerASR">
      <a:dk1>
        <a:srgbClr val="1B2A41"/>
      </a:dk1>
      <a:lt1>
        <a:srgbClr val="FFFFFF"/>
      </a:lt1>
      <a:dk2>
        <a:srgbClr val="0F4C5C"/>
      </a:dk2>
      <a:lt2>
        <a:srgbClr val="EEF3F5"/>
      </a:lt2>
      <a:accent1>
        <a:srgbClr val="1B4965"/>
      </a:accent1>
      <a:accent2>
        <a:srgbClr val="F2A33A"/>
      </a:accent2>
      <a:accent3>
        <a:srgbClr val="2A9D8F"/>
      </a:accent3>
      <a:accent4>
        <a:srgbClr val="D1603D"/>
      </a:accent4>
      <a:accent5>
        <a:srgbClr val="5C6B7A"/>
      </a:accent5>
      <a:accent6>
        <a:srgbClr val="8AB17D"/>
      </a:accent6>
      <a:hlink>
        <a:srgbClr val="1B4965"/>
      </a:hlink>
      <a:folHlink>
        <a:srgbClr val="5C6B7A"/>
      </a:folHlink>
    </a:clrScheme>
    <a:fontScheme name="KhmerAS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hmerAS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2026-10-15T09:30:46.9610000Z</dcterms:created>
  <dcterms:modified xsi:type="dcterms:W3CDTF">2026-10-15T09:30:46.9610000Z</dcterms:modified>
</coreProperties>
</file>