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I am Khemrak Pasey. My project is Khmer automatic speech recognition: converting spoken Khmer into written Khmer. I compare three checkpoints that I adapted from publicly pretrained models. I will explain why I chose them, how I trained them, and what their shared held-out test results do and do not show.</a:t>
            </a:r>
          </a:p>
          <a:p>
            <a:endParaRPr/>
          </a:p>
          <a:p>
            <a:r>
              <a:t>Sources: README.md; results/matched_cer_wer_summary.json; results/diagnostic/qwen_bigtrain_heldout_epoch1_20261015.json</a:t>
            </a:r>
          </a:p>
          <a:p>
            <a:br/>
            <a:r>
              <a:t>Kirirom Institute of Technology logo source: https://www.kit.edu.kh/ (image https://static.wixstatic.com/media/20f66a_9e92da8295b14b12b29e40bddf3cddab~mv2.png).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user problem is getting usable Khmer text from recorded speech. People need transcripts for captions, interviews, and notes, but manual transcription requires repeated listening, typing, and proofreading. My project evaluates whether an adapted speech-recognition model can produce a more accurate first transcript of a short Khmer utterance. I compare three saved approaches by counting remaining character and word errors on held-out utterances. I measure transcription error, not the amount of human time saved.</a:t>
            </a:r>
          </a:p>
          <a:p>
            <a:endParaRPr/>
          </a:p>
          <a:p>
            <a:r>
              <a:t>Sources: README.md, Problem and Data sections; results/matched_cer_wer_summary.json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source is FLEURS Khmer. An utterance is a short audio recording with a reference transcript. Whisper and MMS trained on the same 531 selected utterances. All three approaches used the same 124 utterances for validation and the same 114 held-out utterances for the final test. The Qwen adapter used 16,720 effective training examples. That count includes repeated FLEURS training examples and additional public Khmer speech, so it is not a count of unique utterances. This makes the comparison descriptive rather than a controlled architecture experiment.</a:t>
            </a:r>
          </a:p>
          <a:p>
            <a:endParaRPr/>
          </a:p>
          <a:p>
            <a:r>
              <a:t>Sources: results/matched_fleurs_split.json; results/diagnostic/qwen_bigtrain_epoch1_evidence/run_config.json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Character error rate and word error rate use the same edit-distance formula: substitutions plus deletions plus insertions, divided by reference units, times 100 percent. For CER, the units are characters after Unicode normalization and removal of whitespace and zero-width marks. For WER, the units are Khmer word tokens found by ICU on both reference and prediction. We sum errors over the whole corpus before dividing. Lower is better; WER can exceed 100 percent if there are many insertions.</a:t>
            </a:r>
          </a:p>
          <a:p>
            <a:endParaRPr/>
          </a:p>
          <a:p>
            <a:r>
              <a:t>Sources: results/matched_cer_wer_summary.json, scoring policy; src/score_matched_cer_wer.py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not three untouched Hugging Face models, and I did not train them from random initialization. Approach 1 started with openai/whisper-tiny and I fully fine-tuned its weights on 531 FLEURS utterances. Approach 2 started with facebook/mms-1b-all and I trained its top four speech encoder layers plus the CTC output on the same 531 utterances; validation selected checkpoint step 300. Approach 3 started with the publisher-trained seanghay Qwen3-ASR 0.6B Khmer checkpoint. I trained a LoRA adapter on a larger corpus with 16,720 effective examples; validation selected epoch 1. The base checkpoints and training datasets differ.</a:t>
            </a:r>
          </a:p>
          <a:p>
            <a:endParaRPr/>
          </a:p>
          <a:p>
            <a:r>
              <a:t>Sources: README.md, Approaches and final comparison; results/diagnostic/qwen_bigtrain_epoch1_evidence/run_config.json</a:t>
            </a:r>
          </a:p>
          <a:p>
            <a:br/>
            <a:r>
              <a:t>Training evidence: results/whisper_matched_metrics.json (3 epochs, LR 1e-5); results/mms_matched_metrics.json (15 epochs, LR 3e-5); results/diagnostic/qwen_bigtrain_epoch1_evidence/run_config.json (3 epochs, LR 1e-5, 16,720 effective entries). The selected MMS checkpoint was step 300; Qwen epoch 1 was selected on validation WER.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chose the three approaches to cover different model families and training methods. Whisper-Tiny is a small encoder-decoder baseline trained with full fine-tuning. MMS-1B is a much larger multilingual acoustic encoder with CTC output, and I tuned only its upper layers and output. Qwen3-ASR is a Khmer-adapted generative starting point for a parameter-efficient LoRA experiment. This makes the comparison useful for exploring practical approaches. Because Qwen had much more training data and a Khmer-specific starting checkpoint, the test scores cannot isolate architecture as the cause of the difference.</a:t>
            </a:r>
          </a:p>
          <a:p>
            <a:endParaRPr/>
          </a:p>
          <a:p>
            <a:r>
              <a:t>Sources: README.md, Approaches; results/diagnostic/qwen_bigtrain_epoch1_evidence/run_config.json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Training-time evidence and explanation for Q&amp;A:</a:t>
            </a:r>
          </a:p>
          <a:p>
            <a:r>
              <a:t>Whisper: results/whisper_matched_metrics.json records train_runtime 520.9984 seconds = 8.68 minutes, 3 epochs on Tesla T4. This is the completed training call.</a:t>
            </a:r>
          </a:p>
          <a:p>
            <a:r>
              <a:t>MMS: results/mms_matched_metrics.json records train_runtime 1179.9097 seconds = 19.67 minutes for the final resumed call. README.md records interruption at step 800 and completion at step 1005. Extrapolating the final call rate (19.67 minutes / 205 steps) to 1005 total steps gives about 96.4 minutes = 1.61 hours. This is an estimate; exact total wall time was not retained.</a:t>
            </a:r>
          </a:p>
          <a:p>
            <a:r>
              <a:t>Qwen: results/diagnostic/qwen_bigtrain_epoch1_evidence/history.json records 6270 total optimizer steps over 3 epochs. selected_adapter_and_results (1).zip/training.log records a resumed final segment from step 4205 (elapsed 20 s) to step 6270 (elapsed 7529 s). 7509 seconds / 2065 steps * 6270 steps = 22796 seconds = 6.33 hours of estimated optimizer work. Validation, setup, checkpointing, interruptions, and Colab idle time are excluded. Exact total wall time was not retained.</a:t>
            </a:r>
          </a:p>
          <a:p>
            <a:r>
              <a:t>Process: preprocess audio and transcripts; train or fine-tune pretrained networks; choose checkpoints on 124 validation utterances; evaluate selected checkpoints on the same 114 held-out test utterances. Qwen used additional training data, so this is a shared-test system comparison, not an architecture-only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the same 114 held-out utterances, Whisper-Tiny scored 86.76 percent CER and 106.27 percent WER. MMS-1B scored 15.84 percent CER and 67.16 percent WER. Qwen3-ASR LoRA scored 13.71 percent CER and 33.40 percent WER. Qwen has the lowest observed error. The training examples column is essential: Qwen used 16,720 effective examples, while Whisper and MMS used 531. The Qwen base checkpoint was also already adapted for Khmer before my LoRA training. These are shared-test measurements, not a controlled comparison of architectures.</a:t>
            </a:r>
          </a:p>
          <a:p>
            <a:endParaRPr/>
          </a:p>
          <a:p>
            <a:r>
              <a:t>Sources: results/matched_cer_wer_summary.json; results/diagnostic/qwen_bigtrain_heldout_epoch1_20261015.json; results/diagnostic/qwen_bigtrain_epoch1_evidence/run_config.json</a:t>
            </a:r>
          </a:p>
          <a:p>
            <a:br/>
            <a:r>
              <a:t>Test metrics: results/matched_cer_wer_summary.json and results/diagnostic/qwen_bigtrain_heldout_epoch1_20261015.json. Training schedules and learning rates are documented in the run files cited on slide 5. The comparison is across complete trained systems, not an isolated test of model architecture or fine-tuning method.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Qwen adapter ran for three epochs. I selected epoch 1 because it had the lowest WER on the 124 validation utterances: 12.42 percent CER and 27.99 percent WER. That validation WER missed the planned below-25-percent goal. After selection, I evaluated the saved adapter once on 114 held-out test utterances, obtaining 13.71 percent CER and 33.40 percent WER. Validation and test use different utterances, so the difference is descriptive. Only test values appear in the three-model result table.</a:t>
            </a:r>
          </a:p>
          <a:p>
            <a:endParaRPr/>
          </a:p>
          <a:p>
            <a:r>
              <a:t>Sources: results/diagnostic/qwen_bigtrain_epoch1_evidence/best_validation.json; results/diagnostic/qwen_bigtrain_epoch1_evidence/history.json; results/diagnostic/qwen_bigtrain_heldout_epoch1_20261015.json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needs interpretation. Whisper made 2,644 word edits across 2,488 reference words, so WER exceeds 100 percent and this saved checkpoint is not reliable on the shared test. MMS improved greatly at the character level but still had 67.16 percent word error rate. Its 1,671 word edits include 605 insertions; character accuracy does not guarantee the right word tokens under ICU segmentation. Qwen made 831 word edits, 840 fewer than MMS, but it used far more effective training examples and started from a Khmer-adapted published checkpoint. I cannot say architecture or LoRA alone caused the difference. These are text edit patterns; I have not verified acoustic causes by listening.</a:t>
            </a:r>
          </a:p>
          <a:p>
            <a:endParaRPr/>
          </a:p>
          <a:p>
            <a:r>
              <a:t>Sources: results/matched_cer_wer_summary.json, edit counts; results/diagnostic/qwen_bigtrain_heldout_epoch1_20261015.json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closer saved analysis of MMS finds 23.75 percent character error on 26 test references containing Latin letters, compared with 13.03 percent on the other 88. Names and mixed-script material may be difficult, but this association does not prove an acoustic cause. The Qwen comparison is confounded by 31.5 times as many effective training examples and a publisher-trained Khmer base. The 114 FLEURS test utterances are also a limited sample; everyday recordings could differ. Finally, ICU Khmer segmentation is a documented scoring choice and may affect WER. The next work is to listen to difficult utterances and classify errors, then run a comparison with matched training data if architecture is the question.</a:t>
            </a:r>
          </a:p>
          <a:p>
            <a:endParaRPr/>
          </a:p>
          <a:p>
            <a:r>
              <a:t>Sources: results/mms_matched_best300_error_analysis.md; results/diagnostic/qwen_bigtrain_epoch1_evidence/run_config.json; results/matched_cer_wer_summary.json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result is that Qwen3-ASR achieved the lowest observed error in the chosen lineup on the fixed 114-utterance test: 13.71 percent CER and 33.40 percent ICU Khmer WER. The Qwen validation goal of below 25 percent WER remains unmet. The unequal training data and different starting checkpoints prevent a claim that Qwen architecture alone is better. The strongest next step is a listening-based error audit followed by a matched-data experiment. Thank you.</a:t>
            </a:r>
          </a:p>
          <a:p>
            <a:endParaRPr/>
          </a:p>
          <a:p>
            <a:r>
              <a:t>Sources: results/matched_cer_wer_summary.json; results/diagnostic/qwen_bigtrain_heldout_epoch1_20261015.json; results/diagnostic/qwen_bigtrain_epoch1_evidence/best_validation.json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source is FLEURS. The starting model families are described in the original Whisper and MMS papers and the Qwen Khmer model page. The project repository contains saved prediction pairs, scoring policy, training configuration, and result summaries. AI assistance supported review, analysis, code, documentation, and this presentation; I am responsible for verifying and explaining the submitted work.</a:t>
            </a:r>
          </a:p>
          <a:p>
            <a:endParaRPr/>
          </a:p>
          <a:p>
            <a:r>
              <a:t>Sources: README.md, references and AI assistance disclosure; results/matched_cer_wer_summary.json; results/diagnostic/qwen_bigtrain_heldout_epoch1_20261015.json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CDBCB0C-131C-45BE-8201-29858E51D6A1}"/>
              </a:ext>
            </a:extLst>
          </p:cNvPr>
          <p:cNvSpPr>
            <a:spLocks noGrp="1"/>
          </p:cNvSpPr>
          <p:nvPr>
            <p:ph type="title"/>
          </p:nvPr>
        </p:nvSpPr>
        <p:spPr>
          <a:xfrm>
            <a:off x="914400" y="1943100"/>
            <a:ext cx="7315200" cy="742950"/>
          </a:xfrm>
          <a:prstGeom prst="rect">
            <a:avLst/>
          </a:prstGeom>
          <a:noFill/>
          <a:ln>
            <a:noFill/>
            <a:prstDash val="solid"/>
          </a:ln>
        </p:spPr>
        <p:txBody>
          <a:bodyPr wrap="square" lIns="0" tIns="0" rIns="0" bIns="0" anchor="ctr">
            <a:normAutofit/>
          </a:bodyPr>
          <a:lstStyle>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0D66BBF-F908-45BB-82DF-E3581CF7BF7D}"/>
              </a:ext>
            </a:extLst>
          </p:cNvPr>
          <p:cNvSpPr>
            <a:spLocks noGrp="1"/>
          </p:cNvSpPr>
          <p:nvPr>
            <p:ph type="subTitle" idx="1"/>
          </p:nvPr>
        </p:nvSpPr>
        <p:spPr>
          <a:xfrm>
            <a:off x="1371600" y="2828925"/>
            <a:ext cx="6400800" cy="571500"/>
          </a:xfrm>
          <a:prstGeom prst="rect">
            <a:avLst/>
          </a:prstGeom>
          <a:noFill/>
          <a:ln>
            <a:noFill/>
            <a:prstDash val="solid"/>
          </a:ln>
        </p:spPr>
        <p:txBody>
          <a:bodyPr wrap="square" lIns="0" tIns="0" rIns="0" bIns="0" anchor="ctr">
            <a:normAutofit/>
          </a:bodyPr>
          <a:lstStyle>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9B460B6-8854-401A-8FD8-6D04CFA18738}"/>
              </a:ext>
            </a:extLst>
          </p:cNvPr>
          <p:cNvSpPr>
            <a:spLocks noGrp="1"/>
          </p:cNvSpPr>
          <p:nvPr>
            <p:ph type="title"/>
          </p:nvPr>
        </p:nvSpPr>
        <p:spPr>
          <a:xfrm>
            <a:off x="914400" y="2143125"/>
            <a:ext cx="7315200" cy="857250"/>
          </a:xfrm>
          <a:prstGeom prst="rect">
            <a:avLst/>
          </a:prstGeom>
          <a:noFill/>
          <a:ln>
            <a:noFill/>
            <a:prstDash val="solid"/>
          </a:ln>
        </p:spPr>
        <p:txBody>
          <a:bodyPr wrap="square" lIns="0" tIns="0" rIns="0" bIns="0" anchor="ctr">
            <a:normAutofit/>
          </a:bodyPr>
          <a:lstStyle>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FC0E445-855E-41DA-AA2C-491DA14C91EE}"/>
              </a:ext>
            </a:extLst>
          </p:cNvPr>
          <p:cNvSpPr>
            <a:spLocks noGrp="1"/>
          </p:cNvSpPr>
          <p:nvPr>
            <p:ph type="title"/>
          </p:nvPr>
        </p:nvSpPr>
        <p:spPr>
          <a:xfrm>
            <a:off x="514350" y="400050"/>
            <a:ext cx="8115300" cy="62865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91CE9FC-17A5-4FCF-B327-BF165252F82B}"/>
              </a:ext>
            </a:extLst>
          </p:cNvPr>
          <p:cNvSpPr>
            <a:spLocks noGrp="1"/>
          </p:cNvSpPr>
          <p:nvPr>
            <p:ph type="body" idx="1"/>
          </p:nvPr>
        </p:nvSpPr>
        <p:spPr>
          <a:xfrm>
            <a:off x="514350" y="1428750"/>
            <a:ext cx="8115300" cy="3200400"/>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A9D95B4-6634-41DB-A8B3-5EA18313BBF0}"/>
              </a:ext>
            </a:extLst>
          </p:cNvPr>
          <p:cNvSpPr>
            <a:spLocks noGrp="1"/>
          </p:cNvSpPr>
          <p:nvPr>
            <p:ph type="title"/>
          </p:nvPr>
        </p:nvSpPr>
        <p:spPr>
          <a:xfrm>
            <a:off x="514350" y="400050"/>
            <a:ext cx="8115300" cy="62865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076E7ECE-9635-41B2-B39D-C8D975AD79DE}"/>
              </a:ext>
            </a:extLst>
          </p:cNvPr>
          <p:cNvSpPr>
            <a:spLocks noGrp="1"/>
          </p:cNvSpPr>
          <p:nvPr>
            <p:ph type="body" idx="1"/>
          </p:nvPr>
        </p:nvSpPr>
        <p:spPr>
          <a:xfrm>
            <a:off x="514350" y="1428750"/>
            <a:ext cx="3771900" cy="32004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CCEC172-1F15-418F-8375-64A0BFB595B8}"/>
              </a:ext>
            </a:extLst>
          </p:cNvPr>
          <p:cNvSpPr>
            <a:spLocks noGrp="1"/>
          </p:cNvSpPr>
          <p:nvPr>
            <p:ph type="body" idx="2"/>
          </p:nvPr>
        </p:nvSpPr>
        <p:spPr>
          <a:xfrm>
            <a:off x="4857750" y="1428750"/>
            <a:ext cx="3771900" cy="32004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F77DA65-D690-4C9E-91B1-D75ECDA2694D}"/>
              </a:ext>
            </a:extLst>
          </p:cNvPr>
          <p:cNvSpPr>
            <a:spLocks noGrp="1"/>
          </p:cNvSpPr>
          <p:nvPr>
            <p:ph type="title"/>
          </p:nvPr>
        </p:nvSpPr>
        <p:spPr>
          <a:xfrm>
            <a:off x="514350" y="400050"/>
            <a:ext cx="8115300" cy="62865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3C0A69D-1D9C-4CB3-A329-0EFCA116BA7F}"/>
              </a:ext>
            </a:extLst>
          </p:cNvPr>
          <p:cNvSpPr>
            <a:spLocks noGrp="1"/>
          </p:cNvSpPr>
          <p:nvPr>
            <p:ph type="body" idx="1"/>
          </p:nvPr>
        </p:nvSpPr>
        <p:spPr>
          <a:xfrm>
            <a:off x="514350" y="1428750"/>
            <a:ext cx="3771900" cy="3200400"/>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2D49"/>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A43D1F-C9E3-4997-B7DC-B6E1F2C98766}"/>
              </a:ext>
            </a:extLst>
          </p:cNvPr>
          <p:cNvSpPr>
            <a:spLocks noGrp="1"/>
          </p:cNvSpPr>
          <p:nvPr/>
        </p:nvSpPr>
        <p:spPr>
          <a:xfrm>
            <a:off x="523875" y="1309109"/>
            <a:ext cx="66675" cy="3095625"/>
          </a:xfrm>
          <a:prstGeom prst="rect">
            <a:avLst/>
          </a:prstGeom>
          <a:solidFill>
            <a:srgbClr val="2A9D92"/>
          </a:solidFill>
          <a:ln w="0">
            <a:noFill/>
            <a:prstDash val="solid"/>
          </a:ln>
        </p:spPr>
      </p:sp>
      <p:sp>
        <p:nvSpPr>
          <p:cNvPr id="2" name="Rectangle 1">
            <a:extLst>
              <a:ext uri="{FF2B5EF4-FFF2-40B4-BE49-F238E27FC236}">
                <a16:creationId xmlns:a16="http://schemas.microsoft.com/office/drawing/2014/main" id="{BF9B9537-9826-4E5A-A7ED-47D0FF744B41}"/>
              </a:ext>
            </a:extLst>
          </p:cNvPr>
          <p:cNvSpPr>
            <a:spLocks noGrp="1"/>
          </p:cNvSpPr>
          <p:nvPr/>
        </p:nvSpPr>
        <p:spPr>
          <a:xfrm>
            <a:off x="781050" y="1009650"/>
            <a:ext cx="7524750" cy="1362075"/>
          </a:xfrm>
          <a:prstGeom prst="rect">
            <a:avLst/>
          </a:prstGeom>
          <a:noFill/>
          <a:ln w="0">
            <a:noFill/>
            <a:prstDash val="solid"/>
          </a:ln>
        </p:spPr>
        <p:txBody>
          <a:bodyPr wrap="square" lIns="0" tIns="0" rIns="0" bIns="0" anchor="ctr">
            <a:normAutofit/>
          </a:bodyPr>
          <a:lstStyle>
            <a:defPPr algn="l">
              <a:defRPr sz="3675" b="1">
                <a:solidFill>
                  <a:srgbClr val="FFFFFF"/>
                </a:solidFill>
                <a:latin typeface="Cambria"/>
                <a:ea typeface="Cambria"/>
                <a:cs typeface="Cambria"/>
              </a:defRPr>
            </a:defPPr>
            <a:lvl1pPr algn="l">
              <a:defRPr sz="3675" b="1">
                <a:solidFill>
                  <a:srgbClr val="FFFFFF"/>
                </a:solidFill>
                <a:latin typeface="Cambria"/>
                <a:ea typeface="Cambria"/>
                <a:cs typeface="Cambria"/>
              </a:defRPr>
            </a:lvl1pPr>
            <a:lvl2pPr algn="l">
              <a:defRPr sz="3675" b="1">
                <a:solidFill>
                  <a:srgbClr val="FFFFFF"/>
                </a:solidFill>
                <a:latin typeface="Cambria"/>
                <a:ea typeface="Cambria"/>
                <a:cs typeface="Cambria"/>
              </a:defRPr>
            </a:lvl2pPr>
            <a:lvl3pPr algn="l">
              <a:defRPr sz="3675" b="1">
                <a:solidFill>
                  <a:srgbClr val="FFFFFF"/>
                </a:solidFill>
                <a:latin typeface="Cambria"/>
                <a:ea typeface="Cambria"/>
                <a:cs typeface="Cambria"/>
              </a:defRPr>
            </a:lvl3pPr>
            <a:lvl4pPr algn="l">
              <a:defRPr sz="3675" b="1">
                <a:solidFill>
                  <a:srgbClr val="FFFFFF"/>
                </a:solidFill>
                <a:latin typeface="Cambria"/>
                <a:ea typeface="Cambria"/>
                <a:cs typeface="Cambria"/>
              </a:defRPr>
            </a:lvl4pPr>
            <a:lvl5pPr algn="l">
              <a:defRPr sz="3675" b="1">
                <a:solidFill>
                  <a:srgbClr val="FFFFFF"/>
                </a:solidFill>
                <a:latin typeface="Cambria"/>
                <a:ea typeface="Cambria"/>
                <a:cs typeface="Cambria"/>
              </a:defRPr>
            </a:lvl5pPr>
            <a:lvl6pPr algn="l">
              <a:defRPr sz="3675" b="1">
                <a:solidFill>
                  <a:srgbClr val="FFFFFF"/>
                </a:solidFill>
                <a:latin typeface="Cambria"/>
                <a:ea typeface="Cambria"/>
                <a:cs typeface="Cambria"/>
              </a:defRPr>
            </a:lvl6pPr>
            <a:lvl7pPr algn="l">
              <a:defRPr sz="3675" b="1">
                <a:solidFill>
                  <a:srgbClr val="FFFFFF"/>
                </a:solidFill>
                <a:latin typeface="Cambria"/>
                <a:ea typeface="Cambria"/>
                <a:cs typeface="Cambria"/>
              </a:defRPr>
            </a:lvl7pPr>
            <a:lvl8pPr algn="l">
              <a:defRPr sz="3675" b="1">
                <a:solidFill>
                  <a:srgbClr val="FFFFFF"/>
                </a:solidFill>
                <a:latin typeface="Cambria"/>
                <a:ea typeface="Cambria"/>
                <a:cs typeface="Cambria"/>
              </a:defRPr>
            </a:lvl8pPr>
            <a:lvl9pPr algn="l">
              <a:defRPr sz="3675" b="1">
                <a:solidFill>
                  <a:srgbClr val="FFFFFF"/>
                </a:solidFill>
                <a:latin typeface="Cambria"/>
                <a:ea typeface="Cambria"/>
                <a:cs typeface="Cambria"/>
              </a:defRPr>
            </a:lvl9pPr>
          </a:lstStyle>
          <a:p>
            <a:pPr algn="l">
              <a:buNone/>
              <a:defRPr sz="3675" b="1">
                <a:solidFill>
                  <a:srgbClr val="FFFFFF"/>
                </a:solidFill>
                <a:latin typeface="Cambria"/>
                <a:ea typeface="Cambria"/>
                <a:cs typeface="Cambria"/>
              </a:defRPr>
            </a:pPr>
            <a:r>
              <a:rPr sz="3675" b="1">
                <a:solidFill>
                  <a:srgbClr val="FFFFFF"/>
                </a:solidFill>
                <a:latin typeface="Cambria"/>
                <a:ea typeface="Cambria"/>
                <a:cs typeface="Cambria"/>
              </a:rPr>
              <a:t>Khmer Automatic</a:t>
            </a:r>
          </a:p>
          <a:p>
            <a:pPr algn="l">
              <a:buNone/>
              <a:defRPr sz="3675" b="1">
                <a:solidFill>
                  <a:srgbClr val="FFFFFF"/>
                </a:solidFill>
                <a:latin typeface="Cambria"/>
                <a:ea typeface="Cambria"/>
                <a:cs typeface="Cambria"/>
              </a:defRPr>
            </a:pPr>
            <a:r>
              <a:rPr sz="3675" b="1">
                <a:solidFill>
                  <a:srgbClr val="FFFFFF"/>
                </a:solidFill>
                <a:latin typeface="Cambria"/>
                <a:ea typeface="Cambria"/>
                <a:cs typeface="Cambria"/>
              </a:rPr>
              <a:t>Speech Recognition</a:t>
            </a:r>
          </a:p>
        </p:txBody>
      </p:sp>
      <p:sp>
        <p:nvSpPr>
          <p:cNvPr id="3" name="Rectangle 2">
            <a:extLst>
              <a:ext uri="{FF2B5EF4-FFF2-40B4-BE49-F238E27FC236}">
                <a16:creationId xmlns:a16="http://schemas.microsoft.com/office/drawing/2014/main" id="{3D199D9B-7FD2-4A88-978E-B24DD514F3F3}"/>
              </a:ext>
            </a:extLst>
          </p:cNvPr>
          <p:cNvSpPr>
            <a:spLocks noGrp="1"/>
          </p:cNvSpPr>
          <p:nvPr/>
        </p:nvSpPr>
        <p:spPr>
          <a:xfrm>
            <a:off x="800100" y="2724150"/>
            <a:ext cx="7334250" cy="619125"/>
          </a:xfrm>
          <a:prstGeom prst="rect">
            <a:avLst/>
          </a:prstGeom>
          <a:noFill/>
          <a:ln w="0">
            <a:noFill/>
            <a:prstDash val="solid"/>
          </a:ln>
        </p:spPr>
        <p:txBody>
          <a:bodyPr wrap="square" lIns="0" tIns="0" rIns="0" bIns="0" anchor="ctr">
            <a:normAutofit/>
          </a:bodyPr>
          <a:lstStyle>
            <a:defPPr algn="l">
              <a:defRPr sz="1800" b="0">
                <a:solidFill>
                  <a:srgbClr val="D5E2E9"/>
                </a:solidFill>
                <a:latin typeface="Calibri"/>
                <a:ea typeface="Calibri"/>
                <a:cs typeface="Calibri"/>
              </a:defRPr>
            </a:defPPr>
            <a:lvl1pPr algn="l">
              <a:defRPr sz="1800" b="0">
                <a:solidFill>
                  <a:srgbClr val="D5E2E9"/>
                </a:solidFill>
                <a:latin typeface="Calibri"/>
                <a:ea typeface="Calibri"/>
                <a:cs typeface="Calibri"/>
              </a:defRPr>
            </a:lvl1pPr>
            <a:lvl2pPr algn="l">
              <a:defRPr sz="1800" b="0">
                <a:solidFill>
                  <a:srgbClr val="D5E2E9"/>
                </a:solidFill>
                <a:latin typeface="Calibri"/>
                <a:ea typeface="Calibri"/>
                <a:cs typeface="Calibri"/>
              </a:defRPr>
            </a:lvl2pPr>
            <a:lvl3pPr algn="l">
              <a:defRPr sz="1800" b="0">
                <a:solidFill>
                  <a:srgbClr val="D5E2E9"/>
                </a:solidFill>
                <a:latin typeface="Calibri"/>
                <a:ea typeface="Calibri"/>
                <a:cs typeface="Calibri"/>
              </a:defRPr>
            </a:lvl3pPr>
            <a:lvl4pPr algn="l">
              <a:defRPr sz="1800" b="0">
                <a:solidFill>
                  <a:srgbClr val="D5E2E9"/>
                </a:solidFill>
                <a:latin typeface="Calibri"/>
                <a:ea typeface="Calibri"/>
                <a:cs typeface="Calibri"/>
              </a:defRPr>
            </a:lvl4pPr>
            <a:lvl5pPr algn="l">
              <a:defRPr sz="1800" b="0">
                <a:solidFill>
                  <a:srgbClr val="D5E2E9"/>
                </a:solidFill>
                <a:latin typeface="Calibri"/>
                <a:ea typeface="Calibri"/>
                <a:cs typeface="Calibri"/>
              </a:defRPr>
            </a:lvl5pPr>
            <a:lvl6pPr algn="l">
              <a:defRPr sz="1800" b="0">
                <a:solidFill>
                  <a:srgbClr val="D5E2E9"/>
                </a:solidFill>
                <a:latin typeface="Calibri"/>
                <a:ea typeface="Calibri"/>
                <a:cs typeface="Calibri"/>
              </a:defRPr>
            </a:lvl6pPr>
            <a:lvl7pPr algn="l">
              <a:defRPr sz="1800" b="0">
                <a:solidFill>
                  <a:srgbClr val="D5E2E9"/>
                </a:solidFill>
                <a:latin typeface="Calibri"/>
                <a:ea typeface="Calibri"/>
                <a:cs typeface="Calibri"/>
              </a:defRPr>
            </a:lvl7pPr>
            <a:lvl8pPr algn="l">
              <a:defRPr sz="1800" b="0">
                <a:solidFill>
                  <a:srgbClr val="D5E2E9"/>
                </a:solidFill>
                <a:latin typeface="Calibri"/>
                <a:ea typeface="Calibri"/>
                <a:cs typeface="Calibri"/>
              </a:defRPr>
            </a:lvl8pPr>
            <a:lvl9pPr algn="l">
              <a:defRPr sz="1800" b="0">
                <a:solidFill>
                  <a:srgbClr val="D5E2E9"/>
                </a:solidFill>
                <a:latin typeface="Calibri"/>
                <a:ea typeface="Calibri"/>
                <a:cs typeface="Calibri"/>
              </a:defRPr>
            </a:lvl9pPr>
          </a:lstStyle>
          <a:p>
            <a:pPr algn="l">
              <a:buNone/>
              <a:defRPr sz="1800" b="0">
                <a:solidFill>
                  <a:srgbClr val="D5E2E9"/>
                </a:solidFill>
                <a:latin typeface="Calibri"/>
                <a:ea typeface="Calibri"/>
                <a:cs typeface="Calibri"/>
              </a:defRPr>
            </a:pPr>
            <a:r>
              <a:rPr sz="1800" b="0">
                <a:solidFill>
                  <a:srgbClr val="D5E2E9"/>
                </a:solidFill>
                <a:latin typeface="Calibri"/>
                <a:ea typeface="Calibri"/>
                <a:cs typeface="Calibri"/>
              </a:rPr>
              <a:t>Three student-adapted pretrained models on FLEURS Khmer</a:t>
            </a:r>
          </a:p>
        </p:txBody>
      </p:sp>
      <p:sp>
        <p:nvSpPr>
          <p:cNvPr id="4" name="Rectangle 3">
            <a:extLst>
              <a:ext uri="{FF2B5EF4-FFF2-40B4-BE49-F238E27FC236}">
                <a16:creationId xmlns:a16="http://schemas.microsoft.com/office/drawing/2014/main" id="{F50CF34D-38D0-463C-ABB3-56609BB1E91F}"/>
              </a:ext>
            </a:extLst>
          </p:cNvPr>
          <p:cNvSpPr>
            <a:spLocks noGrp="1"/>
          </p:cNvSpPr>
          <p:nvPr/>
        </p:nvSpPr>
        <p:spPr>
          <a:xfrm>
            <a:off x="800100" y="3743325"/>
            <a:ext cx="7286625" cy="361950"/>
          </a:xfrm>
          <a:prstGeom prst="rect">
            <a:avLst/>
          </a:prstGeom>
          <a:noFill/>
          <a:ln w="0">
            <a:noFill/>
            <a:prstDash val="solid"/>
          </a:ln>
        </p:spPr>
        <p:txBody>
          <a:bodyPr wrap="square" lIns="0" tIns="0" rIns="0" bIns="0" anchor="ctr">
            <a:normAutofit/>
          </a:bodyPr>
          <a:lstStyle>
            <a:defPPr algn="l">
              <a:defRPr sz="1425" b="0">
                <a:solidFill>
                  <a:srgbClr val="FFFFFF"/>
                </a:solidFill>
                <a:latin typeface="Calibri"/>
                <a:ea typeface="Calibri"/>
                <a:cs typeface="Calibri"/>
              </a:defRPr>
            </a:defPPr>
            <a:lvl1pPr algn="l">
              <a:defRPr sz="1425" b="0">
                <a:solidFill>
                  <a:srgbClr val="FFFFFF"/>
                </a:solidFill>
                <a:latin typeface="Calibri"/>
                <a:ea typeface="Calibri"/>
                <a:cs typeface="Calibri"/>
              </a:defRPr>
            </a:lvl1pPr>
            <a:lvl2pPr algn="l">
              <a:defRPr sz="1425" b="0">
                <a:solidFill>
                  <a:srgbClr val="FFFFFF"/>
                </a:solidFill>
                <a:latin typeface="Calibri"/>
                <a:ea typeface="Calibri"/>
                <a:cs typeface="Calibri"/>
              </a:defRPr>
            </a:lvl2pPr>
            <a:lvl3pPr algn="l">
              <a:defRPr sz="1425" b="0">
                <a:solidFill>
                  <a:srgbClr val="FFFFFF"/>
                </a:solidFill>
                <a:latin typeface="Calibri"/>
                <a:ea typeface="Calibri"/>
                <a:cs typeface="Calibri"/>
              </a:defRPr>
            </a:lvl3pPr>
            <a:lvl4pPr algn="l">
              <a:defRPr sz="1425" b="0">
                <a:solidFill>
                  <a:srgbClr val="FFFFFF"/>
                </a:solidFill>
                <a:latin typeface="Calibri"/>
                <a:ea typeface="Calibri"/>
                <a:cs typeface="Calibri"/>
              </a:defRPr>
            </a:lvl4pPr>
            <a:lvl5pPr algn="l">
              <a:defRPr sz="1425" b="0">
                <a:solidFill>
                  <a:srgbClr val="FFFFFF"/>
                </a:solidFill>
                <a:latin typeface="Calibri"/>
                <a:ea typeface="Calibri"/>
                <a:cs typeface="Calibri"/>
              </a:defRPr>
            </a:lvl5pPr>
            <a:lvl6pPr algn="l">
              <a:defRPr sz="1425" b="0">
                <a:solidFill>
                  <a:srgbClr val="FFFFFF"/>
                </a:solidFill>
                <a:latin typeface="Calibri"/>
                <a:ea typeface="Calibri"/>
                <a:cs typeface="Calibri"/>
              </a:defRPr>
            </a:lvl6pPr>
            <a:lvl7pPr algn="l">
              <a:defRPr sz="1425" b="0">
                <a:solidFill>
                  <a:srgbClr val="FFFFFF"/>
                </a:solidFill>
                <a:latin typeface="Calibri"/>
                <a:ea typeface="Calibri"/>
                <a:cs typeface="Calibri"/>
              </a:defRPr>
            </a:lvl7pPr>
            <a:lvl8pPr algn="l">
              <a:defRPr sz="1425" b="0">
                <a:solidFill>
                  <a:srgbClr val="FFFFFF"/>
                </a:solidFill>
                <a:latin typeface="Calibri"/>
                <a:ea typeface="Calibri"/>
                <a:cs typeface="Calibri"/>
              </a:defRPr>
            </a:lvl8pPr>
            <a:lvl9pPr algn="l">
              <a:defRPr sz="1425" b="0">
                <a:solidFill>
                  <a:srgbClr val="FFFFFF"/>
                </a:solidFill>
                <a:latin typeface="Calibri"/>
                <a:ea typeface="Calibri"/>
                <a:cs typeface="Calibri"/>
              </a:defRPr>
            </a:lvl9pPr>
          </a:lstStyle>
          <a:p>
            <a:pPr algn="l">
              <a:buNone/>
              <a:defRPr sz="1425" b="0">
                <a:solidFill>
                  <a:srgbClr val="FFFFFF"/>
                </a:solidFill>
                <a:latin typeface="Calibri"/>
                <a:ea typeface="Calibri"/>
                <a:cs typeface="Calibri"/>
              </a:defRPr>
            </a:pPr>
            <a:r>
              <a:rPr sz="1425" b="0">
                <a:solidFill>
                  <a:srgbClr val="FFFFFF"/>
                </a:solidFill>
                <a:latin typeface="Calibri"/>
                <a:ea typeface="Calibri"/>
                <a:cs typeface="Calibri"/>
              </a:rPr>
              <a:t>Khemrak Pasey  |  Lecturer: Mr. Soklong HIM</a:t>
            </a:r>
          </a:p>
        </p:txBody>
      </p:sp>
      <p:sp>
        <p:nvSpPr>
          <p:cNvPr id="5" name="Rectangle 4">
            <a:extLst>
              <a:ext uri="{FF2B5EF4-FFF2-40B4-BE49-F238E27FC236}">
                <a16:creationId xmlns:a16="http://schemas.microsoft.com/office/drawing/2014/main" id="{9D67A291-6A7C-44D3-8134-6AD62E164EDF}"/>
              </a:ext>
            </a:extLst>
          </p:cNvPr>
          <p:cNvSpPr>
            <a:spLocks noGrp="1"/>
          </p:cNvSpPr>
          <p:nvPr/>
        </p:nvSpPr>
        <p:spPr>
          <a:xfrm>
            <a:off x="800100" y="4286250"/>
            <a:ext cx="7048500" cy="257175"/>
          </a:xfrm>
          <a:prstGeom prst="rect">
            <a:avLst/>
          </a:prstGeom>
          <a:noFill/>
          <a:ln w="0">
            <a:noFill/>
            <a:prstDash val="solid"/>
          </a:ln>
        </p:spPr>
        <p:txBody>
          <a:bodyPr wrap="square" lIns="0" tIns="0" rIns="0" bIns="0" anchor="ctr">
            <a:normAutofit/>
          </a:bodyPr>
          <a:lstStyle>
            <a:defPPr algn="l">
              <a:defRPr sz="1200" b="0">
                <a:solidFill>
                  <a:srgbClr val="BBC9D4"/>
                </a:solidFill>
                <a:latin typeface="Calibri"/>
                <a:ea typeface="Calibri"/>
                <a:cs typeface="Calibri"/>
              </a:defRPr>
            </a:defPPr>
            <a:lvl1pPr algn="l">
              <a:defRPr sz="1200" b="0">
                <a:solidFill>
                  <a:srgbClr val="BBC9D4"/>
                </a:solidFill>
                <a:latin typeface="Calibri"/>
                <a:ea typeface="Calibri"/>
                <a:cs typeface="Calibri"/>
              </a:defRPr>
            </a:lvl1pPr>
            <a:lvl2pPr algn="l">
              <a:defRPr sz="1200" b="0">
                <a:solidFill>
                  <a:srgbClr val="BBC9D4"/>
                </a:solidFill>
                <a:latin typeface="Calibri"/>
                <a:ea typeface="Calibri"/>
                <a:cs typeface="Calibri"/>
              </a:defRPr>
            </a:lvl2pPr>
            <a:lvl3pPr algn="l">
              <a:defRPr sz="1200" b="0">
                <a:solidFill>
                  <a:srgbClr val="BBC9D4"/>
                </a:solidFill>
                <a:latin typeface="Calibri"/>
                <a:ea typeface="Calibri"/>
                <a:cs typeface="Calibri"/>
              </a:defRPr>
            </a:lvl3pPr>
            <a:lvl4pPr algn="l">
              <a:defRPr sz="1200" b="0">
                <a:solidFill>
                  <a:srgbClr val="BBC9D4"/>
                </a:solidFill>
                <a:latin typeface="Calibri"/>
                <a:ea typeface="Calibri"/>
                <a:cs typeface="Calibri"/>
              </a:defRPr>
            </a:lvl4pPr>
            <a:lvl5pPr algn="l">
              <a:defRPr sz="1200" b="0">
                <a:solidFill>
                  <a:srgbClr val="BBC9D4"/>
                </a:solidFill>
                <a:latin typeface="Calibri"/>
                <a:ea typeface="Calibri"/>
                <a:cs typeface="Calibri"/>
              </a:defRPr>
            </a:lvl5pPr>
            <a:lvl6pPr algn="l">
              <a:defRPr sz="1200" b="0">
                <a:solidFill>
                  <a:srgbClr val="BBC9D4"/>
                </a:solidFill>
                <a:latin typeface="Calibri"/>
                <a:ea typeface="Calibri"/>
                <a:cs typeface="Calibri"/>
              </a:defRPr>
            </a:lvl6pPr>
            <a:lvl7pPr algn="l">
              <a:defRPr sz="1200" b="0">
                <a:solidFill>
                  <a:srgbClr val="BBC9D4"/>
                </a:solidFill>
                <a:latin typeface="Calibri"/>
                <a:ea typeface="Calibri"/>
                <a:cs typeface="Calibri"/>
              </a:defRPr>
            </a:lvl7pPr>
            <a:lvl8pPr algn="l">
              <a:defRPr sz="1200" b="0">
                <a:solidFill>
                  <a:srgbClr val="BBC9D4"/>
                </a:solidFill>
                <a:latin typeface="Calibri"/>
                <a:ea typeface="Calibri"/>
                <a:cs typeface="Calibri"/>
              </a:defRPr>
            </a:lvl8pPr>
            <a:lvl9pPr algn="l">
              <a:defRPr sz="1200" b="0">
                <a:solidFill>
                  <a:srgbClr val="BBC9D4"/>
                </a:solidFill>
                <a:latin typeface="Calibri"/>
                <a:ea typeface="Calibri"/>
                <a:cs typeface="Calibri"/>
              </a:defRPr>
            </a:lvl9pPr>
          </a:lstStyle>
          <a:p>
            <a:pPr algn="l">
              <a:buNone/>
              <a:defRPr sz="1200" b="0">
                <a:solidFill>
                  <a:srgbClr val="BBC9D4"/>
                </a:solidFill>
                <a:latin typeface="Calibri"/>
                <a:ea typeface="Calibri"/>
                <a:cs typeface="Calibri"/>
              </a:defRPr>
            </a:pPr>
            <a:r>
              <a:rPr sz="1200" b="0">
                <a:solidFill>
                  <a:srgbClr val="BBC9D4"/>
                </a:solidFill>
                <a:latin typeface="Calibri"/>
                <a:ea typeface="Calibri"/>
                <a:cs typeface="Calibri"/>
              </a:rPr>
              <a:t>Deep Learning final project  |  16 October 2026</a:t>
            </a:r>
          </a:p>
        </p:txBody>
      </p:sp>
      <p:sp>
        <p:nvSpPr>
          <p:cNvPr id="7" name="KIT logo backing">
            <a:extLst>
              <a:ext uri="{FF2B5EF4-FFF2-40B4-BE49-F238E27FC236}">
                <a16:creationId xmlns:a16="http://schemas.microsoft.com/office/drawing/2014/main" id="{4E1A28F2-A506-4E32-BA08-EF11B22D9B40}"/>
              </a:ext>
            </a:extLst>
          </p:cNvPr>
          <p:cNvSpPr>
            <a:spLocks noGrp="1"/>
          </p:cNvSpPr>
          <p:nvPr/>
        </p:nvSpPr>
        <p:spPr>
          <a:xfrm>
            <a:off x="7285463" y="238125"/>
            <a:ext cx="1439437" cy="891865"/>
          </a:xfrm>
          <a:prstGeom prst="rect">
            <a:avLst/>
          </a:prstGeom>
          <a:solidFill>
            <a:srgbClr val="FFFFFF"/>
          </a:solidFill>
          <a:ln w="0">
            <a:noFill/>
            <a:prstDash val="solid"/>
          </a:ln>
        </p:spPr>
      </p:sp>
      <p:pic>
        <p:nvPicPr>
          <p:cNvPr id="8" name="Picture 7">
            <a:extLst>
              <a:ext uri="{FF2B5EF4-FFF2-40B4-BE49-F238E27FC236}">
                <a16:creationId xmlns:a16="http://schemas.microsoft.com/office/drawing/2014/main" id="{E2AF6EEB-1475-49D6-8433-30522BBC5E93}"/>
              </a:ext>
            </a:extLst>
          </p:cNvPr>
          <p:cNvPicPr>
            <a:picLocks noChangeAspect="1"/>
          </p:cNvPicPr>
          <p:nvPr/>
        </p:nvPicPr>
        <p:blipFill>
          <a:blip r:embed="rId3"/>
          <a:stretch/>
        </p:blipFill>
        <p:spPr>
          <a:xfrm>
            <a:off x="7371952" y="318012"/>
            <a:ext cx="1266457" cy="732090"/>
          </a:xfrm>
          <a:prstGeom prst="rect">
            <a:avLst/>
          </a:prstGeom>
        </p:spPr>
      </p:pic>
      <p:sp>
        <p:nvSpPr>
          <p:cNvPr id="9" name="page-1">
            <a:extLst>
              <a:ext uri="{FF2B5EF4-FFF2-40B4-BE49-F238E27FC236}">
                <a16:creationId xmlns:a16="http://schemas.microsoft.com/office/drawing/2014/main" id="{3D9EAC44-C0F9-452E-85AF-FABBA0B5FC4F}"/>
              </a:ext>
            </a:extLst>
          </p:cNvPr>
          <p:cNvSpPr>
            <a:spLocks noGrp="1"/>
          </p:cNvSpPr>
          <p:nvPr/>
        </p:nvSpPr>
        <p:spPr>
          <a:xfrm>
            <a:off x="8324850" y="4810125"/>
            <a:ext cx="361950" cy="180975"/>
          </a:xfrm>
          <a:prstGeom prst="rect">
            <a:avLst/>
          </a:prstGeom>
          <a:noFill/>
          <a:ln w="0">
            <a:noFill/>
            <a:prstDash val="solid"/>
          </a:ln>
        </p:spPr>
        <p:txBody>
          <a:bodyPr lIns="0" tIns="0" rIns="0" bIns="0"/>
          <a:lstStyle>
            <a:defPPr>
              <a:defRPr sz="750">
                <a:solidFill>
                  <a:srgbClr val="C8D4E1"/>
                </a:solidFill>
              </a:defRPr>
            </a:defPPr>
            <a:lvl1pPr>
              <a:defRPr sz="750">
                <a:solidFill>
                  <a:srgbClr val="C8D4E1"/>
                </a:solidFill>
              </a:defRPr>
            </a:lvl1pPr>
            <a:lvl2pPr>
              <a:defRPr sz="750">
                <a:solidFill>
                  <a:srgbClr val="C8D4E1"/>
                </a:solidFill>
              </a:defRPr>
            </a:lvl2pPr>
            <a:lvl3pPr>
              <a:defRPr sz="750">
                <a:solidFill>
                  <a:srgbClr val="C8D4E1"/>
                </a:solidFill>
              </a:defRPr>
            </a:lvl3pPr>
            <a:lvl4pPr>
              <a:defRPr sz="750">
                <a:solidFill>
                  <a:srgbClr val="C8D4E1"/>
                </a:solidFill>
              </a:defRPr>
            </a:lvl4pPr>
            <a:lvl5pPr>
              <a:defRPr sz="750">
                <a:solidFill>
                  <a:srgbClr val="C8D4E1"/>
                </a:solidFill>
              </a:defRPr>
            </a:lvl5pPr>
            <a:lvl6pPr>
              <a:defRPr sz="750">
                <a:solidFill>
                  <a:srgbClr val="C8D4E1"/>
                </a:solidFill>
              </a:defRPr>
            </a:lvl6pPr>
            <a:lvl7pPr>
              <a:defRPr sz="750">
                <a:solidFill>
                  <a:srgbClr val="C8D4E1"/>
                </a:solidFill>
              </a:defRPr>
            </a:lvl7pPr>
            <a:lvl8pPr>
              <a:defRPr sz="750">
                <a:solidFill>
                  <a:srgbClr val="C8D4E1"/>
                </a:solidFill>
              </a:defRPr>
            </a:lvl8pPr>
            <a:lvl9pPr>
              <a:defRPr sz="750">
                <a:solidFill>
                  <a:srgbClr val="C8D4E1"/>
                </a:solidFill>
              </a:defRPr>
            </a:lvl9pPr>
          </a:lstStyle>
          <a:p>
            <a:pPr>
              <a:buNone/>
              <a:defRPr sz="750">
                <a:solidFill>
                  <a:srgbClr val="C8D4E1"/>
                </a:solidFill>
              </a:defRPr>
            </a:pPr>
            <a:r>
              <a:rPr sz="750">
                <a:solidFill>
                  <a:srgbClr val="C8D4E1"/>
                </a:solidFill>
              </a:rPr>
              <a:t>1</a:t>
            </a:r>
          </a:p>
        </p:txBody>
      </p:sp>
    </p:spTree>
    <p:extLst>
      <p:ext uri="{BB962C8B-B14F-4D97-AF65-F5344CB8AC3E}">
        <p14:creationId xmlns:p14="http://schemas.microsoft.com/office/powerpoint/2010/main" val="2139123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5E886B-B66D-4130-A6AD-4D13284B97BA}"/>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400" b="1">
                <a:solidFill>
                  <a:srgbClr val="1C2D49"/>
                </a:solidFill>
                <a:latin typeface="Cambria"/>
                <a:ea typeface="Cambria"/>
                <a:cs typeface="Cambria"/>
              </a:rPr>
              <a:t>Problem: turning Khmer audio into usable text</a:t>
            </a:r>
          </a:p>
        </p:txBody>
      </p:sp>
      <p:sp>
        <p:nvSpPr>
          <p:cNvPr id="2" name="Rectangle 1">
            <a:extLst>
              <a:ext uri="{FF2B5EF4-FFF2-40B4-BE49-F238E27FC236}">
                <a16:creationId xmlns:a16="http://schemas.microsoft.com/office/drawing/2014/main" id="{BBE9613B-BE95-42E7-AC1B-5B7F1FB9C5C0}"/>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7234197D-25C6-42C1-B2F8-491FB794A226}"/>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BBB70253-6CB2-4ADA-A09E-6B4AF43FBEF3}"/>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2</a:t>
            </a:r>
          </a:p>
        </p:txBody>
      </p:sp>
      <p:sp>
        <p:nvSpPr>
          <p:cNvPr id="5" name="Rectangle 4">
            <a:extLst>
              <a:ext uri="{FF2B5EF4-FFF2-40B4-BE49-F238E27FC236}">
                <a16:creationId xmlns:a16="http://schemas.microsoft.com/office/drawing/2014/main" id="{A7244A35-415E-4E6A-B6EB-EF8C70F7108A}"/>
              </a:ext>
            </a:extLst>
          </p:cNvPr>
          <p:cNvSpPr>
            <a:spLocks noGrp="1"/>
          </p:cNvSpPr>
          <p:nvPr/>
        </p:nvSpPr>
        <p:spPr>
          <a:xfrm>
            <a:off x="638175" y="1314450"/>
            <a:ext cx="7858125" cy="876300"/>
          </a:xfrm>
          <a:prstGeom prst="rect">
            <a:avLst/>
          </a:prstGeom>
          <a:noFill/>
          <a:ln w="0">
            <a:noFill/>
            <a:prstDash val="solid"/>
          </a:ln>
        </p:spPr>
        <p:txBody>
          <a:bodyPr wrap="square" lIns="0" tIns="0" rIns="0" bIns="0" anchor="ctr">
            <a:normAutofit/>
          </a:bodyPr>
          <a:lstStyle>
            <a:defPPr algn="l">
              <a:defRPr sz="2025" b="1">
                <a:solidFill>
                  <a:srgbClr val="20324A"/>
                </a:solidFill>
                <a:latin typeface="Calibri"/>
                <a:ea typeface="Calibri"/>
                <a:cs typeface="Calibri"/>
              </a:defRPr>
            </a:defPPr>
            <a:lvl1pPr algn="l">
              <a:defRPr sz="2025" b="1">
                <a:solidFill>
                  <a:srgbClr val="20324A"/>
                </a:solidFill>
                <a:latin typeface="Calibri"/>
                <a:ea typeface="Calibri"/>
                <a:cs typeface="Calibri"/>
              </a:defRPr>
            </a:lvl1pPr>
            <a:lvl2pPr algn="l">
              <a:defRPr sz="2025" b="1">
                <a:solidFill>
                  <a:srgbClr val="20324A"/>
                </a:solidFill>
                <a:latin typeface="Calibri"/>
                <a:ea typeface="Calibri"/>
                <a:cs typeface="Calibri"/>
              </a:defRPr>
            </a:lvl2pPr>
            <a:lvl3pPr algn="l">
              <a:defRPr sz="2025" b="1">
                <a:solidFill>
                  <a:srgbClr val="20324A"/>
                </a:solidFill>
                <a:latin typeface="Calibri"/>
                <a:ea typeface="Calibri"/>
                <a:cs typeface="Calibri"/>
              </a:defRPr>
            </a:lvl3pPr>
            <a:lvl4pPr algn="l">
              <a:defRPr sz="2025" b="1">
                <a:solidFill>
                  <a:srgbClr val="20324A"/>
                </a:solidFill>
                <a:latin typeface="Calibri"/>
                <a:ea typeface="Calibri"/>
                <a:cs typeface="Calibri"/>
              </a:defRPr>
            </a:lvl4pPr>
            <a:lvl5pPr algn="l">
              <a:defRPr sz="2025" b="1">
                <a:solidFill>
                  <a:srgbClr val="20324A"/>
                </a:solidFill>
                <a:latin typeface="Calibri"/>
                <a:ea typeface="Calibri"/>
                <a:cs typeface="Calibri"/>
              </a:defRPr>
            </a:lvl5pPr>
            <a:lvl6pPr algn="l">
              <a:defRPr sz="2025" b="1">
                <a:solidFill>
                  <a:srgbClr val="20324A"/>
                </a:solidFill>
                <a:latin typeface="Calibri"/>
                <a:ea typeface="Calibri"/>
                <a:cs typeface="Calibri"/>
              </a:defRPr>
            </a:lvl6pPr>
            <a:lvl7pPr algn="l">
              <a:defRPr sz="2025" b="1">
                <a:solidFill>
                  <a:srgbClr val="20324A"/>
                </a:solidFill>
                <a:latin typeface="Calibri"/>
                <a:ea typeface="Calibri"/>
                <a:cs typeface="Calibri"/>
              </a:defRPr>
            </a:lvl7pPr>
            <a:lvl8pPr algn="l">
              <a:defRPr sz="2025" b="1">
                <a:solidFill>
                  <a:srgbClr val="20324A"/>
                </a:solidFill>
                <a:latin typeface="Calibri"/>
                <a:ea typeface="Calibri"/>
                <a:cs typeface="Calibri"/>
              </a:defRPr>
            </a:lvl8pPr>
            <a:lvl9pPr algn="l">
              <a:defRPr sz="2025" b="1">
                <a:solidFill>
                  <a:srgbClr val="20324A"/>
                </a:solidFill>
                <a:latin typeface="Calibri"/>
                <a:ea typeface="Calibri"/>
                <a:cs typeface="Calibri"/>
              </a:defRPr>
            </a:lvl9pPr>
          </a:lstStyle>
          <a:p>
            <a:pPr algn="l">
              <a:buNone/>
              <a:defRPr sz="2025" b="1">
                <a:solidFill>
                  <a:srgbClr val="20324A"/>
                </a:solidFill>
                <a:latin typeface="Calibri"/>
                <a:ea typeface="Calibri"/>
                <a:cs typeface="Calibri"/>
              </a:defRPr>
            </a:pPr>
            <a:r>
              <a:rPr sz="2025" b="1">
                <a:solidFill>
                  <a:srgbClr val="20324A"/>
                </a:solidFill>
                <a:latin typeface="Calibri"/>
                <a:ea typeface="Calibri"/>
                <a:cs typeface="Calibri"/>
              </a:rPr>
              <a:t>People need Khmer transcripts for captions, interviews, and notes, but producing them by hand is slow.</a:t>
            </a:r>
          </a:p>
        </p:txBody>
      </p:sp>
      <p:sp>
        <p:nvSpPr>
          <p:cNvPr id="6" name="Rectangle 5">
            <a:extLst>
              <a:ext uri="{FF2B5EF4-FFF2-40B4-BE49-F238E27FC236}">
                <a16:creationId xmlns:a16="http://schemas.microsoft.com/office/drawing/2014/main" id="{0EBB2B47-4882-4455-99E8-C03BAA574A7D}"/>
              </a:ext>
            </a:extLst>
          </p:cNvPr>
          <p:cNvSpPr>
            <a:spLocks noGrp="1"/>
          </p:cNvSpPr>
          <p:nvPr/>
        </p:nvSpPr>
        <p:spPr>
          <a:xfrm>
            <a:off x="628650" y="2486025"/>
            <a:ext cx="38100" cy="1276350"/>
          </a:xfrm>
          <a:prstGeom prst="rect">
            <a:avLst/>
          </a:prstGeom>
          <a:solidFill>
            <a:srgbClr val="2A9D92"/>
          </a:solidFill>
          <a:ln w="0">
            <a:noFill/>
            <a:prstDash val="solid"/>
          </a:ln>
        </p:spPr>
      </p:sp>
      <p:sp>
        <p:nvSpPr>
          <p:cNvPr id="7" name="Rectangle 6">
            <a:extLst>
              <a:ext uri="{FF2B5EF4-FFF2-40B4-BE49-F238E27FC236}">
                <a16:creationId xmlns:a16="http://schemas.microsoft.com/office/drawing/2014/main" id="{B2DA7455-A5BF-41D5-83CC-EE8B1E8A9C21}"/>
              </a:ext>
            </a:extLst>
          </p:cNvPr>
          <p:cNvSpPr>
            <a:spLocks noGrp="1"/>
          </p:cNvSpPr>
          <p:nvPr/>
        </p:nvSpPr>
        <p:spPr>
          <a:xfrm>
            <a:off x="866775" y="2581275"/>
            <a:ext cx="3143250" cy="323850"/>
          </a:xfrm>
          <a:prstGeom prst="rect">
            <a:avLst/>
          </a:prstGeom>
          <a:noFill/>
          <a:ln w="0">
            <a:noFill/>
            <a:prstDash val="solid"/>
          </a:ln>
        </p:spPr>
        <p:txBody>
          <a:bodyPr wrap="square" lIns="0" tIns="0" rIns="0" bIns="0" anchor="ctr">
            <a:normAutofit/>
          </a:bodyPr>
          <a:lstStyle>
            <a:defPPr algn="l">
              <a:defRPr sz="1500" b="1">
                <a:solidFill>
                  <a:srgbClr val="174E6E"/>
                </a:solidFill>
                <a:latin typeface="Calibri"/>
                <a:ea typeface="Calibri"/>
                <a:cs typeface="Calibri"/>
              </a:defRPr>
            </a:defPPr>
            <a:lvl1pPr algn="l">
              <a:defRPr sz="1500" b="1">
                <a:solidFill>
                  <a:srgbClr val="174E6E"/>
                </a:solidFill>
                <a:latin typeface="Calibri"/>
                <a:ea typeface="Calibri"/>
                <a:cs typeface="Calibri"/>
              </a:defRPr>
            </a:lvl1pPr>
            <a:lvl2pPr algn="l">
              <a:defRPr sz="1500" b="1">
                <a:solidFill>
                  <a:srgbClr val="174E6E"/>
                </a:solidFill>
                <a:latin typeface="Calibri"/>
                <a:ea typeface="Calibri"/>
                <a:cs typeface="Calibri"/>
              </a:defRPr>
            </a:lvl2pPr>
            <a:lvl3pPr algn="l">
              <a:defRPr sz="1500" b="1">
                <a:solidFill>
                  <a:srgbClr val="174E6E"/>
                </a:solidFill>
                <a:latin typeface="Calibri"/>
                <a:ea typeface="Calibri"/>
                <a:cs typeface="Calibri"/>
              </a:defRPr>
            </a:lvl3pPr>
            <a:lvl4pPr algn="l">
              <a:defRPr sz="1500" b="1">
                <a:solidFill>
                  <a:srgbClr val="174E6E"/>
                </a:solidFill>
                <a:latin typeface="Calibri"/>
                <a:ea typeface="Calibri"/>
                <a:cs typeface="Calibri"/>
              </a:defRPr>
            </a:lvl4pPr>
            <a:lvl5pPr algn="l">
              <a:defRPr sz="1500" b="1">
                <a:solidFill>
                  <a:srgbClr val="174E6E"/>
                </a:solidFill>
                <a:latin typeface="Calibri"/>
                <a:ea typeface="Calibri"/>
                <a:cs typeface="Calibri"/>
              </a:defRPr>
            </a:lvl5pPr>
            <a:lvl6pPr algn="l">
              <a:defRPr sz="1500" b="1">
                <a:solidFill>
                  <a:srgbClr val="174E6E"/>
                </a:solidFill>
                <a:latin typeface="Calibri"/>
                <a:ea typeface="Calibri"/>
                <a:cs typeface="Calibri"/>
              </a:defRPr>
            </a:lvl6pPr>
            <a:lvl7pPr algn="l">
              <a:defRPr sz="1500" b="1">
                <a:solidFill>
                  <a:srgbClr val="174E6E"/>
                </a:solidFill>
                <a:latin typeface="Calibri"/>
                <a:ea typeface="Calibri"/>
                <a:cs typeface="Calibri"/>
              </a:defRPr>
            </a:lvl7pPr>
            <a:lvl8pPr algn="l">
              <a:defRPr sz="1500" b="1">
                <a:solidFill>
                  <a:srgbClr val="174E6E"/>
                </a:solidFill>
                <a:latin typeface="Calibri"/>
                <a:ea typeface="Calibri"/>
                <a:cs typeface="Calibri"/>
              </a:defRPr>
            </a:lvl8pPr>
            <a:lvl9pPr algn="l">
              <a:defRPr sz="1500" b="1">
                <a:solidFill>
                  <a:srgbClr val="174E6E"/>
                </a:solidFill>
                <a:latin typeface="Calibri"/>
                <a:ea typeface="Calibri"/>
                <a:cs typeface="Calibri"/>
              </a:defRPr>
            </a:lvl9pPr>
          </a:lstStyle>
          <a:p>
            <a:pPr algn="l">
              <a:buNone/>
              <a:defRPr sz="1500" b="1">
                <a:solidFill>
                  <a:srgbClr val="174E6E"/>
                </a:solidFill>
                <a:latin typeface="Calibri"/>
                <a:ea typeface="Calibri"/>
                <a:cs typeface="Calibri"/>
              </a:defRPr>
            </a:pPr>
            <a:r>
              <a:rPr sz="1500" b="1">
                <a:solidFill>
                  <a:srgbClr val="174E6E"/>
                </a:solidFill>
                <a:latin typeface="Calibri"/>
                <a:ea typeface="Calibri"/>
                <a:cs typeface="Calibri"/>
              </a:rPr>
              <a:t>Why is it difficult?</a:t>
            </a:r>
          </a:p>
        </p:txBody>
      </p:sp>
      <p:sp>
        <p:nvSpPr>
          <p:cNvPr id="8" name="Rectangle 7">
            <a:extLst>
              <a:ext uri="{FF2B5EF4-FFF2-40B4-BE49-F238E27FC236}">
                <a16:creationId xmlns:a16="http://schemas.microsoft.com/office/drawing/2014/main" id="{E8A18646-6445-43DE-AB4D-C771E5900E22}"/>
              </a:ext>
            </a:extLst>
          </p:cNvPr>
          <p:cNvSpPr>
            <a:spLocks noGrp="1"/>
          </p:cNvSpPr>
          <p:nvPr/>
        </p:nvSpPr>
        <p:spPr>
          <a:xfrm>
            <a:off x="866775" y="2924175"/>
            <a:ext cx="7162800" cy="628650"/>
          </a:xfrm>
          <a:prstGeom prst="rect">
            <a:avLst/>
          </a:prstGeom>
          <a:noFill/>
          <a:ln w="0">
            <a:noFill/>
            <a:prstDash val="solid"/>
          </a:ln>
        </p:spPr>
        <p:txBody>
          <a:bodyPr wrap="square" lIns="0" tIns="0" rIns="0" bIns="0" anchor="ctr">
            <a:normAutofit/>
          </a:bodyPr>
          <a:lstStyle>
            <a:defPPr algn="l">
              <a:defRPr sz="1650" b="0">
                <a:solidFill>
                  <a:srgbClr val="20324A"/>
                </a:solidFill>
                <a:latin typeface="Calibri"/>
                <a:ea typeface="Calibri"/>
                <a:cs typeface="Calibri"/>
              </a:defRPr>
            </a:defPPr>
            <a:lvl1pPr algn="l">
              <a:defRPr sz="1650" b="0">
                <a:solidFill>
                  <a:srgbClr val="20324A"/>
                </a:solidFill>
                <a:latin typeface="Calibri"/>
                <a:ea typeface="Calibri"/>
                <a:cs typeface="Calibri"/>
              </a:defRPr>
            </a:lvl1pPr>
            <a:lvl2pPr algn="l">
              <a:defRPr sz="1650" b="0">
                <a:solidFill>
                  <a:srgbClr val="20324A"/>
                </a:solidFill>
                <a:latin typeface="Calibri"/>
                <a:ea typeface="Calibri"/>
                <a:cs typeface="Calibri"/>
              </a:defRPr>
            </a:lvl2pPr>
            <a:lvl3pPr algn="l">
              <a:defRPr sz="1650" b="0">
                <a:solidFill>
                  <a:srgbClr val="20324A"/>
                </a:solidFill>
                <a:latin typeface="Calibri"/>
                <a:ea typeface="Calibri"/>
                <a:cs typeface="Calibri"/>
              </a:defRPr>
            </a:lvl3pPr>
            <a:lvl4pPr algn="l">
              <a:defRPr sz="1650" b="0">
                <a:solidFill>
                  <a:srgbClr val="20324A"/>
                </a:solidFill>
                <a:latin typeface="Calibri"/>
                <a:ea typeface="Calibri"/>
                <a:cs typeface="Calibri"/>
              </a:defRPr>
            </a:lvl4pPr>
            <a:lvl5pPr algn="l">
              <a:defRPr sz="1650" b="0">
                <a:solidFill>
                  <a:srgbClr val="20324A"/>
                </a:solidFill>
                <a:latin typeface="Calibri"/>
                <a:ea typeface="Calibri"/>
                <a:cs typeface="Calibri"/>
              </a:defRPr>
            </a:lvl5pPr>
            <a:lvl6pPr algn="l">
              <a:defRPr sz="1650" b="0">
                <a:solidFill>
                  <a:srgbClr val="20324A"/>
                </a:solidFill>
                <a:latin typeface="Calibri"/>
                <a:ea typeface="Calibri"/>
                <a:cs typeface="Calibri"/>
              </a:defRPr>
            </a:lvl6pPr>
            <a:lvl7pPr algn="l">
              <a:defRPr sz="1650" b="0">
                <a:solidFill>
                  <a:srgbClr val="20324A"/>
                </a:solidFill>
                <a:latin typeface="Calibri"/>
                <a:ea typeface="Calibri"/>
                <a:cs typeface="Calibri"/>
              </a:defRPr>
            </a:lvl7pPr>
            <a:lvl8pPr algn="l">
              <a:defRPr sz="1650" b="0">
                <a:solidFill>
                  <a:srgbClr val="20324A"/>
                </a:solidFill>
                <a:latin typeface="Calibri"/>
                <a:ea typeface="Calibri"/>
                <a:cs typeface="Calibri"/>
              </a:defRPr>
            </a:lvl8pPr>
            <a:lvl9pPr algn="l">
              <a:defRPr sz="1650" b="0">
                <a:solidFill>
                  <a:srgbClr val="20324A"/>
                </a:solidFill>
                <a:latin typeface="Calibri"/>
                <a:ea typeface="Calibri"/>
                <a:cs typeface="Calibri"/>
              </a:defRPr>
            </a:lvl9pPr>
          </a:lstStyle>
          <a:p>
            <a:pPr algn="l">
              <a:buNone/>
              <a:defRPr sz="1650" b="0">
                <a:solidFill>
                  <a:srgbClr val="20324A"/>
                </a:solidFill>
                <a:latin typeface="Calibri"/>
                <a:ea typeface="Calibri"/>
                <a:cs typeface="Calibri"/>
              </a:defRPr>
            </a:pPr>
            <a:r>
              <a:rPr sz="1650" b="0">
                <a:solidFill>
                  <a:srgbClr val="20324A"/>
                </a:solidFill>
                <a:latin typeface="Calibri"/>
                <a:ea typeface="Calibri"/>
                <a:cs typeface="Calibri"/>
              </a:rPr>
              <a:t>A transcriber repeatedly listens to each utterance, types Khmer text, and checks wording and spelling.</a:t>
            </a:r>
          </a:p>
        </p:txBody>
      </p:sp>
      <p:sp>
        <p:nvSpPr>
          <p:cNvPr id="9" name="Rectangle 8">
            <a:extLst>
              <a:ext uri="{FF2B5EF4-FFF2-40B4-BE49-F238E27FC236}">
                <a16:creationId xmlns:a16="http://schemas.microsoft.com/office/drawing/2014/main" id="{CCC04057-4708-47EF-8EC0-F8220150E0AD}"/>
              </a:ext>
            </a:extLst>
          </p:cNvPr>
          <p:cNvSpPr>
            <a:spLocks noGrp="1"/>
          </p:cNvSpPr>
          <p:nvPr/>
        </p:nvSpPr>
        <p:spPr>
          <a:xfrm>
            <a:off x="628650" y="3857625"/>
            <a:ext cx="7867650" cy="590550"/>
          </a:xfrm>
          <a:prstGeom prst="rect">
            <a:avLst/>
          </a:prstGeom>
          <a:solidFill>
            <a:srgbClr val="ECF2F4"/>
          </a:solidFill>
          <a:ln w="0">
            <a:noFill/>
            <a:prstDash val="solid"/>
          </a:ln>
        </p:spPr>
      </p:sp>
      <p:sp>
        <p:nvSpPr>
          <p:cNvPr id="10" name="Rectangle 9">
            <a:extLst>
              <a:ext uri="{FF2B5EF4-FFF2-40B4-BE49-F238E27FC236}">
                <a16:creationId xmlns:a16="http://schemas.microsoft.com/office/drawing/2014/main" id="{EC4C371B-A16A-41A8-ABC5-81E22FAF1C07}"/>
              </a:ext>
            </a:extLst>
          </p:cNvPr>
          <p:cNvSpPr>
            <a:spLocks noGrp="1"/>
          </p:cNvSpPr>
          <p:nvPr/>
        </p:nvSpPr>
        <p:spPr>
          <a:xfrm>
            <a:off x="790575" y="3943350"/>
            <a:ext cx="7534275" cy="419100"/>
          </a:xfrm>
          <a:prstGeom prst="rect">
            <a:avLst/>
          </a:prstGeom>
          <a:noFill/>
          <a:ln w="0">
            <a:noFill/>
            <a:prstDash val="solid"/>
          </a:ln>
        </p:spPr>
        <p:txBody>
          <a:bodyPr wrap="square" lIns="0" tIns="0" rIns="0" bIns="0" anchor="ctr">
            <a:normAutofit/>
          </a:bodyPr>
          <a:lstStyle>
            <a:defPPr algn="l">
              <a:defRPr sz="1500" b="1">
                <a:solidFill>
                  <a:srgbClr val="1C2D49"/>
                </a:solidFill>
                <a:latin typeface="Calibri"/>
                <a:ea typeface="Calibri"/>
                <a:cs typeface="Calibri"/>
              </a:defRPr>
            </a:defPPr>
            <a:lvl1pPr algn="l">
              <a:defRPr sz="1500" b="1">
                <a:solidFill>
                  <a:srgbClr val="1C2D49"/>
                </a:solidFill>
                <a:latin typeface="Calibri"/>
                <a:ea typeface="Calibri"/>
                <a:cs typeface="Calibri"/>
              </a:defRPr>
            </a:lvl1pPr>
            <a:lvl2pPr algn="l">
              <a:defRPr sz="1500" b="1">
                <a:solidFill>
                  <a:srgbClr val="1C2D49"/>
                </a:solidFill>
                <a:latin typeface="Calibri"/>
                <a:ea typeface="Calibri"/>
                <a:cs typeface="Calibri"/>
              </a:defRPr>
            </a:lvl2pPr>
            <a:lvl3pPr algn="l">
              <a:defRPr sz="1500" b="1">
                <a:solidFill>
                  <a:srgbClr val="1C2D49"/>
                </a:solidFill>
                <a:latin typeface="Calibri"/>
                <a:ea typeface="Calibri"/>
                <a:cs typeface="Calibri"/>
              </a:defRPr>
            </a:lvl3pPr>
            <a:lvl4pPr algn="l">
              <a:defRPr sz="1500" b="1">
                <a:solidFill>
                  <a:srgbClr val="1C2D49"/>
                </a:solidFill>
                <a:latin typeface="Calibri"/>
                <a:ea typeface="Calibri"/>
                <a:cs typeface="Calibri"/>
              </a:defRPr>
            </a:lvl4pPr>
            <a:lvl5pPr algn="l">
              <a:defRPr sz="1500" b="1">
                <a:solidFill>
                  <a:srgbClr val="1C2D49"/>
                </a:solidFill>
                <a:latin typeface="Calibri"/>
                <a:ea typeface="Calibri"/>
                <a:cs typeface="Calibri"/>
              </a:defRPr>
            </a:lvl5pPr>
            <a:lvl6pPr algn="l">
              <a:defRPr sz="1500" b="1">
                <a:solidFill>
                  <a:srgbClr val="1C2D49"/>
                </a:solidFill>
                <a:latin typeface="Calibri"/>
                <a:ea typeface="Calibri"/>
                <a:cs typeface="Calibri"/>
              </a:defRPr>
            </a:lvl6pPr>
            <a:lvl7pPr algn="l">
              <a:defRPr sz="1500" b="1">
                <a:solidFill>
                  <a:srgbClr val="1C2D49"/>
                </a:solidFill>
                <a:latin typeface="Calibri"/>
                <a:ea typeface="Calibri"/>
                <a:cs typeface="Calibri"/>
              </a:defRPr>
            </a:lvl7pPr>
            <a:lvl8pPr algn="l">
              <a:defRPr sz="1500" b="1">
                <a:solidFill>
                  <a:srgbClr val="1C2D49"/>
                </a:solidFill>
                <a:latin typeface="Calibri"/>
                <a:ea typeface="Calibri"/>
                <a:cs typeface="Calibri"/>
              </a:defRPr>
            </a:lvl8pPr>
            <a:lvl9pPr algn="l">
              <a:defRPr sz="1500" b="1">
                <a:solidFill>
                  <a:srgbClr val="1C2D49"/>
                </a:solidFill>
                <a:latin typeface="Calibri"/>
                <a:ea typeface="Calibri"/>
                <a:cs typeface="Calibri"/>
              </a:defRPr>
            </a:lvl9pPr>
          </a:lstStyle>
          <a:p>
            <a:pPr algn="l">
              <a:buNone/>
              <a:defRPr sz="1500" b="1">
                <a:solidFill>
                  <a:srgbClr val="1C2D49"/>
                </a:solidFill>
                <a:latin typeface="Calibri"/>
                <a:ea typeface="Calibri"/>
                <a:cs typeface="Calibri"/>
              </a:defRPr>
            </a:pPr>
            <a:r>
              <a:rPr sz="1500" b="1">
                <a:solidFill>
                  <a:srgbClr val="1C2D49"/>
                </a:solidFill>
                <a:latin typeface="Calibri"/>
                <a:ea typeface="Calibri"/>
                <a:cs typeface="Calibri"/>
              </a:rPr>
              <a:t>Project question: which adapted ASR model makes fewer character and word errors?</a:t>
            </a:r>
          </a:p>
        </p:txBody>
      </p:sp>
      <p:pic>
        <p:nvPicPr>
          <p:cNvPr id="13" name="Picture 12">
            <a:extLst>
              <a:ext uri="{FF2B5EF4-FFF2-40B4-BE49-F238E27FC236}">
                <a16:creationId xmlns:a16="http://schemas.microsoft.com/office/drawing/2014/main" id="{34124733-1F0C-4FEF-A27D-D510796717B8}"/>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165238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06B7ABF-B06F-4D11-859D-2A477CB1D13A}"/>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Data: FLEURS Khmer utterances</a:t>
            </a:r>
          </a:p>
        </p:txBody>
      </p:sp>
      <p:sp>
        <p:nvSpPr>
          <p:cNvPr id="2" name="Rectangle 1">
            <a:extLst>
              <a:ext uri="{FF2B5EF4-FFF2-40B4-BE49-F238E27FC236}">
                <a16:creationId xmlns:a16="http://schemas.microsoft.com/office/drawing/2014/main" id="{937F9422-892C-4197-AAEE-8729770803BD}"/>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DF083079-2E10-471A-8BD4-BB985A114C7B}"/>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D565F79A-94FA-413F-9ACD-79C683B8C002}"/>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3</a:t>
            </a:r>
          </a:p>
        </p:txBody>
      </p:sp>
      <p:sp>
        <p:nvSpPr>
          <p:cNvPr id="5" name="Rectangle 4">
            <a:extLst>
              <a:ext uri="{FF2B5EF4-FFF2-40B4-BE49-F238E27FC236}">
                <a16:creationId xmlns:a16="http://schemas.microsoft.com/office/drawing/2014/main" id="{9D99B923-3AEE-45CB-A1B6-419FE36985E9}"/>
              </a:ext>
            </a:extLst>
          </p:cNvPr>
          <p:cNvSpPr>
            <a:spLocks noGrp="1"/>
          </p:cNvSpPr>
          <p:nvPr/>
        </p:nvSpPr>
        <p:spPr>
          <a:xfrm>
            <a:off x="628650" y="1133475"/>
            <a:ext cx="7877175" cy="409575"/>
          </a:xfrm>
          <a:prstGeom prst="rect">
            <a:avLst/>
          </a:prstGeom>
          <a:noFill/>
          <a:ln w="0">
            <a:noFill/>
            <a:prstDash val="solid"/>
          </a:ln>
        </p:spPr>
        <p:txBody>
          <a:bodyPr wrap="square" lIns="0" tIns="0" rIns="0" bIns="0" anchor="ctr">
            <a:normAutofit/>
          </a:bodyPr>
          <a:lstStyle>
            <a:defPPr algn="l">
              <a:defRPr sz="1575" b="0">
                <a:solidFill>
                  <a:srgbClr val="5C6C7B"/>
                </a:solidFill>
                <a:latin typeface="Calibri"/>
                <a:ea typeface="Calibri"/>
                <a:cs typeface="Calibri"/>
              </a:defRPr>
            </a:defPPr>
            <a:lvl1pPr algn="l">
              <a:defRPr sz="1575" b="0">
                <a:solidFill>
                  <a:srgbClr val="5C6C7B"/>
                </a:solidFill>
                <a:latin typeface="Calibri"/>
                <a:ea typeface="Calibri"/>
                <a:cs typeface="Calibri"/>
              </a:defRPr>
            </a:lvl1pPr>
            <a:lvl2pPr algn="l">
              <a:defRPr sz="1575" b="0">
                <a:solidFill>
                  <a:srgbClr val="5C6C7B"/>
                </a:solidFill>
                <a:latin typeface="Calibri"/>
                <a:ea typeface="Calibri"/>
                <a:cs typeface="Calibri"/>
              </a:defRPr>
            </a:lvl2pPr>
            <a:lvl3pPr algn="l">
              <a:defRPr sz="1575" b="0">
                <a:solidFill>
                  <a:srgbClr val="5C6C7B"/>
                </a:solidFill>
                <a:latin typeface="Calibri"/>
                <a:ea typeface="Calibri"/>
                <a:cs typeface="Calibri"/>
              </a:defRPr>
            </a:lvl3pPr>
            <a:lvl4pPr algn="l">
              <a:defRPr sz="1575" b="0">
                <a:solidFill>
                  <a:srgbClr val="5C6C7B"/>
                </a:solidFill>
                <a:latin typeface="Calibri"/>
                <a:ea typeface="Calibri"/>
                <a:cs typeface="Calibri"/>
              </a:defRPr>
            </a:lvl4pPr>
            <a:lvl5pPr algn="l">
              <a:defRPr sz="1575" b="0">
                <a:solidFill>
                  <a:srgbClr val="5C6C7B"/>
                </a:solidFill>
                <a:latin typeface="Calibri"/>
                <a:ea typeface="Calibri"/>
                <a:cs typeface="Calibri"/>
              </a:defRPr>
            </a:lvl5pPr>
            <a:lvl6pPr algn="l">
              <a:defRPr sz="1575" b="0">
                <a:solidFill>
                  <a:srgbClr val="5C6C7B"/>
                </a:solidFill>
                <a:latin typeface="Calibri"/>
                <a:ea typeface="Calibri"/>
                <a:cs typeface="Calibri"/>
              </a:defRPr>
            </a:lvl6pPr>
            <a:lvl7pPr algn="l">
              <a:defRPr sz="1575" b="0">
                <a:solidFill>
                  <a:srgbClr val="5C6C7B"/>
                </a:solidFill>
                <a:latin typeface="Calibri"/>
                <a:ea typeface="Calibri"/>
                <a:cs typeface="Calibri"/>
              </a:defRPr>
            </a:lvl7pPr>
            <a:lvl8pPr algn="l">
              <a:defRPr sz="1575" b="0">
                <a:solidFill>
                  <a:srgbClr val="5C6C7B"/>
                </a:solidFill>
                <a:latin typeface="Calibri"/>
                <a:ea typeface="Calibri"/>
                <a:cs typeface="Calibri"/>
              </a:defRPr>
            </a:lvl8pPr>
            <a:lvl9pPr algn="l">
              <a:defRPr sz="1575" b="0">
                <a:solidFill>
                  <a:srgbClr val="5C6C7B"/>
                </a:solidFill>
                <a:latin typeface="Calibri"/>
                <a:ea typeface="Calibri"/>
                <a:cs typeface="Calibri"/>
              </a:defRPr>
            </a:lvl9pPr>
          </a:lstStyle>
          <a:p>
            <a:pPr algn="l">
              <a:buNone/>
              <a:defRPr sz="1575" b="0">
                <a:solidFill>
                  <a:srgbClr val="5C6C7B"/>
                </a:solidFill>
                <a:latin typeface="Calibri"/>
                <a:ea typeface="Calibri"/>
                <a:cs typeface="Calibri"/>
              </a:defRPr>
            </a:pPr>
            <a:r>
              <a:rPr sz="1575" b="0">
                <a:solidFill>
                  <a:srgbClr val="5C6C7B"/>
                </a:solidFill>
                <a:latin typeface="Calibri"/>
                <a:ea typeface="Calibri"/>
                <a:cs typeface="Calibri"/>
              </a:rPr>
              <a:t>One utterance = one short audio recording with a reference transcript.</a:t>
            </a:r>
          </a:p>
        </p:txBody>
      </p:sp>
      <p:sp>
        <p:nvSpPr>
          <p:cNvPr id="6" name="Rectangle 5">
            <a:extLst>
              <a:ext uri="{FF2B5EF4-FFF2-40B4-BE49-F238E27FC236}">
                <a16:creationId xmlns:a16="http://schemas.microsoft.com/office/drawing/2014/main" id="{11A2C16A-BEBB-4F61-9C11-3BB49F7C8F28}"/>
              </a:ext>
            </a:extLst>
          </p:cNvPr>
          <p:cNvSpPr>
            <a:spLocks noGrp="1"/>
          </p:cNvSpPr>
          <p:nvPr/>
        </p:nvSpPr>
        <p:spPr>
          <a:xfrm>
            <a:off x="628650" y="1752600"/>
            <a:ext cx="2381250" cy="1695450"/>
          </a:xfrm>
          <a:prstGeom prst="rect">
            <a:avLst/>
          </a:prstGeom>
          <a:solidFill>
            <a:srgbClr val="ECF2F4"/>
          </a:solidFill>
          <a:ln w="0">
            <a:noFill/>
            <a:prstDash val="solid"/>
          </a:ln>
        </p:spPr>
      </p:sp>
      <p:sp>
        <p:nvSpPr>
          <p:cNvPr id="7" name="Rectangle 6">
            <a:extLst>
              <a:ext uri="{FF2B5EF4-FFF2-40B4-BE49-F238E27FC236}">
                <a16:creationId xmlns:a16="http://schemas.microsoft.com/office/drawing/2014/main" id="{117F2574-D0AA-4718-872B-789E90E991DF}"/>
              </a:ext>
            </a:extLst>
          </p:cNvPr>
          <p:cNvSpPr>
            <a:spLocks noGrp="1"/>
          </p:cNvSpPr>
          <p:nvPr/>
        </p:nvSpPr>
        <p:spPr>
          <a:xfrm>
            <a:off x="819150" y="1876425"/>
            <a:ext cx="2000250" cy="781050"/>
          </a:xfrm>
          <a:prstGeom prst="rect">
            <a:avLst/>
          </a:prstGeom>
          <a:noFill/>
          <a:ln w="0">
            <a:noFill/>
            <a:prstDash val="solid"/>
          </a:ln>
        </p:spPr>
        <p:txBody>
          <a:bodyPr wrap="square" lIns="0" tIns="0" rIns="0" bIns="0" anchor="ctr">
            <a:normAutofit/>
          </a:bodyPr>
          <a:lstStyle>
            <a:defPPr algn="l">
              <a:defRPr sz="4275" b="1">
                <a:solidFill>
                  <a:srgbClr val="5C6C7B"/>
                </a:solidFill>
                <a:latin typeface="Cambria"/>
                <a:ea typeface="Cambria"/>
                <a:cs typeface="Cambria"/>
              </a:defRPr>
            </a:defPPr>
            <a:lvl1pPr algn="l">
              <a:defRPr sz="4275" b="1">
                <a:solidFill>
                  <a:srgbClr val="5C6C7B"/>
                </a:solidFill>
                <a:latin typeface="Cambria"/>
                <a:ea typeface="Cambria"/>
                <a:cs typeface="Cambria"/>
              </a:defRPr>
            </a:lvl1pPr>
            <a:lvl2pPr algn="l">
              <a:defRPr sz="4275" b="1">
                <a:solidFill>
                  <a:srgbClr val="5C6C7B"/>
                </a:solidFill>
                <a:latin typeface="Cambria"/>
                <a:ea typeface="Cambria"/>
                <a:cs typeface="Cambria"/>
              </a:defRPr>
            </a:lvl2pPr>
            <a:lvl3pPr algn="l">
              <a:defRPr sz="4275" b="1">
                <a:solidFill>
                  <a:srgbClr val="5C6C7B"/>
                </a:solidFill>
                <a:latin typeface="Cambria"/>
                <a:ea typeface="Cambria"/>
                <a:cs typeface="Cambria"/>
              </a:defRPr>
            </a:lvl3pPr>
            <a:lvl4pPr algn="l">
              <a:defRPr sz="4275" b="1">
                <a:solidFill>
                  <a:srgbClr val="5C6C7B"/>
                </a:solidFill>
                <a:latin typeface="Cambria"/>
                <a:ea typeface="Cambria"/>
                <a:cs typeface="Cambria"/>
              </a:defRPr>
            </a:lvl4pPr>
            <a:lvl5pPr algn="l">
              <a:defRPr sz="4275" b="1">
                <a:solidFill>
                  <a:srgbClr val="5C6C7B"/>
                </a:solidFill>
                <a:latin typeface="Cambria"/>
                <a:ea typeface="Cambria"/>
                <a:cs typeface="Cambria"/>
              </a:defRPr>
            </a:lvl5pPr>
            <a:lvl6pPr algn="l">
              <a:defRPr sz="4275" b="1">
                <a:solidFill>
                  <a:srgbClr val="5C6C7B"/>
                </a:solidFill>
                <a:latin typeface="Cambria"/>
                <a:ea typeface="Cambria"/>
                <a:cs typeface="Cambria"/>
              </a:defRPr>
            </a:lvl6pPr>
            <a:lvl7pPr algn="l">
              <a:defRPr sz="4275" b="1">
                <a:solidFill>
                  <a:srgbClr val="5C6C7B"/>
                </a:solidFill>
                <a:latin typeface="Cambria"/>
                <a:ea typeface="Cambria"/>
                <a:cs typeface="Cambria"/>
              </a:defRPr>
            </a:lvl7pPr>
            <a:lvl8pPr algn="l">
              <a:defRPr sz="4275" b="1">
                <a:solidFill>
                  <a:srgbClr val="5C6C7B"/>
                </a:solidFill>
                <a:latin typeface="Cambria"/>
                <a:ea typeface="Cambria"/>
                <a:cs typeface="Cambria"/>
              </a:defRPr>
            </a:lvl8pPr>
            <a:lvl9pPr algn="l">
              <a:defRPr sz="4275" b="1">
                <a:solidFill>
                  <a:srgbClr val="5C6C7B"/>
                </a:solidFill>
                <a:latin typeface="Cambria"/>
                <a:ea typeface="Cambria"/>
                <a:cs typeface="Cambria"/>
              </a:defRPr>
            </a:lvl9pPr>
          </a:lstStyle>
          <a:p>
            <a:pPr algn="l">
              <a:buNone/>
              <a:defRPr sz="4275" b="1">
                <a:solidFill>
                  <a:srgbClr val="5C6C7B"/>
                </a:solidFill>
                <a:latin typeface="Cambria"/>
                <a:ea typeface="Cambria"/>
                <a:cs typeface="Cambria"/>
              </a:defRPr>
            </a:pPr>
            <a:r>
              <a:rPr sz="4275" b="1">
                <a:solidFill>
                  <a:srgbClr val="5C6C7B"/>
                </a:solidFill>
                <a:latin typeface="Cambria"/>
                <a:ea typeface="Cambria"/>
                <a:cs typeface="Cambria"/>
              </a:rPr>
              <a:t>531</a:t>
            </a:r>
          </a:p>
        </p:txBody>
      </p:sp>
      <p:sp>
        <p:nvSpPr>
          <p:cNvPr id="8" name="Rectangle 7">
            <a:extLst>
              <a:ext uri="{FF2B5EF4-FFF2-40B4-BE49-F238E27FC236}">
                <a16:creationId xmlns:a16="http://schemas.microsoft.com/office/drawing/2014/main" id="{D0BE305A-DF1A-448F-95FF-6833EE1C91A0}"/>
              </a:ext>
            </a:extLst>
          </p:cNvPr>
          <p:cNvSpPr>
            <a:spLocks noGrp="1"/>
          </p:cNvSpPr>
          <p:nvPr/>
        </p:nvSpPr>
        <p:spPr>
          <a:xfrm>
            <a:off x="819150" y="2705100"/>
            <a:ext cx="2000250" cy="323850"/>
          </a:xfrm>
          <a:prstGeom prst="rect">
            <a:avLst/>
          </a:prstGeom>
          <a:noFill/>
          <a:ln w="0">
            <a:noFill/>
            <a:prstDash val="solid"/>
          </a:ln>
        </p:spPr>
        <p:txBody>
          <a:bodyPr wrap="square" lIns="0" tIns="0" rIns="0" bIns="0" anchor="ctr">
            <a:normAutofit/>
          </a:bodyPr>
          <a:lstStyle>
            <a:defPPr algn="l">
              <a:defRPr sz="1575" b="1">
                <a:solidFill>
                  <a:srgbClr val="1C2D49"/>
                </a:solidFill>
                <a:latin typeface="Calibri"/>
                <a:ea typeface="Calibri"/>
                <a:cs typeface="Calibri"/>
              </a:defRPr>
            </a:defPPr>
            <a:lvl1pPr algn="l">
              <a:defRPr sz="1575" b="1">
                <a:solidFill>
                  <a:srgbClr val="1C2D49"/>
                </a:solidFill>
                <a:latin typeface="Calibri"/>
                <a:ea typeface="Calibri"/>
                <a:cs typeface="Calibri"/>
              </a:defRPr>
            </a:lvl1pPr>
            <a:lvl2pPr algn="l">
              <a:defRPr sz="1575" b="1">
                <a:solidFill>
                  <a:srgbClr val="1C2D49"/>
                </a:solidFill>
                <a:latin typeface="Calibri"/>
                <a:ea typeface="Calibri"/>
                <a:cs typeface="Calibri"/>
              </a:defRPr>
            </a:lvl2pPr>
            <a:lvl3pPr algn="l">
              <a:defRPr sz="1575" b="1">
                <a:solidFill>
                  <a:srgbClr val="1C2D49"/>
                </a:solidFill>
                <a:latin typeface="Calibri"/>
                <a:ea typeface="Calibri"/>
                <a:cs typeface="Calibri"/>
              </a:defRPr>
            </a:lvl3pPr>
            <a:lvl4pPr algn="l">
              <a:defRPr sz="1575" b="1">
                <a:solidFill>
                  <a:srgbClr val="1C2D49"/>
                </a:solidFill>
                <a:latin typeface="Calibri"/>
                <a:ea typeface="Calibri"/>
                <a:cs typeface="Calibri"/>
              </a:defRPr>
            </a:lvl4pPr>
            <a:lvl5pPr algn="l">
              <a:defRPr sz="1575" b="1">
                <a:solidFill>
                  <a:srgbClr val="1C2D49"/>
                </a:solidFill>
                <a:latin typeface="Calibri"/>
                <a:ea typeface="Calibri"/>
                <a:cs typeface="Calibri"/>
              </a:defRPr>
            </a:lvl5pPr>
            <a:lvl6pPr algn="l">
              <a:defRPr sz="1575" b="1">
                <a:solidFill>
                  <a:srgbClr val="1C2D49"/>
                </a:solidFill>
                <a:latin typeface="Calibri"/>
                <a:ea typeface="Calibri"/>
                <a:cs typeface="Calibri"/>
              </a:defRPr>
            </a:lvl6pPr>
            <a:lvl7pPr algn="l">
              <a:defRPr sz="1575" b="1">
                <a:solidFill>
                  <a:srgbClr val="1C2D49"/>
                </a:solidFill>
                <a:latin typeface="Calibri"/>
                <a:ea typeface="Calibri"/>
                <a:cs typeface="Calibri"/>
              </a:defRPr>
            </a:lvl7pPr>
            <a:lvl8pPr algn="l">
              <a:defRPr sz="1575" b="1">
                <a:solidFill>
                  <a:srgbClr val="1C2D49"/>
                </a:solidFill>
                <a:latin typeface="Calibri"/>
                <a:ea typeface="Calibri"/>
                <a:cs typeface="Calibri"/>
              </a:defRPr>
            </a:lvl8pPr>
            <a:lvl9pPr algn="l">
              <a:defRPr sz="1575" b="1">
                <a:solidFill>
                  <a:srgbClr val="1C2D49"/>
                </a:solidFill>
                <a:latin typeface="Calibri"/>
                <a:ea typeface="Calibri"/>
                <a:cs typeface="Calibri"/>
              </a:defRPr>
            </a:lvl9pPr>
          </a:lstStyle>
          <a:p>
            <a:pPr algn="l">
              <a:buNone/>
              <a:defRPr sz="1575" b="1">
                <a:solidFill>
                  <a:srgbClr val="1C2D49"/>
                </a:solidFill>
                <a:latin typeface="Calibri"/>
                <a:ea typeface="Calibri"/>
                <a:cs typeface="Calibri"/>
              </a:defRPr>
            </a:pPr>
            <a:r>
              <a:rPr sz="1575" b="1">
                <a:solidFill>
                  <a:srgbClr val="1C2D49"/>
                </a:solidFill>
                <a:latin typeface="Calibri"/>
                <a:ea typeface="Calibri"/>
                <a:cs typeface="Calibri"/>
              </a:rPr>
              <a:t>training utterances</a:t>
            </a:r>
          </a:p>
        </p:txBody>
      </p:sp>
      <p:sp>
        <p:nvSpPr>
          <p:cNvPr id="9" name="Rectangle 8">
            <a:extLst>
              <a:ext uri="{FF2B5EF4-FFF2-40B4-BE49-F238E27FC236}">
                <a16:creationId xmlns:a16="http://schemas.microsoft.com/office/drawing/2014/main" id="{18F9CE50-A8C2-4DA4-896B-04A2E0D5F6FB}"/>
              </a:ext>
            </a:extLst>
          </p:cNvPr>
          <p:cNvSpPr>
            <a:spLocks noGrp="1"/>
          </p:cNvSpPr>
          <p:nvPr/>
        </p:nvSpPr>
        <p:spPr>
          <a:xfrm>
            <a:off x="819150" y="3057525"/>
            <a:ext cx="2000250" cy="29527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Whisper and MMS</a:t>
            </a:r>
          </a:p>
        </p:txBody>
      </p:sp>
      <p:sp>
        <p:nvSpPr>
          <p:cNvPr id="10" name="Rectangle 9">
            <a:extLst>
              <a:ext uri="{FF2B5EF4-FFF2-40B4-BE49-F238E27FC236}">
                <a16:creationId xmlns:a16="http://schemas.microsoft.com/office/drawing/2014/main" id="{276BEF77-C6C0-43EE-B8FA-5DB1B202EF42}"/>
              </a:ext>
            </a:extLst>
          </p:cNvPr>
          <p:cNvSpPr>
            <a:spLocks noGrp="1"/>
          </p:cNvSpPr>
          <p:nvPr/>
        </p:nvSpPr>
        <p:spPr>
          <a:xfrm>
            <a:off x="3381375" y="1752600"/>
            <a:ext cx="2381250" cy="1695450"/>
          </a:xfrm>
          <a:prstGeom prst="rect">
            <a:avLst/>
          </a:prstGeom>
          <a:solidFill>
            <a:srgbClr val="ECF2F4"/>
          </a:solidFill>
          <a:ln w="0">
            <a:noFill/>
            <a:prstDash val="solid"/>
          </a:ln>
        </p:spPr>
      </p:sp>
      <p:sp>
        <p:nvSpPr>
          <p:cNvPr id="11" name="Rectangle 10">
            <a:extLst>
              <a:ext uri="{FF2B5EF4-FFF2-40B4-BE49-F238E27FC236}">
                <a16:creationId xmlns:a16="http://schemas.microsoft.com/office/drawing/2014/main" id="{E675B281-6BB4-4A58-8BFF-FD4FA9E74A82}"/>
              </a:ext>
            </a:extLst>
          </p:cNvPr>
          <p:cNvSpPr>
            <a:spLocks noGrp="1"/>
          </p:cNvSpPr>
          <p:nvPr/>
        </p:nvSpPr>
        <p:spPr>
          <a:xfrm>
            <a:off x="3571875" y="1876425"/>
            <a:ext cx="2000250" cy="781050"/>
          </a:xfrm>
          <a:prstGeom prst="rect">
            <a:avLst/>
          </a:prstGeom>
          <a:noFill/>
          <a:ln w="0">
            <a:noFill/>
            <a:prstDash val="solid"/>
          </a:ln>
        </p:spPr>
        <p:txBody>
          <a:bodyPr wrap="square" lIns="0" tIns="0" rIns="0" bIns="0" anchor="ctr">
            <a:normAutofit/>
          </a:bodyPr>
          <a:lstStyle>
            <a:defPPr algn="l">
              <a:defRPr sz="4275" b="1">
                <a:solidFill>
                  <a:srgbClr val="F1A12B"/>
                </a:solidFill>
                <a:latin typeface="Cambria"/>
                <a:ea typeface="Cambria"/>
                <a:cs typeface="Cambria"/>
              </a:defRPr>
            </a:defPPr>
            <a:lvl1pPr algn="l">
              <a:defRPr sz="4275" b="1">
                <a:solidFill>
                  <a:srgbClr val="F1A12B"/>
                </a:solidFill>
                <a:latin typeface="Cambria"/>
                <a:ea typeface="Cambria"/>
                <a:cs typeface="Cambria"/>
              </a:defRPr>
            </a:lvl1pPr>
            <a:lvl2pPr algn="l">
              <a:defRPr sz="4275" b="1">
                <a:solidFill>
                  <a:srgbClr val="F1A12B"/>
                </a:solidFill>
                <a:latin typeface="Cambria"/>
                <a:ea typeface="Cambria"/>
                <a:cs typeface="Cambria"/>
              </a:defRPr>
            </a:lvl2pPr>
            <a:lvl3pPr algn="l">
              <a:defRPr sz="4275" b="1">
                <a:solidFill>
                  <a:srgbClr val="F1A12B"/>
                </a:solidFill>
                <a:latin typeface="Cambria"/>
                <a:ea typeface="Cambria"/>
                <a:cs typeface="Cambria"/>
              </a:defRPr>
            </a:lvl3pPr>
            <a:lvl4pPr algn="l">
              <a:defRPr sz="4275" b="1">
                <a:solidFill>
                  <a:srgbClr val="F1A12B"/>
                </a:solidFill>
                <a:latin typeface="Cambria"/>
                <a:ea typeface="Cambria"/>
                <a:cs typeface="Cambria"/>
              </a:defRPr>
            </a:lvl4pPr>
            <a:lvl5pPr algn="l">
              <a:defRPr sz="4275" b="1">
                <a:solidFill>
                  <a:srgbClr val="F1A12B"/>
                </a:solidFill>
                <a:latin typeface="Cambria"/>
                <a:ea typeface="Cambria"/>
                <a:cs typeface="Cambria"/>
              </a:defRPr>
            </a:lvl5pPr>
            <a:lvl6pPr algn="l">
              <a:defRPr sz="4275" b="1">
                <a:solidFill>
                  <a:srgbClr val="F1A12B"/>
                </a:solidFill>
                <a:latin typeface="Cambria"/>
                <a:ea typeface="Cambria"/>
                <a:cs typeface="Cambria"/>
              </a:defRPr>
            </a:lvl6pPr>
            <a:lvl7pPr algn="l">
              <a:defRPr sz="4275" b="1">
                <a:solidFill>
                  <a:srgbClr val="F1A12B"/>
                </a:solidFill>
                <a:latin typeface="Cambria"/>
                <a:ea typeface="Cambria"/>
                <a:cs typeface="Cambria"/>
              </a:defRPr>
            </a:lvl7pPr>
            <a:lvl8pPr algn="l">
              <a:defRPr sz="4275" b="1">
                <a:solidFill>
                  <a:srgbClr val="F1A12B"/>
                </a:solidFill>
                <a:latin typeface="Cambria"/>
                <a:ea typeface="Cambria"/>
                <a:cs typeface="Cambria"/>
              </a:defRPr>
            </a:lvl8pPr>
            <a:lvl9pPr algn="l">
              <a:defRPr sz="4275" b="1">
                <a:solidFill>
                  <a:srgbClr val="F1A12B"/>
                </a:solidFill>
                <a:latin typeface="Cambria"/>
                <a:ea typeface="Cambria"/>
                <a:cs typeface="Cambria"/>
              </a:defRPr>
            </a:lvl9pPr>
          </a:lstStyle>
          <a:p>
            <a:pPr algn="l">
              <a:buNone/>
              <a:defRPr sz="4275" b="1">
                <a:solidFill>
                  <a:srgbClr val="F1A12B"/>
                </a:solidFill>
                <a:latin typeface="Cambria"/>
                <a:ea typeface="Cambria"/>
                <a:cs typeface="Cambria"/>
              </a:defRPr>
            </a:pPr>
            <a:r>
              <a:rPr sz="4275" b="1">
                <a:solidFill>
                  <a:srgbClr val="F1A12B"/>
                </a:solidFill>
                <a:latin typeface="Cambria"/>
                <a:ea typeface="Cambria"/>
                <a:cs typeface="Cambria"/>
              </a:rPr>
              <a:t>124</a:t>
            </a:r>
          </a:p>
        </p:txBody>
      </p:sp>
      <p:sp>
        <p:nvSpPr>
          <p:cNvPr id="12" name="Rectangle 11">
            <a:extLst>
              <a:ext uri="{FF2B5EF4-FFF2-40B4-BE49-F238E27FC236}">
                <a16:creationId xmlns:a16="http://schemas.microsoft.com/office/drawing/2014/main" id="{F81B793C-F8D3-4D38-823E-E8C5F4ADEB23}"/>
              </a:ext>
            </a:extLst>
          </p:cNvPr>
          <p:cNvSpPr>
            <a:spLocks noGrp="1"/>
          </p:cNvSpPr>
          <p:nvPr/>
        </p:nvSpPr>
        <p:spPr>
          <a:xfrm>
            <a:off x="3571875" y="2705100"/>
            <a:ext cx="2000250" cy="323850"/>
          </a:xfrm>
          <a:prstGeom prst="rect">
            <a:avLst/>
          </a:prstGeom>
          <a:noFill/>
          <a:ln w="0">
            <a:noFill/>
            <a:prstDash val="solid"/>
          </a:ln>
        </p:spPr>
        <p:txBody>
          <a:bodyPr wrap="square" lIns="0" tIns="0" rIns="0" bIns="0" anchor="ctr">
            <a:normAutofit/>
          </a:bodyPr>
          <a:lstStyle>
            <a:defPPr algn="l">
              <a:defRPr sz="1575" b="1">
                <a:solidFill>
                  <a:srgbClr val="1C2D49"/>
                </a:solidFill>
                <a:latin typeface="Calibri"/>
                <a:ea typeface="Calibri"/>
                <a:cs typeface="Calibri"/>
              </a:defRPr>
            </a:defPPr>
            <a:lvl1pPr algn="l">
              <a:defRPr sz="1575" b="1">
                <a:solidFill>
                  <a:srgbClr val="1C2D49"/>
                </a:solidFill>
                <a:latin typeface="Calibri"/>
                <a:ea typeface="Calibri"/>
                <a:cs typeface="Calibri"/>
              </a:defRPr>
            </a:lvl1pPr>
            <a:lvl2pPr algn="l">
              <a:defRPr sz="1575" b="1">
                <a:solidFill>
                  <a:srgbClr val="1C2D49"/>
                </a:solidFill>
                <a:latin typeface="Calibri"/>
                <a:ea typeface="Calibri"/>
                <a:cs typeface="Calibri"/>
              </a:defRPr>
            </a:lvl2pPr>
            <a:lvl3pPr algn="l">
              <a:defRPr sz="1575" b="1">
                <a:solidFill>
                  <a:srgbClr val="1C2D49"/>
                </a:solidFill>
                <a:latin typeface="Calibri"/>
                <a:ea typeface="Calibri"/>
                <a:cs typeface="Calibri"/>
              </a:defRPr>
            </a:lvl3pPr>
            <a:lvl4pPr algn="l">
              <a:defRPr sz="1575" b="1">
                <a:solidFill>
                  <a:srgbClr val="1C2D49"/>
                </a:solidFill>
                <a:latin typeface="Calibri"/>
                <a:ea typeface="Calibri"/>
                <a:cs typeface="Calibri"/>
              </a:defRPr>
            </a:lvl4pPr>
            <a:lvl5pPr algn="l">
              <a:defRPr sz="1575" b="1">
                <a:solidFill>
                  <a:srgbClr val="1C2D49"/>
                </a:solidFill>
                <a:latin typeface="Calibri"/>
                <a:ea typeface="Calibri"/>
                <a:cs typeface="Calibri"/>
              </a:defRPr>
            </a:lvl5pPr>
            <a:lvl6pPr algn="l">
              <a:defRPr sz="1575" b="1">
                <a:solidFill>
                  <a:srgbClr val="1C2D49"/>
                </a:solidFill>
                <a:latin typeface="Calibri"/>
                <a:ea typeface="Calibri"/>
                <a:cs typeface="Calibri"/>
              </a:defRPr>
            </a:lvl6pPr>
            <a:lvl7pPr algn="l">
              <a:defRPr sz="1575" b="1">
                <a:solidFill>
                  <a:srgbClr val="1C2D49"/>
                </a:solidFill>
                <a:latin typeface="Calibri"/>
                <a:ea typeface="Calibri"/>
                <a:cs typeface="Calibri"/>
              </a:defRPr>
            </a:lvl7pPr>
            <a:lvl8pPr algn="l">
              <a:defRPr sz="1575" b="1">
                <a:solidFill>
                  <a:srgbClr val="1C2D49"/>
                </a:solidFill>
                <a:latin typeface="Calibri"/>
                <a:ea typeface="Calibri"/>
                <a:cs typeface="Calibri"/>
              </a:defRPr>
            </a:lvl8pPr>
            <a:lvl9pPr algn="l">
              <a:defRPr sz="1575" b="1">
                <a:solidFill>
                  <a:srgbClr val="1C2D49"/>
                </a:solidFill>
                <a:latin typeface="Calibri"/>
                <a:ea typeface="Calibri"/>
                <a:cs typeface="Calibri"/>
              </a:defRPr>
            </a:lvl9pPr>
          </a:lstStyle>
          <a:p>
            <a:pPr algn="l">
              <a:buNone/>
              <a:defRPr sz="1575" b="1">
                <a:solidFill>
                  <a:srgbClr val="1C2D49"/>
                </a:solidFill>
                <a:latin typeface="Calibri"/>
                <a:ea typeface="Calibri"/>
                <a:cs typeface="Calibri"/>
              </a:defRPr>
            </a:pPr>
            <a:r>
              <a:rPr sz="1575" b="1">
                <a:solidFill>
                  <a:srgbClr val="1C2D49"/>
                </a:solidFill>
                <a:latin typeface="Calibri"/>
                <a:ea typeface="Calibri"/>
                <a:cs typeface="Calibri"/>
              </a:rPr>
              <a:t>validation utterances</a:t>
            </a:r>
          </a:p>
        </p:txBody>
      </p:sp>
      <p:sp>
        <p:nvSpPr>
          <p:cNvPr id="13" name="Rectangle 12">
            <a:extLst>
              <a:ext uri="{FF2B5EF4-FFF2-40B4-BE49-F238E27FC236}">
                <a16:creationId xmlns:a16="http://schemas.microsoft.com/office/drawing/2014/main" id="{9AC5DBCE-FB2C-4608-B853-122AB2E67862}"/>
              </a:ext>
            </a:extLst>
          </p:cNvPr>
          <p:cNvSpPr>
            <a:spLocks noGrp="1"/>
          </p:cNvSpPr>
          <p:nvPr/>
        </p:nvSpPr>
        <p:spPr>
          <a:xfrm>
            <a:off x="3571875" y="3057525"/>
            <a:ext cx="2000250" cy="29527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checkpoint selection</a:t>
            </a:r>
          </a:p>
        </p:txBody>
      </p:sp>
      <p:sp>
        <p:nvSpPr>
          <p:cNvPr id="14" name="Rectangle 13">
            <a:extLst>
              <a:ext uri="{FF2B5EF4-FFF2-40B4-BE49-F238E27FC236}">
                <a16:creationId xmlns:a16="http://schemas.microsoft.com/office/drawing/2014/main" id="{66087671-F6F1-4B1A-A8C8-26FFAB209368}"/>
              </a:ext>
            </a:extLst>
          </p:cNvPr>
          <p:cNvSpPr>
            <a:spLocks noGrp="1"/>
          </p:cNvSpPr>
          <p:nvPr/>
        </p:nvSpPr>
        <p:spPr>
          <a:xfrm>
            <a:off x="6134100" y="1752600"/>
            <a:ext cx="2381250" cy="1695450"/>
          </a:xfrm>
          <a:prstGeom prst="rect">
            <a:avLst/>
          </a:prstGeom>
          <a:solidFill>
            <a:srgbClr val="ECF2F4"/>
          </a:solidFill>
          <a:ln w="0">
            <a:noFill/>
            <a:prstDash val="solid"/>
          </a:ln>
        </p:spPr>
      </p:sp>
      <p:sp>
        <p:nvSpPr>
          <p:cNvPr id="15" name="Rectangle 14">
            <a:extLst>
              <a:ext uri="{FF2B5EF4-FFF2-40B4-BE49-F238E27FC236}">
                <a16:creationId xmlns:a16="http://schemas.microsoft.com/office/drawing/2014/main" id="{B0657C17-9ABE-4022-A7E7-6E678FF10D97}"/>
              </a:ext>
            </a:extLst>
          </p:cNvPr>
          <p:cNvSpPr>
            <a:spLocks noGrp="1"/>
          </p:cNvSpPr>
          <p:nvPr/>
        </p:nvSpPr>
        <p:spPr>
          <a:xfrm>
            <a:off x="6324600" y="1876425"/>
            <a:ext cx="2000250" cy="781050"/>
          </a:xfrm>
          <a:prstGeom prst="rect">
            <a:avLst/>
          </a:prstGeom>
          <a:noFill/>
          <a:ln w="0">
            <a:noFill/>
            <a:prstDash val="solid"/>
          </a:ln>
        </p:spPr>
        <p:txBody>
          <a:bodyPr wrap="square" lIns="0" tIns="0" rIns="0" bIns="0" anchor="ctr">
            <a:normAutofit/>
          </a:bodyPr>
          <a:lstStyle>
            <a:defPPr algn="l">
              <a:defRPr sz="4275" b="1">
                <a:solidFill>
                  <a:srgbClr val="174E6E"/>
                </a:solidFill>
                <a:latin typeface="Cambria"/>
                <a:ea typeface="Cambria"/>
                <a:cs typeface="Cambria"/>
              </a:defRPr>
            </a:defPPr>
            <a:lvl1pPr algn="l">
              <a:defRPr sz="4275" b="1">
                <a:solidFill>
                  <a:srgbClr val="174E6E"/>
                </a:solidFill>
                <a:latin typeface="Cambria"/>
                <a:ea typeface="Cambria"/>
                <a:cs typeface="Cambria"/>
              </a:defRPr>
            </a:lvl1pPr>
            <a:lvl2pPr algn="l">
              <a:defRPr sz="4275" b="1">
                <a:solidFill>
                  <a:srgbClr val="174E6E"/>
                </a:solidFill>
                <a:latin typeface="Cambria"/>
                <a:ea typeface="Cambria"/>
                <a:cs typeface="Cambria"/>
              </a:defRPr>
            </a:lvl2pPr>
            <a:lvl3pPr algn="l">
              <a:defRPr sz="4275" b="1">
                <a:solidFill>
                  <a:srgbClr val="174E6E"/>
                </a:solidFill>
                <a:latin typeface="Cambria"/>
                <a:ea typeface="Cambria"/>
                <a:cs typeface="Cambria"/>
              </a:defRPr>
            </a:lvl3pPr>
            <a:lvl4pPr algn="l">
              <a:defRPr sz="4275" b="1">
                <a:solidFill>
                  <a:srgbClr val="174E6E"/>
                </a:solidFill>
                <a:latin typeface="Cambria"/>
                <a:ea typeface="Cambria"/>
                <a:cs typeface="Cambria"/>
              </a:defRPr>
            </a:lvl4pPr>
            <a:lvl5pPr algn="l">
              <a:defRPr sz="4275" b="1">
                <a:solidFill>
                  <a:srgbClr val="174E6E"/>
                </a:solidFill>
                <a:latin typeface="Cambria"/>
                <a:ea typeface="Cambria"/>
                <a:cs typeface="Cambria"/>
              </a:defRPr>
            </a:lvl5pPr>
            <a:lvl6pPr algn="l">
              <a:defRPr sz="4275" b="1">
                <a:solidFill>
                  <a:srgbClr val="174E6E"/>
                </a:solidFill>
                <a:latin typeface="Cambria"/>
                <a:ea typeface="Cambria"/>
                <a:cs typeface="Cambria"/>
              </a:defRPr>
            </a:lvl6pPr>
            <a:lvl7pPr algn="l">
              <a:defRPr sz="4275" b="1">
                <a:solidFill>
                  <a:srgbClr val="174E6E"/>
                </a:solidFill>
                <a:latin typeface="Cambria"/>
                <a:ea typeface="Cambria"/>
                <a:cs typeface="Cambria"/>
              </a:defRPr>
            </a:lvl7pPr>
            <a:lvl8pPr algn="l">
              <a:defRPr sz="4275" b="1">
                <a:solidFill>
                  <a:srgbClr val="174E6E"/>
                </a:solidFill>
                <a:latin typeface="Cambria"/>
                <a:ea typeface="Cambria"/>
                <a:cs typeface="Cambria"/>
              </a:defRPr>
            </a:lvl8pPr>
            <a:lvl9pPr algn="l">
              <a:defRPr sz="4275" b="1">
                <a:solidFill>
                  <a:srgbClr val="174E6E"/>
                </a:solidFill>
                <a:latin typeface="Cambria"/>
                <a:ea typeface="Cambria"/>
                <a:cs typeface="Cambria"/>
              </a:defRPr>
            </a:lvl9pPr>
          </a:lstStyle>
          <a:p>
            <a:pPr algn="l">
              <a:buNone/>
              <a:defRPr sz="4275" b="1">
                <a:solidFill>
                  <a:srgbClr val="174E6E"/>
                </a:solidFill>
                <a:latin typeface="Cambria"/>
                <a:ea typeface="Cambria"/>
                <a:cs typeface="Cambria"/>
              </a:defRPr>
            </a:pPr>
            <a:r>
              <a:rPr sz="4275" b="1">
                <a:solidFill>
                  <a:srgbClr val="174E6E"/>
                </a:solidFill>
                <a:latin typeface="Cambria"/>
                <a:ea typeface="Cambria"/>
                <a:cs typeface="Cambria"/>
              </a:rPr>
              <a:t>114</a:t>
            </a:r>
          </a:p>
        </p:txBody>
      </p:sp>
      <p:sp>
        <p:nvSpPr>
          <p:cNvPr id="16" name="Rectangle 15">
            <a:extLst>
              <a:ext uri="{FF2B5EF4-FFF2-40B4-BE49-F238E27FC236}">
                <a16:creationId xmlns:a16="http://schemas.microsoft.com/office/drawing/2014/main" id="{2303C2DB-29D5-4C3A-9388-13EC01E76A9B}"/>
              </a:ext>
            </a:extLst>
          </p:cNvPr>
          <p:cNvSpPr>
            <a:spLocks noGrp="1"/>
          </p:cNvSpPr>
          <p:nvPr/>
        </p:nvSpPr>
        <p:spPr>
          <a:xfrm>
            <a:off x="6324600" y="2705100"/>
            <a:ext cx="2000250" cy="323850"/>
          </a:xfrm>
          <a:prstGeom prst="rect">
            <a:avLst/>
          </a:prstGeom>
          <a:noFill/>
          <a:ln w="0">
            <a:noFill/>
            <a:prstDash val="solid"/>
          </a:ln>
        </p:spPr>
        <p:txBody>
          <a:bodyPr wrap="square" lIns="0" tIns="0" rIns="0" bIns="0" anchor="ctr">
            <a:normAutofit/>
          </a:bodyPr>
          <a:lstStyle>
            <a:defPPr algn="l">
              <a:defRPr sz="1575" b="1">
                <a:solidFill>
                  <a:srgbClr val="1C2D49"/>
                </a:solidFill>
                <a:latin typeface="Calibri"/>
                <a:ea typeface="Calibri"/>
                <a:cs typeface="Calibri"/>
              </a:defRPr>
            </a:defPPr>
            <a:lvl1pPr algn="l">
              <a:defRPr sz="1575" b="1">
                <a:solidFill>
                  <a:srgbClr val="1C2D49"/>
                </a:solidFill>
                <a:latin typeface="Calibri"/>
                <a:ea typeface="Calibri"/>
                <a:cs typeface="Calibri"/>
              </a:defRPr>
            </a:lvl1pPr>
            <a:lvl2pPr algn="l">
              <a:defRPr sz="1575" b="1">
                <a:solidFill>
                  <a:srgbClr val="1C2D49"/>
                </a:solidFill>
                <a:latin typeface="Calibri"/>
                <a:ea typeface="Calibri"/>
                <a:cs typeface="Calibri"/>
              </a:defRPr>
            </a:lvl2pPr>
            <a:lvl3pPr algn="l">
              <a:defRPr sz="1575" b="1">
                <a:solidFill>
                  <a:srgbClr val="1C2D49"/>
                </a:solidFill>
                <a:latin typeface="Calibri"/>
                <a:ea typeface="Calibri"/>
                <a:cs typeface="Calibri"/>
              </a:defRPr>
            </a:lvl3pPr>
            <a:lvl4pPr algn="l">
              <a:defRPr sz="1575" b="1">
                <a:solidFill>
                  <a:srgbClr val="1C2D49"/>
                </a:solidFill>
                <a:latin typeface="Calibri"/>
                <a:ea typeface="Calibri"/>
                <a:cs typeface="Calibri"/>
              </a:defRPr>
            </a:lvl4pPr>
            <a:lvl5pPr algn="l">
              <a:defRPr sz="1575" b="1">
                <a:solidFill>
                  <a:srgbClr val="1C2D49"/>
                </a:solidFill>
                <a:latin typeface="Calibri"/>
                <a:ea typeface="Calibri"/>
                <a:cs typeface="Calibri"/>
              </a:defRPr>
            </a:lvl5pPr>
            <a:lvl6pPr algn="l">
              <a:defRPr sz="1575" b="1">
                <a:solidFill>
                  <a:srgbClr val="1C2D49"/>
                </a:solidFill>
                <a:latin typeface="Calibri"/>
                <a:ea typeface="Calibri"/>
                <a:cs typeface="Calibri"/>
              </a:defRPr>
            </a:lvl6pPr>
            <a:lvl7pPr algn="l">
              <a:defRPr sz="1575" b="1">
                <a:solidFill>
                  <a:srgbClr val="1C2D49"/>
                </a:solidFill>
                <a:latin typeface="Calibri"/>
                <a:ea typeface="Calibri"/>
                <a:cs typeface="Calibri"/>
              </a:defRPr>
            </a:lvl7pPr>
            <a:lvl8pPr algn="l">
              <a:defRPr sz="1575" b="1">
                <a:solidFill>
                  <a:srgbClr val="1C2D49"/>
                </a:solidFill>
                <a:latin typeface="Calibri"/>
                <a:ea typeface="Calibri"/>
                <a:cs typeface="Calibri"/>
              </a:defRPr>
            </a:lvl8pPr>
            <a:lvl9pPr algn="l">
              <a:defRPr sz="1575" b="1">
                <a:solidFill>
                  <a:srgbClr val="1C2D49"/>
                </a:solidFill>
                <a:latin typeface="Calibri"/>
                <a:ea typeface="Calibri"/>
                <a:cs typeface="Calibri"/>
              </a:defRPr>
            </a:lvl9pPr>
          </a:lstStyle>
          <a:p>
            <a:pPr algn="l">
              <a:buNone/>
              <a:defRPr sz="1575" b="1">
                <a:solidFill>
                  <a:srgbClr val="1C2D49"/>
                </a:solidFill>
                <a:latin typeface="Calibri"/>
                <a:ea typeface="Calibri"/>
                <a:cs typeface="Calibri"/>
              </a:defRPr>
            </a:pPr>
            <a:r>
              <a:rPr sz="1575" b="1">
                <a:solidFill>
                  <a:srgbClr val="1C2D49"/>
                </a:solidFill>
                <a:latin typeface="Calibri"/>
                <a:ea typeface="Calibri"/>
                <a:cs typeface="Calibri"/>
              </a:rPr>
              <a:t>held-out test utterances</a:t>
            </a:r>
          </a:p>
        </p:txBody>
      </p:sp>
      <p:sp>
        <p:nvSpPr>
          <p:cNvPr id="17" name="Rectangle 16">
            <a:extLst>
              <a:ext uri="{FF2B5EF4-FFF2-40B4-BE49-F238E27FC236}">
                <a16:creationId xmlns:a16="http://schemas.microsoft.com/office/drawing/2014/main" id="{FFD070EA-22A5-4EE9-BCC9-A5009868BD0A}"/>
              </a:ext>
            </a:extLst>
          </p:cNvPr>
          <p:cNvSpPr>
            <a:spLocks noGrp="1"/>
          </p:cNvSpPr>
          <p:nvPr/>
        </p:nvSpPr>
        <p:spPr>
          <a:xfrm>
            <a:off x="6324600" y="3057525"/>
            <a:ext cx="2000250" cy="29527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all three models</a:t>
            </a:r>
          </a:p>
        </p:txBody>
      </p:sp>
      <p:sp>
        <p:nvSpPr>
          <p:cNvPr id="18" name="Rectangle 17">
            <a:extLst>
              <a:ext uri="{FF2B5EF4-FFF2-40B4-BE49-F238E27FC236}">
                <a16:creationId xmlns:a16="http://schemas.microsoft.com/office/drawing/2014/main" id="{84C29C8A-2C47-4E74-96FA-9D178CFF9A54}"/>
              </a:ext>
            </a:extLst>
          </p:cNvPr>
          <p:cNvSpPr>
            <a:spLocks noGrp="1"/>
          </p:cNvSpPr>
          <p:nvPr/>
        </p:nvSpPr>
        <p:spPr>
          <a:xfrm>
            <a:off x="628650" y="3705225"/>
            <a:ext cx="7886700" cy="847725"/>
          </a:xfrm>
          <a:prstGeom prst="rect">
            <a:avLst/>
          </a:prstGeom>
          <a:solidFill>
            <a:srgbClr val="2A9D92"/>
          </a:solidFill>
          <a:ln w="0">
            <a:noFill/>
            <a:prstDash val="solid"/>
          </a:ln>
        </p:spPr>
      </p:sp>
      <p:sp>
        <p:nvSpPr>
          <p:cNvPr id="19" name="Rectangle 18">
            <a:extLst>
              <a:ext uri="{FF2B5EF4-FFF2-40B4-BE49-F238E27FC236}">
                <a16:creationId xmlns:a16="http://schemas.microsoft.com/office/drawing/2014/main" id="{500DDFEC-6428-4A75-8172-7D644E45D076}"/>
              </a:ext>
            </a:extLst>
          </p:cNvPr>
          <p:cNvSpPr>
            <a:spLocks noGrp="1"/>
          </p:cNvSpPr>
          <p:nvPr/>
        </p:nvSpPr>
        <p:spPr>
          <a:xfrm>
            <a:off x="819150" y="3810000"/>
            <a:ext cx="7515225" cy="590550"/>
          </a:xfrm>
          <a:prstGeom prst="rect">
            <a:avLst/>
          </a:prstGeom>
          <a:noFill/>
          <a:ln w="0">
            <a:noFill/>
            <a:prstDash val="solid"/>
          </a:ln>
        </p:spPr>
        <p:txBody>
          <a:bodyPr wrap="square" lIns="0" tIns="0" rIns="0" bIns="0" anchor="ctr">
            <a:normAutofit/>
          </a:bodyPr>
          <a:lstStyle>
            <a:defPPr algn="l">
              <a:defRPr sz="1500" b="1">
                <a:solidFill>
                  <a:srgbClr val="FFFFFF"/>
                </a:solidFill>
                <a:latin typeface="Calibri"/>
                <a:ea typeface="Calibri"/>
                <a:cs typeface="Calibri"/>
              </a:defRPr>
            </a:defPPr>
            <a:lvl1pPr algn="l">
              <a:defRPr sz="1500" b="1">
                <a:solidFill>
                  <a:srgbClr val="FFFFFF"/>
                </a:solidFill>
                <a:latin typeface="Calibri"/>
                <a:ea typeface="Calibri"/>
                <a:cs typeface="Calibri"/>
              </a:defRPr>
            </a:lvl1pPr>
            <a:lvl2pPr algn="l">
              <a:defRPr sz="1500" b="1">
                <a:solidFill>
                  <a:srgbClr val="FFFFFF"/>
                </a:solidFill>
                <a:latin typeface="Calibri"/>
                <a:ea typeface="Calibri"/>
                <a:cs typeface="Calibri"/>
              </a:defRPr>
            </a:lvl2pPr>
            <a:lvl3pPr algn="l">
              <a:defRPr sz="1500" b="1">
                <a:solidFill>
                  <a:srgbClr val="FFFFFF"/>
                </a:solidFill>
                <a:latin typeface="Calibri"/>
                <a:ea typeface="Calibri"/>
                <a:cs typeface="Calibri"/>
              </a:defRPr>
            </a:lvl3pPr>
            <a:lvl4pPr algn="l">
              <a:defRPr sz="1500" b="1">
                <a:solidFill>
                  <a:srgbClr val="FFFFFF"/>
                </a:solidFill>
                <a:latin typeface="Calibri"/>
                <a:ea typeface="Calibri"/>
                <a:cs typeface="Calibri"/>
              </a:defRPr>
            </a:lvl4pPr>
            <a:lvl5pPr algn="l">
              <a:defRPr sz="1500" b="1">
                <a:solidFill>
                  <a:srgbClr val="FFFFFF"/>
                </a:solidFill>
                <a:latin typeface="Calibri"/>
                <a:ea typeface="Calibri"/>
                <a:cs typeface="Calibri"/>
              </a:defRPr>
            </a:lvl5pPr>
            <a:lvl6pPr algn="l">
              <a:defRPr sz="1500" b="1">
                <a:solidFill>
                  <a:srgbClr val="FFFFFF"/>
                </a:solidFill>
                <a:latin typeface="Calibri"/>
                <a:ea typeface="Calibri"/>
                <a:cs typeface="Calibri"/>
              </a:defRPr>
            </a:lvl6pPr>
            <a:lvl7pPr algn="l">
              <a:defRPr sz="1500" b="1">
                <a:solidFill>
                  <a:srgbClr val="FFFFFF"/>
                </a:solidFill>
                <a:latin typeface="Calibri"/>
                <a:ea typeface="Calibri"/>
                <a:cs typeface="Calibri"/>
              </a:defRPr>
            </a:lvl7pPr>
            <a:lvl8pPr algn="l">
              <a:defRPr sz="1500" b="1">
                <a:solidFill>
                  <a:srgbClr val="FFFFFF"/>
                </a:solidFill>
                <a:latin typeface="Calibri"/>
                <a:ea typeface="Calibri"/>
                <a:cs typeface="Calibri"/>
              </a:defRPr>
            </a:lvl8pPr>
            <a:lvl9pPr algn="l">
              <a:defRPr sz="1500" b="1">
                <a:solidFill>
                  <a:srgbClr val="FFFFFF"/>
                </a:solidFill>
                <a:latin typeface="Calibri"/>
                <a:ea typeface="Calibri"/>
                <a:cs typeface="Calibri"/>
              </a:defRPr>
            </a:lvl9pPr>
          </a:lstStyle>
          <a:p>
            <a:pPr algn="l">
              <a:buNone/>
              <a:defRPr sz="1500" b="1">
                <a:solidFill>
                  <a:srgbClr val="FFFFFF"/>
                </a:solidFill>
                <a:latin typeface="Calibri"/>
                <a:ea typeface="Calibri"/>
                <a:cs typeface="Calibri"/>
              </a:defRPr>
            </a:pPr>
            <a:r>
              <a:rPr sz="1500" b="1">
                <a:solidFill>
                  <a:srgbClr val="FFFFFF"/>
                </a:solidFill>
                <a:latin typeface="Calibri"/>
                <a:ea typeface="Calibri"/>
                <a:cs typeface="Calibri"/>
              </a:rPr>
              <a:t>Qwen training: 16,720 effective examples, including repeats and additional public speech.</a:t>
            </a:r>
          </a:p>
        </p:txBody>
      </p:sp>
      <p:pic>
        <p:nvPicPr>
          <p:cNvPr id="22" name="Picture 21">
            <a:extLst>
              <a:ext uri="{FF2B5EF4-FFF2-40B4-BE49-F238E27FC236}">
                <a16:creationId xmlns:a16="http://schemas.microsoft.com/office/drawing/2014/main" id="{FC1C2955-AB3C-40C6-BA4D-35D194BFD733}"/>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2000548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3153AD2A-0FD8-49B2-9519-846F0B039E71}"/>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Evaluation: CER and Khmer WER</a:t>
            </a:r>
          </a:p>
        </p:txBody>
      </p:sp>
      <p:sp>
        <p:nvSpPr>
          <p:cNvPr id="2" name="Rectangle 1">
            <a:extLst>
              <a:ext uri="{FF2B5EF4-FFF2-40B4-BE49-F238E27FC236}">
                <a16:creationId xmlns:a16="http://schemas.microsoft.com/office/drawing/2014/main" id="{7A7F40DB-DDB6-4855-8C1D-16FC3532696A}"/>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605ADE30-83F1-4A2A-A1BC-9F36E1F36E07}"/>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AC82E380-8A44-4FC2-B99B-8CC091C92DE0}"/>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4</a:t>
            </a:r>
          </a:p>
        </p:txBody>
      </p:sp>
      <p:sp>
        <p:nvSpPr>
          <p:cNvPr id="5" name="Rectangle 4">
            <a:extLst>
              <a:ext uri="{FF2B5EF4-FFF2-40B4-BE49-F238E27FC236}">
                <a16:creationId xmlns:a16="http://schemas.microsoft.com/office/drawing/2014/main" id="{40A13516-209F-4E85-A314-6ECF3FAEDCCA}"/>
              </a:ext>
            </a:extLst>
          </p:cNvPr>
          <p:cNvSpPr>
            <a:spLocks noGrp="1"/>
          </p:cNvSpPr>
          <p:nvPr/>
        </p:nvSpPr>
        <p:spPr>
          <a:xfrm>
            <a:off x="457200" y="1247775"/>
            <a:ext cx="3990975" cy="2190750"/>
          </a:xfrm>
          <a:prstGeom prst="rect">
            <a:avLst/>
          </a:prstGeom>
          <a:solidFill>
            <a:srgbClr val="ECF2F4"/>
          </a:solidFill>
          <a:ln w="0">
            <a:noFill/>
            <a:prstDash val="solid"/>
          </a:ln>
        </p:spPr>
      </p:sp>
      <p:sp>
        <p:nvSpPr>
          <p:cNvPr id="6" name="Rectangle 5">
            <a:extLst>
              <a:ext uri="{FF2B5EF4-FFF2-40B4-BE49-F238E27FC236}">
                <a16:creationId xmlns:a16="http://schemas.microsoft.com/office/drawing/2014/main" id="{47C32527-9420-472E-8A34-58BE35F01952}"/>
              </a:ext>
            </a:extLst>
          </p:cNvPr>
          <p:cNvSpPr>
            <a:spLocks noGrp="1"/>
          </p:cNvSpPr>
          <p:nvPr/>
        </p:nvSpPr>
        <p:spPr>
          <a:xfrm>
            <a:off x="4695825" y="1247775"/>
            <a:ext cx="3990975" cy="2190750"/>
          </a:xfrm>
          <a:prstGeom prst="rect">
            <a:avLst/>
          </a:prstGeom>
          <a:solidFill>
            <a:srgbClr val="ECF2F4"/>
          </a:solidFill>
          <a:ln w="0">
            <a:noFill/>
            <a:prstDash val="solid"/>
          </a:ln>
        </p:spPr>
      </p:sp>
      <p:sp>
        <p:nvSpPr>
          <p:cNvPr id="7" name="Rectangle 6">
            <a:extLst>
              <a:ext uri="{FF2B5EF4-FFF2-40B4-BE49-F238E27FC236}">
                <a16:creationId xmlns:a16="http://schemas.microsoft.com/office/drawing/2014/main" id="{D21C8674-5996-42A1-A251-076ED153F86A}"/>
              </a:ext>
            </a:extLst>
          </p:cNvPr>
          <p:cNvSpPr>
            <a:spLocks noGrp="1"/>
          </p:cNvSpPr>
          <p:nvPr/>
        </p:nvSpPr>
        <p:spPr>
          <a:xfrm>
            <a:off x="638175" y="1447800"/>
            <a:ext cx="3590925" cy="323850"/>
          </a:xfrm>
          <a:prstGeom prst="rect">
            <a:avLst/>
          </a:prstGeom>
          <a:noFill/>
          <a:ln w="0">
            <a:noFill/>
            <a:prstDash val="solid"/>
          </a:ln>
        </p:spPr>
        <p:txBody>
          <a:bodyPr wrap="square" lIns="0" tIns="0" rIns="0" bIns="0" anchor="ctr">
            <a:normAutofit/>
          </a:bodyPr>
          <a:lstStyle>
            <a:defPPr algn="l">
              <a:defRPr sz="1725" b="1">
                <a:solidFill>
                  <a:srgbClr val="174E6E"/>
                </a:solidFill>
                <a:latin typeface="Calibri"/>
                <a:ea typeface="Calibri"/>
                <a:cs typeface="Calibri"/>
              </a:defRPr>
            </a:defPPr>
            <a:lvl1pPr algn="l">
              <a:defRPr sz="1725" b="1">
                <a:solidFill>
                  <a:srgbClr val="174E6E"/>
                </a:solidFill>
                <a:latin typeface="Calibri"/>
                <a:ea typeface="Calibri"/>
                <a:cs typeface="Calibri"/>
              </a:defRPr>
            </a:lvl1pPr>
            <a:lvl2pPr algn="l">
              <a:defRPr sz="1725" b="1">
                <a:solidFill>
                  <a:srgbClr val="174E6E"/>
                </a:solidFill>
                <a:latin typeface="Calibri"/>
                <a:ea typeface="Calibri"/>
                <a:cs typeface="Calibri"/>
              </a:defRPr>
            </a:lvl2pPr>
            <a:lvl3pPr algn="l">
              <a:defRPr sz="1725" b="1">
                <a:solidFill>
                  <a:srgbClr val="174E6E"/>
                </a:solidFill>
                <a:latin typeface="Calibri"/>
                <a:ea typeface="Calibri"/>
                <a:cs typeface="Calibri"/>
              </a:defRPr>
            </a:lvl3pPr>
            <a:lvl4pPr algn="l">
              <a:defRPr sz="1725" b="1">
                <a:solidFill>
                  <a:srgbClr val="174E6E"/>
                </a:solidFill>
                <a:latin typeface="Calibri"/>
                <a:ea typeface="Calibri"/>
                <a:cs typeface="Calibri"/>
              </a:defRPr>
            </a:lvl4pPr>
            <a:lvl5pPr algn="l">
              <a:defRPr sz="1725" b="1">
                <a:solidFill>
                  <a:srgbClr val="174E6E"/>
                </a:solidFill>
                <a:latin typeface="Calibri"/>
                <a:ea typeface="Calibri"/>
                <a:cs typeface="Calibri"/>
              </a:defRPr>
            </a:lvl5pPr>
            <a:lvl6pPr algn="l">
              <a:defRPr sz="1725" b="1">
                <a:solidFill>
                  <a:srgbClr val="174E6E"/>
                </a:solidFill>
                <a:latin typeface="Calibri"/>
                <a:ea typeface="Calibri"/>
                <a:cs typeface="Calibri"/>
              </a:defRPr>
            </a:lvl6pPr>
            <a:lvl7pPr algn="l">
              <a:defRPr sz="1725" b="1">
                <a:solidFill>
                  <a:srgbClr val="174E6E"/>
                </a:solidFill>
                <a:latin typeface="Calibri"/>
                <a:ea typeface="Calibri"/>
                <a:cs typeface="Calibri"/>
              </a:defRPr>
            </a:lvl7pPr>
            <a:lvl8pPr algn="l">
              <a:defRPr sz="1725" b="1">
                <a:solidFill>
                  <a:srgbClr val="174E6E"/>
                </a:solidFill>
                <a:latin typeface="Calibri"/>
                <a:ea typeface="Calibri"/>
                <a:cs typeface="Calibri"/>
              </a:defRPr>
            </a:lvl8pPr>
            <a:lvl9pPr algn="l">
              <a:defRPr sz="1725" b="1">
                <a:solidFill>
                  <a:srgbClr val="174E6E"/>
                </a:solidFill>
                <a:latin typeface="Calibri"/>
                <a:ea typeface="Calibri"/>
                <a:cs typeface="Calibri"/>
              </a:defRPr>
            </a:lvl9pPr>
          </a:lstStyle>
          <a:p>
            <a:pPr algn="l">
              <a:buNone/>
              <a:defRPr sz="1725" b="1">
                <a:solidFill>
                  <a:srgbClr val="174E6E"/>
                </a:solidFill>
                <a:latin typeface="Calibri"/>
                <a:ea typeface="Calibri"/>
                <a:cs typeface="Calibri"/>
              </a:defRPr>
            </a:pPr>
            <a:r>
              <a:rPr sz="1725" b="1">
                <a:solidFill>
                  <a:srgbClr val="174E6E"/>
                </a:solidFill>
                <a:latin typeface="Calibri"/>
                <a:ea typeface="Calibri"/>
                <a:cs typeface="Calibri"/>
              </a:rPr>
              <a:t>Character error rate (CER)</a:t>
            </a:r>
          </a:p>
        </p:txBody>
      </p:sp>
      <p:sp>
        <p:nvSpPr>
          <p:cNvPr id="8" name="Rectangle 7">
            <a:extLst>
              <a:ext uri="{FF2B5EF4-FFF2-40B4-BE49-F238E27FC236}">
                <a16:creationId xmlns:a16="http://schemas.microsoft.com/office/drawing/2014/main" id="{6BD917BC-F99D-45AD-AA58-B80A0DFB0D62}"/>
              </a:ext>
            </a:extLst>
          </p:cNvPr>
          <p:cNvSpPr>
            <a:spLocks noGrp="1"/>
          </p:cNvSpPr>
          <p:nvPr/>
        </p:nvSpPr>
        <p:spPr>
          <a:xfrm>
            <a:off x="638175" y="2000250"/>
            <a:ext cx="3571875" cy="542925"/>
          </a:xfrm>
          <a:prstGeom prst="rect">
            <a:avLst/>
          </a:prstGeom>
          <a:noFill/>
          <a:ln w="0">
            <a:noFill/>
            <a:prstDash val="solid"/>
          </a:ln>
        </p:spPr>
        <p:txBody>
          <a:bodyPr wrap="square" lIns="0" tIns="0" rIns="0" bIns="0" anchor="ctr">
            <a:normAutofit/>
          </a:bodyPr>
          <a:lstStyle>
            <a:defPPr algn="l">
              <a:defRPr sz="1650" b="1">
                <a:solidFill>
                  <a:srgbClr val="1C2D49"/>
                </a:solidFill>
                <a:latin typeface="Calibri"/>
                <a:ea typeface="Calibri"/>
                <a:cs typeface="Calibri"/>
              </a:defRPr>
            </a:defPPr>
            <a:lvl1pPr algn="l">
              <a:defRPr sz="1650" b="1">
                <a:solidFill>
                  <a:srgbClr val="1C2D49"/>
                </a:solidFill>
                <a:latin typeface="Calibri"/>
                <a:ea typeface="Calibri"/>
                <a:cs typeface="Calibri"/>
              </a:defRPr>
            </a:lvl1pPr>
            <a:lvl2pPr algn="l">
              <a:defRPr sz="1650" b="1">
                <a:solidFill>
                  <a:srgbClr val="1C2D49"/>
                </a:solidFill>
                <a:latin typeface="Calibri"/>
                <a:ea typeface="Calibri"/>
                <a:cs typeface="Calibri"/>
              </a:defRPr>
            </a:lvl2pPr>
            <a:lvl3pPr algn="l">
              <a:defRPr sz="1650" b="1">
                <a:solidFill>
                  <a:srgbClr val="1C2D49"/>
                </a:solidFill>
                <a:latin typeface="Calibri"/>
                <a:ea typeface="Calibri"/>
                <a:cs typeface="Calibri"/>
              </a:defRPr>
            </a:lvl3pPr>
            <a:lvl4pPr algn="l">
              <a:defRPr sz="1650" b="1">
                <a:solidFill>
                  <a:srgbClr val="1C2D49"/>
                </a:solidFill>
                <a:latin typeface="Calibri"/>
                <a:ea typeface="Calibri"/>
                <a:cs typeface="Calibri"/>
              </a:defRPr>
            </a:lvl4pPr>
            <a:lvl5pPr algn="l">
              <a:defRPr sz="1650" b="1">
                <a:solidFill>
                  <a:srgbClr val="1C2D49"/>
                </a:solidFill>
                <a:latin typeface="Calibri"/>
                <a:ea typeface="Calibri"/>
                <a:cs typeface="Calibri"/>
              </a:defRPr>
            </a:lvl5pPr>
            <a:lvl6pPr algn="l">
              <a:defRPr sz="1650" b="1">
                <a:solidFill>
                  <a:srgbClr val="1C2D49"/>
                </a:solidFill>
                <a:latin typeface="Calibri"/>
                <a:ea typeface="Calibri"/>
                <a:cs typeface="Calibri"/>
              </a:defRPr>
            </a:lvl6pPr>
            <a:lvl7pPr algn="l">
              <a:defRPr sz="1650" b="1">
                <a:solidFill>
                  <a:srgbClr val="1C2D49"/>
                </a:solidFill>
                <a:latin typeface="Calibri"/>
                <a:ea typeface="Calibri"/>
                <a:cs typeface="Calibri"/>
              </a:defRPr>
            </a:lvl7pPr>
            <a:lvl8pPr algn="l">
              <a:defRPr sz="1650" b="1">
                <a:solidFill>
                  <a:srgbClr val="1C2D49"/>
                </a:solidFill>
                <a:latin typeface="Calibri"/>
                <a:ea typeface="Calibri"/>
                <a:cs typeface="Calibri"/>
              </a:defRPr>
            </a:lvl8pPr>
            <a:lvl9pPr algn="l">
              <a:defRPr sz="1650" b="1">
                <a:solidFill>
                  <a:srgbClr val="1C2D49"/>
                </a:solidFill>
                <a:latin typeface="Calibri"/>
                <a:ea typeface="Calibri"/>
                <a:cs typeface="Calibri"/>
              </a:defRPr>
            </a:lvl9pPr>
          </a:lstStyle>
          <a:p>
            <a:pPr algn="l">
              <a:buNone/>
              <a:defRPr sz="1650" b="1">
                <a:solidFill>
                  <a:srgbClr val="1C2D49"/>
                </a:solidFill>
                <a:latin typeface="Calibri"/>
                <a:ea typeface="Calibri"/>
                <a:cs typeface="Calibri"/>
              </a:defRPr>
            </a:pPr>
            <a:r>
              <a:rPr sz="1650" b="1">
                <a:solidFill>
                  <a:srgbClr val="1C2D49"/>
                </a:solidFill>
                <a:latin typeface="Calibri"/>
                <a:ea typeface="Calibri"/>
                <a:cs typeface="Calibri"/>
              </a:rPr>
              <a:t>CER = (S + D + I) / N_chars × 100%</a:t>
            </a:r>
          </a:p>
        </p:txBody>
      </p:sp>
      <p:sp>
        <p:nvSpPr>
          <p:cNvPr id="9" name="Rectangle 8">
            <a:extLst>
              <a:ext uri="{FF2B5EF4-FFF2-40B4-BE49-F238E27FC236}">
                <a16:creationId xmlns:a16="http://schemas.microsoft.com/office/drawing/2014/main" id="{8A60762C-EB15-4415-B23B-2C09BB1093D2}"/>
              </a:ext>
            </a:extLst>
          </p:cNvPr>
          <p:cNvSpPr>
            <a:spLocks noGrp="1"/>
          </p:cNvSpPr>
          <p:nvPr/>
        </p:nvSpPr>
        <p:spPr>
          <a:xfrm>
            <a:off x="638175" y="2647950"/>
            <a:ext cx="3552825" cy="628650"/>
          </a:xfrm>
          <a:prstGeom prst="rect">
            <a:avLst/>
          </a:prstGeom>
          <a:noFill/>
          <a:ln w="0">
            <a:noFill/>
            <a:prstDash val="solid"/>
          </a:ln>
        </p:spPr>
        <p:txBody>
          <a:bodyPr wrap="square" lIns="0" tIns="0" rIns="0" bIns="0" anchor="ctr">
            <a:normAutofit/>
          </a:bodyPr>
          <a:lstStyle>
            <a:defPPr algn="l">
              <a:defRPr sz="1350" b="0">
                <a:solidFill>
                  <a:srgbClr val="5C6C7B"/>
                </a:solidFill>
                <a:latin typeface="Calibri"/>
                <a:ea typeface="Calibri"/>
                <a:cs typeface="Calibri"/>
              </a:defRPr>
            </a:defPPr>
            <a:lvl1pPr algn="l">
              <a:defRPr sz="1350" b="0">
                <a:solidFill>
                  <a:srgbClr val="5C6C7B"/>
                </a:solidFill>
                <a:latin typeface="Calibri"/>
                <a:ea typeface="Calibri"/>
                <a:cs typeface="Calibri"/>
              </a:defRPr>
            </a:lvl1pPr>
            <a:lvl2pPr algn="l">
              <a:defRPr sz="1350" b="0">
                <a:solidFill>
                  <a:srgbClr val="5C6C7B"/>
                </a:solidFill>
                <a:latin typeface="Calibri"/>
                <a:ea typeface="Calibri"/>
                <a:cs typeface="Calibri"/>
              </a:defRPr>
            </a:lvl2pPr>
            <a:lvl3pPr algn="l">
              <a:defRPr sz="1350" b="0">
                <a:solidFill>
                  <a:srgbClr val="5C6C7B"/>
                </a:solidFill>
                <a:latin typeface="Calibri"/>
                <a:ea typeface="Calibri"/>
                <a:cs typeface="Calibri"/>
              </a:defRPr>
            </a:lvl3pPr>
            <a:lvl4pPr algn="l">
              <a:defRPr sz="1350" b="0">
                <a:solidFill>
                  <a:srgbClr val="5C6C7B"/>
                </a:solidFill>
                <a:latin typeface="Calibri"/>
                <a:ea typeface="Calibri"/>
                <a:cs typeface="Calibri"/>
              </a:defRPr>
            </a:lvl4pPr>
            <a:lvl5pPr algn="l">
              <a:defRPr sz="1350" b="0">
                <a:solidFill>
                  <a:srgbClr val="5C6C7B"/>
                </a:solidFill>
                <a:latin typeface="Calibri"/>
                <a:ea typeface="Calibri"/>
                <a:cs typeface="Calibri"/>
              </a:defRPr>
            </a:lvl5pPr>
            <a:lvl6pPr algn="l">
              <a:defRPr sz="1350" b="0">
                <a:solidFill>
                  <a:srgbClr val="5C6C7B"/>
                </a:solidFill>
                <a:latin typeface="Calibri"/>
                <a:ea typeface="Calibri"/>
                <a:cs typeface="Calibri"/>
              </a:defRPr>
            </a:lvl6pPr>
            <a:lvl7pPr algn="l">
              <a:defRPr sz="1350" b="0">
                <a:solidFill>
                  <a:srgbClr val="5C6C7B"/>
                </a:solidFill>
                <a:latin typeface="Calibri"/>
                <a:ea typeface="Calibri"/>
                <a:cs typeface="Calibri"/>
              </a:defRPr>
            </a:lvl7pPr>
            <a:lvl8pPr algn="l">
              <a:defRPr sz="1350" b="0">
                <a:solidFill>
                  <a:srgbClr val="5C6C7B"/>
                </a:solidFill>
                <a:latin typeface="Calibri"/>
                <a:ea typeface="Calibri"/>
                <a:cs typeface="Calibri"/>
              </a:defRPr>
            </a:lvl8pPr>
            <a:lvl9pPr algn="l">
              <a:defRPr sz="1350" b="0">
                <a:solidFill>
                  <a:srgbClr val="5C6C7B"/>
                </a:solidFill>
                <a:latin typeface="Calibri"/>
                <a:ea typeface="Calibri"/>
                <a:cs typeface="Calibri"/>
              </a:defRPr>
            </a:lvl9pPr>
          </a:lstStyle>
          <a:p>
            <a:pPr algn="l">
              <a:buNone/>
              <a:defRPr sz="1350" b="0">
                <a:solidFill>
                  <a:srgbClr val="5C6C7B"/>
                </a:solidFill>
                <a:latin typeface="Calibri"/>
                <a:ea typeface="Calibri"/>
                <a:cs typeface="Calibri"/>
              </a:defRPr>
            </a:pPr>
            <a:r>
              <a:rPr sz="1350" b="0">
                <a:solidFill>
                  <a:srgbClr val="5C6C7B"/>
                </a:solidFill>
                <a:latin typeface="Calibri"/>
                <a:ea typeface="Calibri"/>
                <a:cs typeface="Calibri"/>
              </a:rPr>
              <a:t>N_chars = reference characters after Unicode normalization and space removal.</a:t>
            </a:r>
          </a:p>
        </p:txBody>
      </p:sp>
      <p:sp>
        <p:nvSpPr>
          <p:cNvPr id="10" name="Rectangle 9">
            <a:extLst>
              <a:ext uri="{FF2B5EF4-FFF2-40B4-BE49-F238E27FC236}">
                <a16:creationId xmlns:a16="http://schemas.microsoft.com/office/drawing/2014/main" id="{3C33FD9F-7012-4C55-905B-0DE6CBD3D678}"/>
              </a:ext>
            </a:extLst>
          </p:cNvPr>
          <p:cNvSpPr>
            <a:spLocks noGrp="1"/>
          </p:cNvSpPr>
          <p:nvPr/>
        </p:nvSpPr>
        <p:spPr>
          <a:xfrm>
            <a:off x="4876800" y="1447800"/>
            <a:ext cx="3552825" cy="323850"/>
          </a:xfrm>
          <a:prstGeom prst="rect">
            <a:avLst/>
          </a:prstGeom>
          <a:noFill/>
          <a:ln w="0">
            <a:noFill/>
            <a:prstDash val="solid"/>
          </a:ln>
        </p:spPr>
        <p:txBody>
          <a:bodyPr wrap="square" lIns="0" tIns="0" rIns="0" bIns="0" anchor="ctr">
            <a:normAutofit/>
          </a:bodyPr>
          <a:lstStyle>
            <a:defPPr algn="l">
              <a:defRPr sz="1725" b="1">
                <a:solidFill>
                  <a:srgbClr val="2A9D92"/>
                </a:solidFill>
                <a:latin typeface="Calibri"/>
                <a:ea typeface="Calibri"/>
                <a:cs typeface="Calibri"/>
              </a:defRPr>
            </a:defPPr>
            <a:lvl1pPr algn="l">
              <a:defRPr sz="1725" b="1">
                <a:solidFill>
                  <a:srgbClr val="2A9D92"/>
                </a:solidFill>
                <a:latin typeface="Calibri"/>
                <a:ea typeface="Calibri"/>
                <a:cs typeface="Calibri"/>
              </a:defRPr>
            </a:lvl1pPr>
            <a:lvl2pPr algn="l">
              <a:defRPr sz="1725" b="1">
                <a:solidFill>
                  <a:srgbClr val="2A9D92"/>
                </a:solidFill>
                <a:latin typeface="Calibri"/>
                <a:ea typeface="Calibri"/>
                <a:cs typeface="Calibri"/>
              </a:defRPr>
            </a:lvl2pPr>
            <a:lvl3pPr algn="l">
              <a:defRPr sz="1725" b="1">
                <a:solidFill>
                  <a:srgbClr val="2A9D92"/>
                </a:solidFill>
                <a:latin typeface="Calibri"/>
                <a:ea typeface="Calibri"/>
                <a:cs typeface="Calibri"/>
              </a:defRPr>
            </a:lvl3pPr>
            <a:lvl4pPr algn="l">
              <a:defRPr sz="1725" b="1">
                <a:solidFill>
                  <a:srgbClr val="2A9D92"/>
                </a:solidFill>
                <a:latin typeface="Calibri"/>
                <a:ea typeface="Calibri"/>
                <a:cs typeface="Calibri"/>
              </a:defRPr>
            </a:lvl4pPr>
            <a:lvl5pPr algn="l">
              <a:defRPr sz="1725" b="1">
                <a:solidFill>
                  <a:srgbClr val="2A9D92"/>
                </a:solidFill>
                <a:latin typeface="Calibri"/>
                <a:ea typeface="Calibri"/>
                <a:cs typeface="Calibri"/>
              </a:defRPr>
            </a:lvl5pPr>
            <a:lvl6pPr algn="l">
              <a:defRPr sz="1725" b="1">
                <a:solidFill>
                  <a:srgbClr val="2A9D92"/>
                </a:solidFill>
                <a:latin typeface="Calibri"/>
                <a:ea typeface="Calibri"/>
                <a:cs typeface="Calibri"/>
              </a:defRPr>
            </a:lvl6pPr>
            <a:lvl7pPr algn="l">
              <a:defRPr sz="1725" b="1">
                <a:solidFill>
                  <a:srgbClr val="2A9D92"/>
                </a:solidFill>
                <a:latin typeface="Calibri"/>
                <a:ea typeface="Calibri"/>
                <a:cs typeface="Calibri"/>
              </a:defRPr>
            </a:lvl7pPr>
            <a:lvl8pPr algn="l">
              <a:defRPr sz="1725" b="1">
                <a:solidFill>
                  <a:srgbClr val="2A9D92"/>
                </a:solidFill>
                <a:latin typeface="Calibri"/>
                <a:ea typeface="Calibri"/>
                <a:cs typeface="Calibri"/>
              </a:defRPr>
            </a:lvl8pPr>
            <a:lvl9pPr algn="l">
              <a:defRPr sz="1725" b="1">
                <a:solidFill>
                  <a:srgbClr val="2A9D92"/>
                </a:solidFill>
                <a:latin typeface="Calibri"/>
                <a:ea typeface="Calibri"/>
                <a:cs typeface="Calibri"/>
              </a:defRPr>
            </a:lvl9pPr>
          </a:lstStyle>
          <a:p>
            <a:pPr algn="l">
              <a:buNone/>
              <a:defRPr sz="1725" b="1">
                <a:solidFill>
                  <a:srgbClr val="2A9D92"/>
                </a:solidFill>
                <a:latin typeface="Calibri"/>
                <a:ea typeface="Calibri"/>
                <a:cs typeface="Calibri"/>
              </a:defRPr>
            </a:pPr>
            <a:r>
              <a:rPr sz="1725" b="1">
                <a:solidFill>
                  <a:srgbClr val="2A9D92"/>
                </a:solidFill>
                <a:latin typeface="Calibri"/>
                <a:ea typeface="Calibri"/>
                <a:cs typeface="Calibri"/>
              </a:rPr>
              <a:t>Word error rate (WER)</a:t>
            </a:r>
          </a:p>
        </p:txBody>
      </p:sp>
      <p:sp>
        <p:nvSpPr>
          <p:cNvPr id="11" name="Rectangle 10">
            <a:extLst>
              <a:ext uri="{FF2B5EF4-FFF2-40B4-BE49-F238E27FC236}">
                <a16:creationId xmlns:a16="http://schemas.microsoft.com/office/drawing/2014/main" id="{61920926-45EB-4783-80DD-55E3873B179C}"/>
              </a:ext>
            </a:extLst>
          </p:cNvPr>
          <p:cNvSpPr>
            <a:spLocks noGrp="1"/>
          </p:cNvSpPr>
          <p:nvPr/>
        </p:nvSpPr>
        <p:spPr>
          <a:xfrm>
            <a:off x="4876800" y="2000250"/>
            <a:ext cx="3581400" cy="542925"/>
          </a:xfrm>
          <a:prstGeom prst="rect">
            <a:avLst/>
          </a:prstGeom>
          <a:noFill/>
          <a:ln w="0">
            <a:noFill/>
            <a:prstDash val="solid"/>
          </a:ln>
        </p:spPr>
        <p:txBody>
          <a:bodyPr wrap="square" lIns="0" tIns="0" rIns="0" bIns="0" anchor="ctr">
            <a:normAutofit/>
          </a:bodyPr>
          <a:lstStyle>
            <a:defPPr algn="l">
              <a:defRPr sz="1650" b="1">
                <a:solidFill>
                  <a:srgbClr val="1C2D49"/>
                </a:solidFill>
                <a:latin typeface="Calibri"/>
                <a:ea typeface="Calibri"/>
                <a:cs typeface="Calibri"/>
              </a:defRPr>
            </a:defPPr>
            <a:lvl1pPr algn="l">
              <a:defRPr sz="1650" b="1">
                <a:solidFill>
                  <a:srgbClr val="1C2D49"/>
                </a:solidFill>
                <a:latin typeface="Calibri"/>
                <a:ea typeface="Calibri"/>
                <a:cs typeface="Calibri"/>
              </a:defRPr>
            </a:lvl1pPr>
            <a:lvl2pPr algn="l">
              <a:defRPr sz="1650" b="1">
                <a:solidFill>
                  <a:srgbClr val="1C2D49"/>
                </a:solidFill>
                <a:latin typeface="Calibri"/>
                <a:ea typeface="Calibri"/>
                <a:cs typeface="Calibri"/>
              </a:defRPr>
            </a:lvl2pPr>
            <a:lvl3pPr algn="l">
              <a:defRPr sz="1650" b="1">
                <a:solidFill>
                  <a:srgbClr val="1C2D49"/>
                </a:solidFill>
                <a:latin typeface="Calibri"/>
                <a:ea typeface="Calibri"/>
                <a:cs typeface="Calibri"/>
              </a:defRPr>
            </a:lvl3pPr>
            <a:lvl4pPr algn="l">
              <a:defRPr sz="1650" b="1">
                <a:solidFill>
                  <a:srgbClr val="1C2D49"/>
                </a:solidFill>
                <a:latin typeface="Calibri"/>
                <a:ea typeface="Calibri"/>
                <a:cs typeface="Calibri"/>
              </a:defRPr>
            </a:lvl4pPr>
            <a:lvl5pPr algn="l">
              <a:defRPr sz="1650" b="1">
                <a:solidFill>
                  <a:srgbClr val="1C2D49"/>
                </a:solidFill>
                <a:latin typeface="Calibri"/>
                <a:ea typeface="Calibri"/>
                <a:cs typeface="Calibri"/>
              </a:defRPr>
            </a:lvl5pPr>
            <a:lvl6pPr algn="l">
              <a:defRPr sz="1650" b="1">
                <a:solidFill>
                  <a:srgbClr val="1C2D49"/>
                </a:solidFill>
                <a:latin typeface="Calibri"/>
                <a:ea typeface="Calibri"/>
                <a:cs typeface="Calibri"/>
              </a:defRPr>
            </a:lvl6pPr>
            <a:lvl7pPr algn="l">
              <a:defRPr sz="1650" b="1">
                <a:solidFill>
                  <a:srgbClr val="1C2D49"/>
                </a:solidFill>
                <a:latin typeface="Calibri"/>
                <a:ea typeface="Calibri"/>
                <a:cs typeface="Calibri"/>
              </a:defRPr>
            </a:lvl7pPr>
            <a:lvl8pPr algn="l">
              <a:defRPr sz="1650" b="1">
                <a:solidFill>
                  <a:srgbClr val="1C2D49"/>
                </a:solidFill>
                <a:latin typeface="Calibri"/>
                <a:ea typeface="Calibri"/>
                <a:cs typeface="Calibri"/>
              </a:defRPr>
            </a:lvl8pPr>
            <a:lvl9pPr algn="l">
              <a:defRPr sz="1650" b="1">
                <a:solidFill>
                  <a:srgbClr val="1C2D49"/>
                </a:solidFill>
                <a:latin typeface="Calibri"/>
                <a:ea typeface="Calibri"/>
                <a:cs typeface="Calibri"/>
              </a:defRPr>
            </a:lvl9pPr>
          </a:lstStyle>
          <a:p>
            <a:pPr algn="l">
              <a:buNone/>
              <a:defRPr sz="1650" b="1">
                <a:solidFill>
                  <a:srgbClr val="1C2D49"/>
                </a:solidFill>
                <a:latin typeface="Calibri"/>
                <a:ea typeface="Calibri"/>
                <a:cs typeface="Calibri"/>
              </a:defRPr>
            </a:pPr>
            <a:r>
              <a:rPr sz="1650" b="1">
                <a:solidFill>
                  <a:srgbClr val="1C2D49"/>
                </a:solidFill>
                <a:latin typeface="Calibri"/>
                <a:ea typeface="Calibri"/>
                <a:cs typeface="Calibri"/>
              </a:rPr>
              <a:t>WER = (S + D + I) / N_words × 100%</a:t>
            </a:r>
          </a:p>
        </p:txBody>
      </p:sp>
      <p:sp>
        <p:nvSpPr>
          <p:cNvPr id="12" name="Rectangle 11">
            <a:extLst>
              <a:ext uri="{FF2B5EF4-FFF2-40B4-BE49-F238E27FC236}">
                <a16:creationId xmlns:a16="http://schemas.microsoft.com/office/drawing/2014/main" id="{9927E824-2D55-4F34-9734-15E18C90E202}"/>
              </a:ext>
            </a:extLst>
          </p:cNvPr>
          <p:cNvSpPr>
            <a:spLocks noGrp="1"/>
          </p:cNvSpPr>
          <p:nvPr/>
        </p:nvSpPr>
        <p:spPr>
          <a:xfrm>
            <a:off x="4876800" y="2647950"/>
            <a:ext cx="3552825" cy="628650"/>
          </a:xfrm>
          <a:prstGeom prst="rect">
            <a:avLst/>
          </a:prstGeom>
          <a:noFill/>
          <a:ln w="0">
            <a:noFill/>
            <a:prstDash val="solid"/>
          </a:ln>
        </p:spPr>
        <p:txBody>
          <a:bodyPr wrap="square" lIns="0" tIns="0" rIns="0" bIns="0" anchor="ctr">
            <a:normAutofit/>
          </a:bodyPr>
          <a:lstStyle>
            <a:defPPr algn="l">
              <a:defRPr sz="1350" b="0">
                <a:solidFill>
                  <a:srgbClr val="5C6C7B"/>
                </a:solidFill>
                <a:latin typeface="Calibri"/>
                <a:ea typeface="Calibri"/>
                <a:cs typeface="Calibri"/>
              </a:defRPr>
            </a:defPPr>
            <a:lvl1pPr algn="l">
              <a:defRPr sz="1350" b="0">
                <a:solidFill>
                  <a:srgbClr val="5C6C7B"/>
                </a:solidFill>
                <a:latin typeface="Calibri"/>
                <a:ea typeface="Calibri"/>
                <a:cs typeface="Calibri"/>
              </a:defRPr>
            </a:lvl1pPr>
            <a:lvl2pPr algn="l">
              <a:defRPr sz="1350" b="0">
                <a:solidFill>
                  <a:srgbClr val="5C6C7B"/>
                </a:solidFill>
                <a:latin typeface="Calibri"/>
                <a:ea typeface="Calibri"/>
                <a:cs typeface="Calibri"/>
              </a:defRPr>
            </a:lvl2pPr>
            <a:lvl3pPr algn="l">
              <a:defRPr sz="1350" b="0">
                <a:solidFill>
                  <a:srgbClr val="5C6C7B"/>
                </a:solidFill>
                <a:latin typeface="Calibri"/>
                <a:ea typeface="Calibri"/>
                <a:cs typeface="Calibri"/>
              </a:defRPr>
            </a:lvl3pPr>
            <a:lvl4pPr algn="l">
              <a:defRPr sz="1350" b="0">
                <a:solidFill>
                  <a:srgbClr val="5C6C7B"/>
                </a:solidFill>
                <a:latin typeface="Calibri"/>
                <a:ea typeface="Calibri"/>
                <a:cs typeface="Calibri"/>
              </a:defRPr>
            </a:lvl4pPr>
            <a:lvl5pPr algn="l">
              <a:defRPr sz="1350" b="0">
                <a:solidFill>
                  <a:srgbClr val="5C6C7B"/>
                </a:solidFill>
                <a:latin typeface="Calibri"/>
                <a:ea typeface="Calibri"/>
                <a:cs typeface="Calibri"/>
              </a:defRPr>
            </a:lvl5pPr>
            <a:lvl6pPr algn="l">
              <a:defRPr sz="1350" b="0">
                <a:solidFill>
                  <a:srgbClr val="5C6C7B"/>
                </a:solidFill>
                <a:latin typeface="Calibri"/>
                <a:ea typeface="Calibri"/>
                <a:cs typeface="Calibri"/>
              </a:defRPr>
            </a:lvl6pPr>
            <a:lvl7pPr algn="l">
              <a:defRPr sz="1350" b="0">
                <a:solidFill>
                  <a:srgbClr val="5C6C7B"/>
                </a:solidFill>
                <a:latin typeface="Calibri"/>
                <a:ea typeface="Calibri"/>
                <a:cs typeface="Calibri"/>
              </a:defRPr>
            </a:lvl7pPr>
            <a:lvl8pPr algn="l">
              <a:defRPr sz="1350" b="0">
                <a:solidFill>
                  <a:srgbClr val="5C6C7B"/>
                </a:solidFill>
                <a:latin typeface="Calibri"/>
                <a:ea typeface="Calibri"/>
                <a:cs typeface="Calibri"/>
              </a:defRPr>
            </a:lvl8pPr>
            <a:lvl9pPr algn="l">
              <a:defRPr sz="1350" b="0">
                <a:solidFill>
                  <a:srgbClr val="5C6C7B"/>
                </a:solidFill>
                <a:latin typeface="Calibri"/>
                <a:ea typeface="Calibri"/>
                <a:cs typeface="Calibri"/>
              </a:defRPr>
            </a:lvl9pPr>
          </a:lstStyle>
          <a:p>
            <a:pPr algn="l">
              <a:buNone/>
              <a:defRPr sz="1350" b="0">
                <a:solidFill>
                  <a:srgbClr val="5C6C7B"/>
                </a:solidFill>
                <a:latin typeface="Calibri"/>
                <a:ea typeface="Calibri"/>
                <a:cs typeface="Calibri"/>
              </a:defRPr>
            </a:pPr>
            <a:r>
              <a:rPr sz="1350" b="0">
                <a:solidFill>
                  <a:srgbClr val="5C6C7B"/>
                </a:solidFill>
                <a:latin typeface="Calibri"/>
                <a:ea typeface="Calibri"/>
                <a:cs typeface="Calibri"/>
              </a:rPr>
              <a:t>N_words = reference words from ICU Khmer word segmentation.</a:t>
            </a:r>
          </a:p>
        </p:txBody>
      </p:sp>
      <p:sp>
        <p:nvSpPr>
          <p:cNvPr id="13" name="Rectangle 12">
            <a:extLst>
              <a:ext uri="{FF2B5EF4-FFF2-40B4-BE49-F238E27FC236}">
                <a16:creationId xmlns:a16="http://schemas.microsoft.com/office/drawing/2014/main" id="{61B684E2-4B3B-4B81-B638-57BD3DEA0216}"/>
              </a:ext>
            </a:extLst>
          </p:cNvPr>
          <p:cNvSpPr>
            <a:spLocks noGrp="1"/>
          </p:cNvSpPr>
          <p:nvPr/>
        </p:nvSpPr>
        <p:spPr>
          <a:xfrm>
            <a:off x="619125" y="3695700"/>
            <a:ext cx="7915275" cy="438150"/>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S = substitutions   D = deletions   I = insertions. Sum edits over all utterances before dividing.</a:t>
            </a:r>
          </a:p>
        </p:txBody>
      </p:sp>
      <p:sp>
        <p:nvSpPr>
          <p:cNvPr id="14" name="Rectangle 13">
            <a:extLst>
              <a:ext uri="{FF2B5EF4-FFF2-40B4-BE49-F238E27FC236}">
                <a16:creationId xmlns:a16="http://schemas.microsoft.com/office/drawing/2014/main" id="{DCCFC320-C6C0-4473-93BF-DEA0F9342DC9}"/>
              </a:ext>
            </a:extLst>
          </p:cNvPr>
          <p:cNvSpPr>
            <a:spLocks noGrp="1"/>
          </p:cNvSpPr>
          <p:nvPr/>
        </p:nvSpPr>
        <p:spPr>
          <a:xfrm>
            <a:off x="619125" y="4171950"/>
            <a:ext cx="7905750" cy="342900"/>
          </a:xfrm>
          <a:prstGeom prst="rect">
            <a:avLst/>
          </a:prstGeom>
          <a:noFill/>
          <a:ln w="0">
            <a:noFill/>
            <a:prstDash val="solid"/>
          </a:ln>
        </p:spPr>
        <p:txBody>
          <a:bodyPr wrap="square" lIns="0" tIns="0" rIns="0" bIns="0" anchor="ctr">
            <a:normAutofit/>
          </a:bodyPr>
          <a:lstStyle>
            <a:defPPr algn="l">
              <a:defRPr sz="1350" b="1">
                <a:solidFill>
                  <a:srgbClr val="D3663D"/>
                </a:solidFill>
                <a:latin typeface="Calibri"/>
                <a:ea typeface="Calibri"/>
                <a:cs typeface="Calibri"/>
              </a:defRPr>
            </a:defPPr>
            <a:lvl1pPr algn="l">
              <a:defRPr sz="1350" b="1">
                <a:solidFill>
                  <a:srgbClr val="D3663D"/>
                </a:solidFill>
                <a:latin typeface="Calibri"/>
                <a:ea typeface="Calibri"/>
                <a:cs typeface="Calibri"/>
              </a:defRPr>
            </a:lvl1pPr>
            <a:lvl2pPr algn="l">
              <a:defRPr sz="1350" b="1">
                <a:solidFill>
                  <a:srgbClr val="D3663D"/>
                </a:solidFill>
                <a:latin typeface="Calibri"/>
                <a:ea typeface="Calibri"/>
                <a:cs typeface="Calibri"/>
              </a:defRPr>
            </a:lvl2pPr>
            <a:lvl3pPr algn="l">
              <a:defRPr sz="1350" b="1">
                <a:solidFill>
                  <a:srgbClr val="D3663D"/>
                </a:solidFill>
                <a:latin typeface="Calibri"/>
                <a:ea typeface="Calibri"/>
                <a:cs typeface="Calibri"/>
              </a:defRPr>
            </a:lvl3pPr>
            <a:lvl4pPr algn="l">
              <a:defRPr sz="1350" b="1">
                <a:solidFill>
                  <a:srgbClr val="D3663D"/>
                </a:solidFill>
                <a:latin typeface="Calibri"/>
                <a:ea typeface="Calibri"/>
                <a:cs typeface="Calibri"/>
              </a:defRPr>
            </a:lvl4pPr>
            <a:lvl5pPr algn="l">
              <a:defRPr sz="1350" b="1">
                <a:solidFill>
                  <a:srgbClr val="D3663D"/>
                </a:solidFill>
                <a:latin typeface="Calibri"/>
                <a:ea typeface="Calibri"/>
                <a:cs typeface="Calibri"/>
              </a:defRPr>
            </a:lvl5pPr>
            <a:lvl6pPr algn="l">
              <a:defRPr sz="1350" b="1">
                <a:solidFill>
                  <a:srgbClr val="D3663D"/>
                </a:solidFill>
                <a:latin typeface="Calibri"/>
                <a:ea typeface="Calibri"/>
                <a:cs typeface="Calibri"/>
              </a:defRPr>
            </a:lvl6pPr>
            <a:lvl7pPr algn="l">
              <a:defRPr sz="1350" b="1">
                <a:solidFill>
                  <a:srgbClr val="D3663D"/>
                </a:solidFill>
                <a:latin typeface="Calibri"/>
                <a:ea typeface="Calibri"/>
                <a:cs typeface="Calibri"/>
              </a:defRPr>
            </a:lvl7pPr>
            <a:lvl8pPr algn="l">
              <a:defRPr sz="1350" b="1">
                <a:solidFill>
                  <a:srgbClr val="D3663D"/>
                </a:solidFill>
                <a:latin typeface="Calibri"/>
                <a:ea typeface="Calibri"/>
                <a:cs typeface="Calibri"/>
              </a:defRPr>
            </a:lvl8pPr>
            <a:lvl9pPr algn="l">
              <a:defRPr sz="1350" b="1">
                <a:solidFill>
                  <a:srgbClr val="D3663D"/>
                </a:solidFill>
                <a:latin typeface="Calibri"/>
                <a:ea typeface="Calibri"/>
                <a:cs typeface="Calibri"/>
              </a:defRPr>
            </a:lvl9pPr>
          </a:lstStyle>
          <a:p>
            <a:pPr algn="l">
              <a:buNone/>
              <a:defRPr sz="1350" b="1">
                <a:solidFill>
                  <a:srgbClr val="D3663D"/>
                </a:solidFill>
                <a:latin typeface="Calibri"/>
                <a:ea typeface="Calibri"/>
                <a:cs typeface="Calibri"/>
              </a:defRPr>
            </a:pPr>
            <a:r>
              <a:rPr sz="1350" b="1">
                <a:solidFill>
                  <a:srgbClr val="D3663D"/>
                </a:solidFill>
                <a:latin typeface="Calibri"/>
                <a:ea typeface="Calibri"/>
                <a:cs typeface="Calibri"/>
              </a:rPr>
              <a:t>Lower is better. WER can exceed 100% when the model inserts extra words.</a:t>
            </a:r>
          </a:p>
        </p:txBody>
      </p:sp>
      <p:pic>
        <p:nvPicPr>
          <p:cNvPr id="17" name="Picture 16">
            <a:extLst>
              <a:ext uri="{FF2B5EF4-FFF2-40B4-BE49-F238E27FC236}">
                <a16:creationId xmlns:a16="http://schemas.microsoft.com/office/drawing/2014/main" id="{C191CC1C-7394-403E-B0B3-2EF30742BEC4}"/>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1609672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4BE0F69-2563-426D-9863-FF931D1C0FDD}"/>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fontScale="99874"/>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000" b="1">
                <a:solidFill>
                  <a:srgbClr val="1C2D49"/>
                </a:solidFill>
                <a:latin typeface="Cambria"/>
                <a:ea typeface="Cambria"/>
                <a:cs typeface="Cambria"/>
              </a:rPr>
              <a:t>Three approaches, all trained from existing models</a:t>
            </a:r>
          </a:p>
        </p:txBody>
      </p:sp>
      <p:sp>
        <p:nvSpPr>
          <p:cNvPr id="2" name="Rectangle 1">
            <a:extLst>
              <a:ext uri="{FF2B5EF4-FFF2-40B4-BE49-F238E27FC236}">
                <a16:creationId xmlns:a16="http://schemas.microsoft.com/office/drawing/2014/main" id="{053B0312-54B7-4B40-81FE-4504FEDFCAD5}"/>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40F3AE2F-ED74-4BCA-9007-4845923732DC}"/>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98882FAE-D975-4F80-93BD-2ADB8A62020A}"/>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5</a:t>
            </a:r>
          </a:p>
        </p:txBody>
      </p:sp>
      <p:sp>
        <p:nvSpPr>
          <p:cNvPr id="5" name="Rectangle 4">
            <a:extLst>
              <a:ext uri="{FF2B5EF4-FFF2-40B4-BE49-F238E27FC236}">
                <a16:creationId xmlns:a16="http://schemas.microsoft.com/office/drawing/2014/main" id="{34160CEB-FF7D-40E8-B726-124127C47C37}"/>
              </a:ext>
            </a:extLst>
          </p:cNvPr>
          <p:cNvSpPr>
            <a:spLocks noGrp="1"/>
          </p:cNvSpPr>
          <p:nvPr/>
        </p:nvSpPr>
        <p:spPr>
          <a:xfrm>
            <a:off x="619125" y="1076325"/>
            <a:ext cx="7905750" cy="428625"/>
          </a:xfrm>
          <a:prstGeom prst="rect">
            <a:avLst/>
          </a:prstGeom>
          <a:noFill/>
          <a:ln w="0">
            <a:noFill/>
            <a:prstDash val="solid"/>
          </a:ln>
        </p:spPr>
        <p:txBody>
          <a:bodyPr wrap="square" lIns="0" tIns="0" rIns="0" bIns="0" anchor="ctr">
            <a:normAutofit/>
          </a:bodyPr>
          <a:lstStyle>
            <a:defPPr algn="l">
              <a:defRPr sz="1500" b="0">
                <a:solidFill>
                  <a:srgbClr val="5C6C7B"/>
                </a:solidFill>
                <a:latin typeface="Calibri"/>
                <a:ea typeface="Calibri"/>
                <a:cs typeface="Calibri"/>
              </a:defRPr>
            </a:defPPr>
            <a:lvl1pPr algn="l">
              <a:defRPr sz="1500" b="0">
                <a:solidFill>
                  <a:srgbClr val="5C6C7B"/>
                </a:solidFill>
                <a:latin typeface="Calibri"/>
                <a:ea typeface="Calibri"/>
                <a:cs typeface="Calibri"/>
              </a:defRPr>
            </a:lvl1pPr>
            <a:lvl2pPr algn="l">
              <a:defRPr sz="1500" b="0">
                <a:solidFill>
                  <a:srgbClr val="5C6C7B"/>
                </a:solidFill>
                <a:latin typeface="Calibri"/>
                <a:ea typeface="Calibri"/>
                <a:cs typeface="Calibri"/>
              </a:defRPr>
            </a:lvl2pPr>
            <a:lvl3pPr algn="l">
              <a:defRPr sz="1500" b="0">
                <a:solidFill>
                  <a:srgbClr val="5C6C7B"/>
                </a:solidFill>
                <a:latin typeface="Calibri"/>
                <a:ea typeface="Calibri"/>
                <a:cs typeface="Calibri"/>
              </a:defRPr>
            </a:lvl3pPr>
            <a:lvl4pPr algn="l">
              <a:defRPr sz="1500" b="0">
                <a:solidFill>
                  <a:srgbClr val="5C6C7B"/>
                </a:solidFill>
                <a:latin typeface="Calibri"/>
                <a:ea typeface="Calibri"/>
                <a:cs typeface="Calibri"/>
              </a:defRPr>
            </a:lvl4pPr>
            <a:lvl5pPr algn="l">
              <a:defRPr sz="1500" b="0">
                <a:solidFill>
                  <a:srgbClr val="5C6C7B"/>
                </a:solidFill>
                <a:latin typeface="Calibri"/>
                <a:ea typeface="Calibri"/>
                <a:cs typeface="Calibri"/>
              </a:defRPr>
            </a:lvl5pPr>
            <a:lvl6pPr algn="l">
              <a:defRPr sz="1500" b="0">
                <a:solidFill>
                  <a:srgbClr val="5C6C7B"/>
                </a:solidFill>
                <a:latin typeface="Calibri"/>
                <a:ea typeface="Calibri"/>
                <a:cs typeface="Calibri"/>
              </a:defRPr>
            </a:lvl6pPr>
            <a:lvl7pPr algn="l">
              <a:defRPr sz="1500" b="0">
                <a:solidFill>
                  <a:srgbClr val="5C6C7B"/>
                </a:solidFill>
                <a:latin typeface="Calibri"/>
                <a:ea typeface="Calibri"/>
                <a:cs typeface="Calibri"/>
              </a:defRPr>
            </a:lvl7pPr>
            <a:lvl8pPr algn="l">
              <a:defRPr sz="1500" b="0">
                <a:solidFill>
                  <a:srgbClr val="5C6C7B"/>
                </a:solidFill>
                <a:latin typeface="Calibri"/>
                <a:ea typeface="Calibri"/>
                <a:cs typeface="Calibri"/>
              </a:defRPr>
            </a:lvl8pPr>
            <a:lvl9pPr algn="l">
              <a:defRPr sz="1500" b="0">
                <a:solidFill>
                  <a:srgbClr val="5C6C7B"/>
                </a:solidFill>
                <a:latin typeface="Calibri"/>
                <a:ea typeface="Calibri"/>
                <a:cs typeface="Calibri"/>
              </a:defRPr>
            </a:lvl9pPr>
          </a:lstStyle>
          <a:p>
            <a:pPr algn="l">
              <a:buNone/>
              <a:defRPr sz="1500" b="0">
                <a:solidFill>
                  <a:srgbClr val="5C6C7B"/>
                </a:solidFill>
                <a:latin typeface="Calibri"/>
                <a:ea typeface="Calibri"/>
                <a:cs typeface="Calibri"/>
              </a:defRPr>
            </a:pPr>
            <a:r>
              <a:rPr sz="1500" b="0">
                <a:solidFill>
                  <a:srgbClr val="5C6C7B"/>
                </a:solidFill>
                <a:latin typeface="Calibri"/>
                <a:ea typeface="Calibri"/>
                <a:cs typeface="Calibri"/>
              </a:rPr>
              <a:t>I started with pretrained checkpoints from Hugging Face, then adapted each one to Khmer ASR.</a:t>
            </a:r>
          </a:p>
        </p:txBody>
      </p:sp>
      <p:sp>
        <p:nvSpPr>
          <p:cNvPr id="6" name="Rectangle 5">
            <a:extLst>
              <a:ext uri="{FF2B5EF4-FFF2-40B4-BE49-F238E27FC236}">
                <a16:creationId xmlns:a16="http://schemas.microsoft.com/office/drawing/2014/main" id="{51F5F7CC-00CF-498F-A404-42B7D63E4F29}"/>
              </a:ext>
            </a:extLst>
          </p:cNvPr>
          <p:cNvSpPr>
            <a:spLocks noGrp="1"/>
          </p:cNvSpPr>
          <p:nvPr/>
        </p:nvSpPr>
        <p:spPr>
          <a:xfrm>
            <a:off x="457200" y="1695450"/>
            <a:ext cx="2562225" cy="619125"/>
          </a:xfrm>
          <a:prstGeom prst="rect">
            <a:avLst/>
          </a:prstGeom>
          <a:solidFill>
            <a:srgbClr val="D3663D"/>
          </a:solidFill>
          <a:ln w="0">
            <a:noFill/>
            <a:prstDash val="solid"/>
          </a:ln>
        </p:spPr>
      </p:sp>
      <p:sp>
        <p:nvSpPr>
          <p:cNvPr id="7" name="Rectangle 6">
            <a:extLst>
              <a:ext uri="{FF2B5EF4-FFF2-40B4-BE49-F238E27FC236}">
                <a16:creationId xmlns:a16="http://schemas.microsoft.com/office/drawing/2014/main" id="{2500BB00-E91A-459C-A4A1-3F4239353AA1}"/>
              </a:ext>
            </a:extLst>
          </p:cNvPr>
          <p:cNvSpPr>
            <a:spLocks noGrp="1"/>
          </p:cNvSpPr>
          <p:nvPr/>
        </p:nvSpPr>
        <p:spPr>
          <a:xfrm>
            <a:off x="590550" y="1771650"/>
            <a:ext cx="2295525" cy="447675"/>
          </a:xfrm>
          <a:prstGeom prst="rect">
            <a:avLst/>
          </a:prstGeom>
          <a:noFill/>
          <a:ln w="0">
            <a:noFill/>
            <a:prstDash val="solid"/>
          </a:ln>
        </p:spPr>
        <p:txBody>
          <a:bodyPr wrap="square" lIns="0" tIns="0" rIns="0" bIns="0" anchor="ctr">
            <a:normAutofit/>
          </a:bodyPr>
          <a:lstStyle>
            <a:defPPr algn="l">
              <a:defRPr sz="1650" b="1">
                <a:solidFill>
                  <a:srgbClr val="FFFFFF"/>
                </a:solidFill>
                <a:latin typeface="Cambria"/>
                <a:ea typeface="Cambria"/>
                <a:cs typeface="Cambria"/>
              </a:defRPr>
            </a:defPPr>
            <a:lvl1pPr algn="l">
              <a:defRPr sz="1650" b="1">
                <a:solidFill>
                  <a:srgbClr val="FFFFFF"/>
                </a:solidFill>
                <a:latin typeface="Cambria"/>
                <a:ea typeface="Cambria"/>
                <a:cs typeface="Cambria"/>
              </a:defRPr>
            </a:lvl1pPr>
            <a:lvl2pPr algn="l">
              <a:defRPr sz="1650" b="1">
                <a:solidFill>
                  <a:srgbClr val="FFFFFF"/>
                </a:solidFill>
                <a:latin typeface="Cambria"/>
                <a:ea typeface="Cambria"/>
                <a:cs typeface="Cambria"/>
              </a:defRPr>
            </a:lvl2pPr>
            <a:lvl3pPr algn="l">
              <a:defRPr sz="1650" b="1">
                <a:solidFill>
                  <a:srgbClr val="FFFFFF"/>
                </a:solidFill>
                <a:latin typeface="Cambria"/>
                <a:ea typeface="Cambria"/>
                <a:cs typeface="Cambria"/>
              </a:defRPr>
            </a:lvl3pPr>
            <a:lvl4pPr algn="l">
              <a:defRPr sz="1650" b="1">
                <a:solidFill>
                  <a:srgbClr val="FFFFFF"/>
                </a:solidFill>
                <a:latin typeface="Cambria"/>
                <a:ea typeface="Cambria"/>
                <a:cs typeface="Cambria"/>
              </a:defRPr>
            </a:lvl4pPr>
            <a:lvl5pPr algn="l">
              <a:defRPr sz="1650" b="1">
                <a:solidFill>
                  <a:srgbClr val="FFFFFF"/>
                </a:solidFill>
                <a:latin typeface="Cambria"/>
                <a:ea typeface="Cambria"/>
                <a:cs typeface="Cambria"/>
              </a:defRPr>
            </a:lvl5pPr>
            <a:lvl6pPr algn="l">
              <a:defRPr sz="1650" b="1">
                <a:solidFill>
                  <a:srgbClr val="FFFFFF"/>
                </a:solidFill>
                <a:latin typeface="Cambria"/>
                <a:ea typeface="Cambria"/>
                <a:cs typeface="Cambria"/>
              </a:defRPr>
            </a:lvl6pPr>
            <a:lvl7pPr algn="l">
              <a:defRPr sz="1650" b="1">
                <a:solidFill>
                  <a:srgbClr val="FFFFFF"/>
                </a:solidFill>
                <a:latin typeface="Cambria"/>
                <a:ea typeface="Cambria"/>
                <a:cs typeface="Cambria"/>
              </a:defRPr>
            </a:lvl7pPr>
            <a:lvl8pPr algn="l">
              <a:defRPr sz="1650" b="1">
                <a:solidFill>
                  <a:srgbClr val="FFFFFF"/>
                </a:solidFill>
                <a:latin typeface="Cambria"/>
                <a:ea typeface="Cambria"/>
                <a:cs typeface="Cambria"/>
              </a:defRPr>
            </a:lvl8pPr>
            <a:lvl9pPr algn="l">
              <a:defRPr sz="1650" b="1">
                <a:solidFill>
                  <a:srgbClr val="FFFFFF"/>
                </a:solidFill>
                <a:latin typeface="Cambria"/>
                <a:ea typeface="Cambria"/>
                <a:cs typeface="Cambria"/>
              </a:defRPr>
            </a:lvl9pPr>
          </a:lstStyle>
          <a:p>
            <a:pPr algn="l">
              <a:buNone/>
              <a:defRPr sz="1650" b="1">
                <a:solidFill>
                  <a:srgbClr val="FFFFFF"/>
                </a:solidFill>
                <a:latin typeface="Cambria"/>
                <a:ea typeface="Cambria"/>
                <a:cs typeface="Cambria"/>
              </a:defRPr>
            </a:pPr>
            <a:r>
              <a:rPr sz="1650" b="1">
                <a:solidFill>
                  <a:srgbClr val="FFFFFF"/>
                </a:solidFill>
                <a:latin typeface="Cambria"/>
                <a:ea typeface="Cambria"/>
                <a:cs typeface="Cambria"/>
              </a:rPr>
              <a:t>1  Whisper-Tiny</a:t>
            </a:r>
          </a:p>
        </p:txBody>
      </p:sp>
      <p:sp>
        <p:nvSpPr>
          <p:cNvPr id="8" name="Rectangle 7">
            <a:extLst>
              <a:ext uri="{FF2B5EF4-FFF2-40B4-BE49-F238E27FC236}">
                <a16:creationId xmlns:a16="http://schemas.microsoft.com/office/drawing/2014/main" id="{142ECDA6-148D-43A1-AF01-06DE45A9A5BC}"/>
              </a:ext>
            </a:extLst>
          </p:cNvPr>
          <p:cNvSpPr>
            <a:spLocks noGrp="1"/>
          </p:cNvSpPr>
          <p:nvPr/>
        </p:nvSpPr>
        <p:spPr>
          <a:xfrm>
            <a:off x="457200" y="2314575"/>
            <a:ext cx="2562225" cy="2133600"/>
          </a:xfrm>
          <a:prstGeom prst="rect">
            <a:avLst/>
          </a:prstGeom>
          <a:solidFill>
            <a:srgbClr val="ECF2F4"/>
          </a:solidFill>
          <a:ln w="0">
            <a:noFill/>
            <a:prstDash val="solid"/>
          </a:ln>
        </p:spPr>
      </p:sp>
      <p:sp>
        <p:nvSpPr>
          <p:cNvPr id="9" name="Rectangle 8">
            <a:extLst>
              <a:ext uri="{FF2B5EF4-FFF2-40B4-BE49-F238E27FC236}">
                <a16:creationId xmlns:a16="http://schemas.microsoft.com/office/drawing/2014/main" id="{55D9D5C5-1A04-4F85-A50C-92B679B40E27}"/>
              </a:ext>
            </a:extLst>
          </p:cNvPr>
          <p:cNvSpPr>
            <a:spLocks noGrp="1"/>
          </p:cNvSpPr>
          <p:nvPr/>
        </p:nvSpPr>
        <p:spPr>
          <a:xfrm>
            <a:off x="600075" y="2390775"/>
            <a:ext cx="2276475" cy="40957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Starting model: openai/whisper-tiny</a:t>
            </a:r>
          </a:p>
        </p:txBody>
      </p:sp>
      <p:sp>
        <p:nvSpPr>
          <p:cNvPr id="10" name="Rectangle 9">
            <a:extLst>
              <a:ext uri="{FF2B5EF4-FFF2-40B4-BE49-F238E27FC236}">
                <a16:creationId xmlns:a16="http://schemas.microsoft.com/office/drawing/2014/main" id="{CEDE5686-8AA1-4768-9484-44E7C132AB6A}"/>
              </a:ext>
            </a:extLst>
          </p:cNvPr>
          <p:cNvSpPr>
            <a:spLocks noGrp="1"/>
          </p:cNvSpPr>
          <p:nvPr/>
        </p:nvSpPr>
        <p:spPr>
          <a:xfrm>
            <a:off x="600075" y="2895600"/>
            <a:ext cx="2276475" cy="828675"/>
          </a:xfrm>
          <a:prstGeom prst="rect">
            <a:avLst/>
          </a:prstGeom>
          <a:noFill/>
          <a:ln w="0">
            <a:noFill/>
            <a:prstDash val="solid"/>
          </a:ln>
        </p:spPr>
        <p:txBody>
          <a:bodyPr wrap="square" lIns="0" tIns="0" rIns="0" bIns="0" anchor="ctr">
            <a:normAutofit/>
          </a:bodyPr>
          <a:lstStyle>
            <a:defPPr algn="l">
              <a:defRPr sz="1500" b="1">
                <a:solidFill>
                  <a:srgbClr val="20324A"/>
                </a:solidFill>
                <a:latin typeface="Calibri"/>
                <a:ea typeface="Calibri"/>
                <a:cs typeface="Calibri"/>
              </a:defRPr>
            </a:defPPr>
            <a:lvl1pPr algn="l">
              <a:defRPr sz="1500" b="1">
                <a:solidFill>
                  <a:srgbClr val="20324A"/>
                </a:solidFill>
                <a:latin typeface="Calibri"/>
                <a:ea typeface="Calibri"/>
                <a:cs typeface="Calibri"/>
              </a:defRPr>
            </a:lvl1pPr>
            <a:lvl2pPr algn="l">
              <a:defRPr sz="1500" b="1">
                <a:solidFill>
                  <a:srgbClr val="20324A"/>
                </a:solidFill>
                <a:latin typeface="Calibri"/>
                <a:ea typeface="Calibri"/>
                <a:cs typeface="Calibri"/>
              </a:defRPr>
            </a:lvl2pPr>
            <a:lvl3pPr algn="l">
              <a:defRPr sz="1500" b="1">
                <a:solidFill>
                  <a:srgbClr val="20324A"/>
                </a:solidFill>
                <a:latin typeface="Calibri"/>
                <a:ea typeface="Calibri"/>
                <a:cs typeface="Calibri"/>
              </a:defRPr>
            </a:lvl3pPr>
            <a:lvl4pPr algn="l">
              <a:defRPr sz="1500" b="1">
                <a:solidFill>
                  <a:srgbClr val="20324A"/>
                </a:solidFill>
                <a:latin typeface="Calibri"/>
                <a:ea typeface="Calibri"/>
                <a:cs typeface="Calibri"/>
              </a:defRPr>
            </a:lvl4pPr>
            <a:lvl5pPr algn="l">
              <a:defRPr sz="1500" b="1">
                <a:solidFill>
                  <a:srgbClr val="20324A"/>
                </a:solidFill>
                <a:latin typeface="Calibri"/>
                <a:ea typeface="Calibri"/>
                <a:cs typeface="Calibri"/>
              </a:defRPr>
            </a:lvl5pPr>
            <a:lvl6pPr algn="l">
              <a:defRPr sz="1500" b="1">
                <a:solidFill>
                  <a:srgbClr val="20324A"/>
                </a:solidFill>
                <a:latin typeface="Calibri"/>
                <a:ea typeface="Calibri"/>
                <a:cs typeface="Calibri"/>
              </a:defRPr>
            </a:lvl6pPr>
            <a:lvl7pPr algn="l">
              <a:defRPr sz="1500" b="1">
                <a:solidFill>
                  <a:srgbClr val="20324A"/>
                </a:solidFill>
                <a:latin typeface="Calibri"/>
                <a:ea typeface="Calibri"/>
                <a:cs typeface="Calibri"/>
              </a:defRPr>
            </a:lvl7pPr>
            <a:lvl8pPr algn="l">
              <a:defRPr sz="1500" b="1">
                <a:solidFill>
                  <a:srgbClr val="20324A"/>
                </a:solidFill>
                <a:latin typeface="Calibri"/>
                <a:ea typeface="Calibri"/>
                <a:cs typeface="Calibri"/>
              </a:defRPr>
            </a:lvl8pPr>
            <a:lvl9pPr algn="l">
              <a:defRPr sz="1500" b="1">
                <a:solidFill>
                  <a:srgbClr val="20324A"/>
                </a:solidFill>
                <a:latin typeface="Calibri"/>
                <a:ea typeface="Calibri"/>
                <a:cs typeface="Calibri"/>
              </a:defRPr>
            </a:lvl9pPr>
          </a:lstStyle>
          <a:p>
            <a:pPr algn="l">
              <a:buNone/>
              <a:defRPr sz="1500" b="1">
                <a:solidFill>
                  <a:srgbClr val="20324A"/>
                </a:solidFill>
                <a:latin typeface="Calibri"/>
                <a:ea typeface="Calibri"/>
                <a:cs typeface="Calibri"/>
              </a:defRPr>
            </a:pPr>
            <a:r>
              <a:rPr sz="1500" b="1">
                <a:solidFill>
                  <a:srgbClr val="20324A"/>
                </a:solidFill>
                <a:latin typeface="Calibri"/>
                <a:ea typeface="Calibri"/>
                <a:cs typeface="Calibri"/>
              </a:rPr>
              <a:t>Full fine-tuning: updated all model weights</a:t>
            </a:r>
          </a:p>
        </p:txBody>
      </p:sp>
      <p:sp>
        <p:nvSpPr>
          <p:cNvPr id="11" name="Rectangle 10">
            <a:extLst>
              <a:ext uri="{FF2B5EF4-FFF2-40B4-BE49-F238E27FC236}">
                <a16:creationId xmlns:a16="http://schemas.microsoft.com/office/drawing/2014/main" id="{356FC7C2-F042-478A-A99A-EA5639CCED90}"/>
              </a:ext>
            </a:extLst>
          </p:cNvPr>
          <p:cNvSpPr>
            <a:spLocks noGrp="1"/>
          </p:cNvSpPr>
          <p:nvPr/>
        </p:nvSpPr>
        <p:spPr>
          <a:xfrm>
            <a:off x="600075" y="3914775"/>
            <a:ext cx="2276475" cy="46672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531 clips · 3 epochs</a:t>
            </a:r>
          </a:p>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LR 1e-5</a:t>
            </a:r>
          </a:p>
        </p:txBody>
      </p:sp>
      <p:sp>
        <p:nvSpPr>
          <p:cNvPr id="12" name="Rectangle 11">
            <a:extLst>
              <a:ext uri="{FF2B5EF4-FFF2-40B4-BE49-F238E27FC236}">
                <a16:creationId xmlns:a16="http://schemas.microsoft.com/office/drawing/2014/main" id="{2B499233-1731-450D-8B5D-87398C3C1023}"/>
              </a:ext>
            </a:extLst>
          </p:cNvPr>
          <p:cNvSpPr>
            <a:spLocks noGrp="1"/>
          </p:cNvSpPr>
          <p:nvPr/>
        </p:nvSpPr>
        <p:spPr>
          <a:xfrm>
            <a:off x="3286125" y="1695450"/>
            <a:ext cx="2562225" cy="619125"/>
          </a:xfrm>
          <a:prstGeom prst="rect">
            <a:avLst/>
          </a:prstGeom>
          <a:solidFill>
            <a:srgbClr val="174E6E"/>
          </a:solidFill>
          <a:ln w="0">
            <a:noFill/>
            <a:prstDash val="solid"/>
          </a:ln>
        </p:spPr>
      </p:sp>
      <p:sp>
        <p:nvSpPr>
          <p:cNvPr id="13" name="Rectangle 12">
            <a:extLst>
              <a:ext uri="{FF2B5EF4-FFF2-40B4-BE49-F238E27FC236}">
                <a16:creationId xmlns:a16="http://schemas.microsoft.com/office/drawing/2014/main" id="{432F49C0-5CE7-4CBB-816A-266B5D8FA5FD}"/>
              </a:ext>
            </a:extLst>
          </p:cNvPr>
          <p:cNvSpPr>
            <a:spLocks noGrp="1"/>
          </p:cNvSpPr>
          <p:nvPr/>
        </p:nvSpPr>
        <p:spPr>
          <a:xfrm>
            <a:off x="3419475" y="1771650"/>
            <a:ext cx="2295525" cy="447675"/>
          </a:xfrm>
          <a:prstGeom prst="rect">
            <a:avLst/>
          </a:prstGeom>
          <a:noFill/>
          <a:ln w="0">
            <a:noFill/>
            <a:prstDash val="solid"/>
          </a:ln>
        </p:spPr>
        <p:txBody>
          <a:bodyPr wrap="square" lIns="0" tIns="0" rIns="0" bIns="0" anchor="ctr">
            <a:normAutofit/>
          </a:bodyPr>
          <a:lstStyle>
            <a:defPPr algn="l">
              <a:defRPr sz="1650" b="1">
                <a:solidFill>
                  <a:srgbClr val="FFFFFF"/>
                </a:solidFill>
                <a:latin typeface="Cambria"/>
                <a:ea typeface="Cambria"/>
                <a:cs typeface="Cambria"/>
              </a:defRPr>
            </a:defPPr>
            <a:lvl1pPr algn="l">
              <a:defRPr sz="1650" b="1">
                <a:solidFill>
                  <a:srgbClr val="FFFFFF"/>
                </a:solidFill>
                <a:latin typeface="Cambria"/>
                <a:ea typeface="Cambria"/>
                <a:cs typeface="Cambria"/>
              </a:defRPr>
            </a:lvl1pPr>
            <a:lvl2pPr algn="l">
              <a:defRPr sz="1650" b="1">
                <a:solidFill>
                  <a:srgbClr val="FFFFFF"/>
                </a:solidFill>
                <a:latin typeface="Cambria"/>
                <a:ea typeface="Cambria"/>
                <a:cs typeface="Cambria"/>
              </a:defRPr>
            </a:lvl2pPr>
            <a:lvl3pPr algn="l">
              <a:defRPr sz="1650" b="1">
                <a:solidFill>
                  <a:srgbClr val="FFFFFF"/>
                </a:solidFill>
                <a:latin typeface="Cambria"/>
                <a:ea typeface="Cambria"/>
                <a:cs typeface="Cambria"/>
              </a:defRPr>
            </a:lvl3pPr>
            <a:lvl4pPr algn="l">
              <a:defRPr sz="1650" b="1">
                <a:solidFill>
                  <a:srgbClr val="FFFFFF"/>
                </a:solidFill>
                <a:latin typeface="Cambria"/>
                <a:ea typeface="Cambria"/>
                <a:cs typeface="Cambria"/>
              </a:defRPr>
            </a:lvl4pPr>
            <a:lvl5pPr algn="l">
              <a:defRPr sz="1650" b="1">
                <a:solidFill>
                  <a:srgbClr val="FFFFFF"/>
                </a:solidFill>
                <a:latin typeface="Cambria"/>
                <a:ea typeface="Cambria"/>
                <a:cs typeface="Cambria"/>
              </a:defRPr>
            </a:lvl5pPr>
            <a:lvl6pPr algn="l">
              <a:defRPr sz="1650" b="1">
                <a:solidFill>
                  <a:srgbClr val="FFFFFF"/>
                </a:solidFill>
                <a:latin typeface="Cambria"/>
                <a:ea typeface="Cambria"/>
                <a:cs typeface="Cambria"/>
              </a:defRPr>
            </a:lvl6pPr>
            <a:lvl7pPr algn="l">
              <a:defRPr sz="1650" b="1">
                <a:solidFill>
                  <a:srgbClr val="FFFFFF"/>
                </a:solidFill>
                <a:latin typeface="Cambria"/>
                <a:ea typeface="Cambria"/>
                <a:cs typeface="Cambria"/>
              </a:defRPr>
            </a:lvl7pPr>
            <a:lvl8pPr algn="l">
              <a:defRPr sz="1650" b="1">
                <a:solidFill>
                  <a:srgbClr val="FFFFFF"/>
                </a:solidFill>
                <a:latin typeface="Cambria"/>
                <a:ea typeface="Cambria"/>
                <a:cs typeface="Cambria"/>
              </a:defRPr>
            </a:lvl8pPr>
            <a:lvl9pPr algn="l">
              <a:defRPr sz="1650" b="1">
                <a:solidFill>
                  <a:srgbClr val="FFFFFF"/>
                </a:solidFill>
                <a:latin typeface="Cambria"/>
                <a:ea typeface="Cambria"/>
                <a:cs typeface="Cambria"/>
              </a:defRPr>
            </a:lvl9pPr>
          </a:lstStyle>
          <a:p>
            <a:pPr algn="l">
              <a:buNone/>
              <a:defRPr sz="1650" b="1">
                <a:solidFill>
                  <a:srgbClr val="FFFFFF"/>
                </a:solidFill>
                <a:latin typeface="Cambria"/>
                <a:ea typeface="Cambria"/>
                <a:cs typeface="Cambria"/>
              </a:defRPr>
            </a:pPr>
            <a:r>
              <a:rPr sz="1650" b="1">
                <a:solidFill>
                  <a:srgbClr val="FFFFFF"/>
                </a:solidFill>
                <a:latin typeface="Cambria"/>
                <a:ea typeface="Cambria"/>
                <a:cs typeface="Cambria"/>
              </a:rPr>
              <a:t>2  MMS-1B CTC</a:t>
            </a:r>
          </a:p>
        </p:txBody>
      </p:sp>
      <p:sp>
        <p:nvSpPr>
          <p:cNvPr id="14" name="Rectangle 13">
            <a:extLst>
              <a:ext uri="{FF2B5EF4-FFF2-40B4-BE49-F238E27FC236}">
                <a16:creationId xmlns:a16="http://schemas.microsoft.com/office/drawing/2014/main" id="{D9264617-30E0-4236-BD05-584187AF13CE}"/>
              </a:ext>
            </a:extLst>
          </p:cNvPr>
          <p:cNvSpPr>
            <a:spLocks noGrp="1"/>
          </p:cNvSpPr>
          <p:nvPr/>
        </p:nvSpPr>
        <p:spPr>
          <a:xfrm>
            <a:off x="3286125" y="2314575"/>
            <a:ext cx="2562225" cy="2133600"/>
          </a:xfrm>
          <a:prstGeom prst="rect">
            <a:avLst/>
          </a:prstGeom>
          <a:solidFill>
            <a:srgbClr val="ECF2F4"/>
          </a:solidFill>
          <a:ln w="0">
            <a:noFill/>
            <a:prstDash val="solid"/>
          </a:ln>
        </p:spPr>
      </p:sp>
      <p:sp>
        <p:nvSpPr>
          <p:cNvPr id="15" name="Rectangle 14">
            <a:extLst>
              <a:ext uri="{FF2B5EF4-FFF2-40B4-BE49-F238E27FC236}">
                <a16:creationId xmlns:a16="http://schemas.microsoft.com/office/drawing/2014/main" id="{1CC0DBC8-A726-4B7F-BADC-0600E675105D}"/>
              </a:ext>
            </a:extLst>
          </p:cNvPr>
          <p:cNvSpPr>
            <a:spLocks noGrp="1"/>
          </p:cNvSpPr>
          <p:nvPr/>
        </p:nvSpPr>
        <p:spPr>
          <a:xfrm>
            <a:off x="3429000" y="2390775"/>
            <a:ext cx="2276475" cy="40957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Starting model: facebook/mms-1b-all</a:t>
            </a:r>
          </a:p>
        </p:txBody>
      </p:sp>
      <p:sp>
        <p:nvSpPr>
          <p:cNvPr id="16" name="Rectangle 15">
            <a:extLst>
              <a:ext uri="{FF2B5EF4-FFF2-40B4-BE49-F238E27FC236}">
                <a16:creationId xmlns:a16="http://schemas.microsoft.com/office/drawing/2014/main" id="{2E1E6FDA-F9CE-4753-BF00-D7A90A4C3580}"/>
              </a:ext>
            </a:extLst>
          </p:cNvPr>
          <p:cNvSpPr>
            <a:spLocks noGrp="1"/>
          </p:cNvSpPr>
          <p:nvPr/>
        </p:nvSpPr>
        <p:spPr>
          <a:xfrm>
            <a:off x="3429000" y="2895600"/>
            <a:ext cx="2276475" cy="828675"/>
          </a:xfrm>
          <a:prstGeom prst="rect">
            <a:avLst/>
          </a:prstGeom>
          <a:noFill/>
          <a:ln w="0">
            <a:noFill/>
            <a:prstDash val="solid"/>
          </a:ln>
        </p:spPr>
        <p:txBody>
          <a:bodyPr wrap="square" lIns="0" tIns="0" rIns="0" bIns="0" anchor="ctr">
            <a:normAutofit/>
          </a:bodyPr>
          <a:lstStyle>
            <a:defPPr algn="l">
              <a:defRPr sz="1500" b="1">
                <a:solidFill>
                  <a:srgbClr val="20324A"/>
                </a:solidFill>
                <a:latin typeface="Calibri"/>
                <a:ea typeface="Calibri"/>
                <a:cs typeface="Calibri"/>
              </a:defRPr>
            </a:defPPr>
            <a:lvl1pPr algn="l">
              <a:defRPr sz="1500" b="1">
                <a:solidFill>
                  <a:srgbClr val="20324A"/>
                </a:solidFill>
                <a:latin typeface="Calibri"/>
                <a:ea typeface="Calibri"/>
                <a:cs typeface="Calibri"/>
              </a:defRPr>
            </a:lvl1pPr>
            <a:lvl2pPr algn="l">
              <a:defRPr sz="1500" b="1">
                <a:solidFill>
                  <a:srgbClr val="20324A"/>
                </a:solidFill>
                <a:latin typeface="Calibri"/>
                <a:ea typeface="Calibri"/>
                <a:cs typeface="Calibri"/>
              </a:defRPr>
            </a:lvl2pPr>
            <a:lvl3pPr algn="l">
              <a:defRPr sz="1500" b="1">
                <a:solidFill>
                  <a:srgbClr val="20324A"/>
                </a:solidFill>
                <a:latin typeface="Calibri"/>
                <a:ea typeface="Calibri"/>
                <a:cs typeface="Calibri"/>
              </a:defRPr>
            </a:lvl3pPr>
            <a:lvl4pPr algn="l">
              <a:defRPr sz="1500" b="1">
                <a:solidFill>
                  <a:srgbClr val="20324A"/>
                </a:solidFill>
                <a:latin typeface="Calibri"/>
                <a:ea typeface="Calibri"/>
                <a:cs typeface="Calibri"/>
              </a:defRPr>
            </a:lvl4pPr>
            <a:lvl5pPr algn="l">
              <a:defRPr sz="1500" b="1">
                <a:solidFill>
                  <a:srgbClr val="20324A"/>
                </a:solidFill>
                <a:latin typeface="Calibri"/>
                <a:ea typeface="Calibri"/>
                <a:cs typeface="Calibri"/>
              </a:defRPr>
            </a:lvl5pPr>
            <a:lvl6pPr algn="l">
              <a:defRPr sz="1500" b="1">
                <a:solidFill>
                  <a:srgbClr val="20324A"/>
                </a:solidFill>
                <a:latin typeface="Calibri"/>
                <a:ea typeface="Calibri"/>
                <a:cs typeface="Calibri"/>
              </a:defRPr>
            </a:lvl6pPr>
            <a:lvl7pPr algn="l">
              <a:defRPr sz="1500" b="1">
                <a:solidFill>
                  <a:srgbClr val="20324A"/>
                </a:solidFill>
                <a:latin typeface="Calibri"/>
                <a:ea typeface="Calibri"/>
                <a:cs typeface="Calibri"/>
              </a:defRPr>
            </a:lvl7pPr>
            <a:lvl8pPr algn="l">
              <a:defRPr sz="1500" b="1">
                <a:solidFill>
                  <a:srgbClr val="20324A"/>
                </a:solidFill>
                <a:latin typeface="Calibri"/>
                <a:ea typeface="Calibri"/>
                <a:cs typeface="Calibri"/>
              </a:defRPr>
            </a:lvl8pPr>
            <a:lvl9pPr algn="l">
              <a:defRPr sz="1500" b="1">
                <a:solidFill>
                  <a:srgbClr val="20324A"/>
                </a:solidFill>
                <a:latin typeface="Calibri"/>
                <a:ea typeface="Calibri"/>
                <a:cs typeface="Calibri"/>
              </a:defRPr>
            </a:lvl9pPr>
          </a:lstStyle>
          <a:p>
            <a:pPr algn="l">
              <a:buNone/>
              <a:defRPr sz="1500" b="1">
                <a:solidFill>
                  <a:srgbClr val="20324A"/>
                </a:solidFill>
                <a:latin typeface="Calibri"/>
                <a:ea typeface="Calibri"/>
                <a:cs typeface="Calibri"/>
              </a:defRPr>
            </a:pPr>
            <a:r>
              <a:rPr sz="1500" b="1">
                <a:solidFill>
                  <a:srgbClr val="20324A"/>
                </a:solidFill>
                <a:latin typeface="Calibri"/>
                <a:ea typeface="Calibri"/>
                <a:cs typeface="Calibri"/>
              </a:rPr>
              <a:t>Partial fine-tuning: top 4 encoder layers and CTC head</a:t>
            </a:r>
          </a:p>
        </p:txBody>
      </p:sp>
      <p:sp>
        <p:nvSpPr>
          <p:cNvPr id="17" name="Rectangle 16">
            <a:extLst>
              <a:ext uri="{FF2B5EF4-FFF2-40B4-BE49-F238E27FC236}">
                <a16:creationId xmlns:a16="http://schemas.microsoft.com/office/drawing/2014/main" id="{0A413AB2-E592-4FCC-94A6-CEA05FB22C61}"/>
              </a:ext>
            </a:extLst>
          </p:cNvPr>
          <p:cNvSpPr>
            <a:spLocks noGrp="1"/>
          </p:cNvSpPr>
          <p:nvPr/>
        </p:nvSpPr>
        <p:spPr>
          <a:xfrm>
            <a:off x="3429000" y="3914775"/>
            <a:ext cx="2276475" cy="46672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531 clips · 15 epochs</a:t>
            </a:r>
          </a:p>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LR 3e-5 · best step 300</a:t>
            </a:r>
          </a:p>
        </p:txBody>
      </p:sp>
      <p:sp>
        <p:nvSpPr>
          <p:cNvPr id="18" name="Rectangle 17">
            <a:extLst>
              <a:ext uri="{FF2B5EF4-FFF2-40B4-BE49-F238E27FC236}">
                <a16:creationId xmlns:a16="http://schemas.microsoft.com/office/drawing/2014/main" id="{9F71DC15-5CC0-4605-B09C-0F0A13652FA5}"/>
              </a:ext>
            </a:extLst>
          </p:cNvPr>
          <p:cNvSpPr>
            <a:spLocks noGrp="1"/>
          </p:cNvSpPr>
          <p:nvPr/>
        </p:nvSpPr>
        <p:spPr>
          <a:xfrm>
            <a:off x="6115050" y="1695450"/>
            <a:ext cx="2571750" cy="619125"/>
          </a:xfrm>
          <a:prstGeom prst="rect">
            <a:avLst/>
          </a:prstGeom>
          <a:solidFill>
            <a:srgbClr val="2A9D92"/>
          </a:solidFill>
          <a:ln w="0">
            <a:noFill/>
            <a:prstDash val="solid"/>
          </a:ln>
        </p:spPr>
      </p:sp>
      <p:sp>
        <p:nvSpPr>
          <p:cNvPr id="19" name="Rectangle 18">
            <a:extLst>
              <a:ext uri="{FF2B5EF4-FFF2-40B4-BE49-F238E27FC236}">
                <a16:creationId xmlns:a16="http://schemas.microsoft.com/office/drawing/2014/main" id="{A00C1F16-AEC5-4EE9-A088-9BE7DDCE403F}"/>
              </a:ext>
            </a:extLst>
          </p:cNvPr>
          <p:cNvSpPr>
            <a:spLocks noGrp="1"/>
          </p:cNvSpPr>
          <p:nvPr/>
        </p:nvSpPr>
        <p:spPr>
          <a:xfrm>
            <a:off x="6248400" y="1771650"/>
            <a:ext cx="2305050" cy="447675"/>
          </a:xfrm>
          <a:prstGeom prst="rect">
            <a:avLst/>
          </a:prstGeom>
          <a:noFill/>
          <a:ln w="0">
            <a:noFill/>
            <a:prstDash val="solid"/>
          </a:ln>
        </p:spPr>
        <p:txBody>
          <a:bodyPr wrap="square" lIns="0" tIns="0" rIns="0" bIns="0" anchor="ctr">
            <a:normAutofit/>
          </a:bodyPr>
          <a:lstStyle>
            <a:defPPr algn="l">
              <a:defRPr sz="1650" b="1">
                <a:solidFill>
                  <a:srgbClr val="FFFFFF"/>
                </a:solidFill>
                <a:latin typeface="Cambria"/>
                <a:ea typeface="Cambria"/>
                <a:cs typeface="Cambria"/>
              </a:defRPr>
            </a:defPPr>
            <a:lvl1pPr algn="l">
              <a:defRPr sz="1650" b="1">
                <a:solidFill>
                  <a:srgbClr val="FFFFFF"/>
                </a:solidFill>
                <a:latin typeface="Cambria"/>
                <a:ea typeface="Cambria"/>
                <a:cs typeface="Cambria"/>
              </a:defRPr>
            </a:lvl1pPr>
            <a:lvl2pPr algn="l">
              <a:defRPr sz="1650" b="1">
                <a:solidFill>
                  <a:srgbClr val="FFFFFF"/>
                </a:solidFill>
                <a:latin typeface="Cambria"/>
                <a:ea typeface="Cambria"/>
                <a:cs typeface="Cambria"/>
              </a:defRPr>
            </a:lvl2pPr>
            <a:lvl3pPr algn="l">
              <a:defRPr sz="1650" b="1">
                <a:solidFill>
                  <a:srgbClr val="FFFFFF"/>
                </a:solidFill>
                <a:latin typeface="Cambria"/>
                <a:ea typeface="Cambria"/>
                <a:cs typeface="Cambria"/>
              </a:defRPr>
            </a:lvl3pPr>
            <a:lvl4pPr algn="l">
              <a:defRPr sz="1650" b="1">
                <a:solidFill>
                  <a:srgbClr val="FFFFFF"/>
                </a:solidFill>
                <a:latin typeface="Cambria"/>
                <a:ea typeface="Cambria"/>
                <a:cs typeface="Cambria"/>
              </a:defRPr>
            </a:lvl4pPr>
            <a:lvl5pPr algn="l">
              <a:defRPr sz="1650" b="1">
                <a:solidFill>
                  <a:srgbClr val="FFFFFF"/>
                </a:solidFill>
                <a:latin typeface="Cambria"/>
                <a:ea typeface="Cambria"/>
                <a:cs typeface="Cambria"/>
              </a:defRPr>
            </a:lvl5pPr>
            <a:lvl6pPr algn="l">
              <a:defRPr sz="1650" b="1">
                <a:solidFill>
                  <a:srgbClr val="FFFFFF"/>
                </a:solidFill>
                <a:latin typeface="Cambria"/>
                <a:ea typeface="Cambria"/>
                <a:cs typeface="Cambria"/>
              </a:defRPr>
            </a:lvl6pPr>
            <a:lvl7pPr algn="l">
              <a:defRPr sz="1650" b="1">
                <a:solidFill>
                  <a:srgbClr val="FFFFFF"/>
                </a:solidFill>
                <a:latin typeface="Cambria"/>
                <a:ea typeface="Cambria"/>
                <a:cs typeface="Cambria"/>
              </a:defRPr>
            </a:lvl7pPr>
            <a:lvl8pPr algn="l">
              <a:defRPr sz="1650" b="1">
                <a:solidFill>
                  <a:srgbClr val="FFFFFF"/>
                </a:solidFill>
                <a:latin typeface="Cambria"/>
                <a:ea typeface="Cambria"/>
                <a:cs typeface="Cambria"/>
              </a:defRPr>
            </a:lvl8pPr>
            <a:lvl9pPr algn="l">
              <a:defRPr sz="1650" b="1">
                <a:solidFill>
                  <a:srgbClr val="FFFFFF"/>
                </a:solidFill>
                <a:latin typeface="Cambria"/>
                <a:ea typeface="Cambria"/>
                <a:cs typeface="Cambria"/>
              </a:defRPr>
            </a:lvl9pPr>
          </a:lstStyle>
          <a:p>
            <a:pPr algn="l">
              <a:buNone/>
              <a:defRPr sz="1650" b="1">
                <a:solidFill>
                  <a:srgbClr val="FFFFFF"/>
                </a:solidFill>
                <a:latin typeface="Cambria"/>
                <a:ea typeface="Cambria"/>
                <a:cs typeface="Cambria"/>
              </a:defRPr>
            </a:pPr>
            <a:r>
              <a:rPr sz="1650" b="1">
                <a:solidFill>
                  <a:srgbClr val="FFFFFF"/>
                </a:solidFill>
                <a:latin typeface="Cambria"/>
                <a:ea typeface="Cambria"/>
                <a:cs typeface="Cambria"/>
              </a:rPr>
              <a:t>3  Qwen3-ASR 0.6B</a:t>
            </a:r>
          </a:p>
        </p:txBody>
      </p:sp>
      <p:sp>
        <p:nvSpPr>
          <p:cNvPr id="20" name="Rectangle 19">
            <a:extLst>
              <a:ext uri="{FF2B5EF4-FFF2-40B4-BE49-F238E27FC236}">
                <a16:creationId xmlns:a16="http://schemas.microsoft.com/office/drawing/2014/main" id="{55E53BC9-2D20-41DF-A312-1C9C919B4B7F}"/>
              </a:ext>
            </a:extLst>
          </p:cNvPr>
          <p:cNvSpPr>
            <a:spLocks noGrp="1"/>
          </p:cNvSpPr>
          <p:nvPr/>
        </p:nvSpPr>
        <p:spPr>
          <a:xfrm>
            <a:off x="6115050" y="2314575"/>
            <a:ext cx="2571750" cy="2133600"/>
          </a:xfrm>
          <a:prstGeom prst="rect">
            <a:avLst/>
          </a:prstGeom>
          <a:solidFill>
            <a:srgbClr val="ECF2F4"/>
          </a:solidFill>
          <a:ln w="0">
            <a:noFill/>
            <a:prstDash val="solid"/>
          </a:ln>
        </p:spPr>
      </p:sp>
      <p:sp>
        <p:nvSpPr>
          <p:cNvPr id="21" name="Rectangle 20">
            <a:extLst>
              <a:ext uri="{FF2B5EF4-FFF2-40B4-BE49-F238E27FC236}">
                <a16:creationId xmlns:a16="http://schemas.microsoft.com/office/drawing/2014/main" id="{CD401A60-CA1C-4150-AB1F-3C67D54CACB8}"/>
              </a:ext>
            </a:extLst>
          </p:cNvPr>
          <p:cNvSpPr>
            <a:spLocks noGrp="1"/>
          </p:cNvSpPr>
          <p:nvPr/>
        </p:nvSpPr>
        <p:spPr>
          <a:xfrm>
            <a:off x="6257925" y="2390775"/>
            <a:ext cx="2286000" cy="40957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Starting model: seanghay Khmer checkpoint</a:t>
            </a:r>
          </a:p>
        </p:txBody>
      </p:sp>
      <p:sp>
        <p:nvSpPr>
          <p:cNvPr id="22" name="Rectangle 21">
            <a:extLst>
              <a:ext uri="{FF2B5EF4-FFF2-40B4-BE49-F238E27FC236}">
                <a16:creationId xmlns:a16="http://schemas.microsoft.com/office/drawing/2014/main" id="{EA56938C-9042-41C9-B027-C389343B4FFE}"/>
              </a:ext>
            </a:extLst>
          </p:cNvPr>
          <p:cNvSpPr>
            <a:spLocks noGrp="1"/>
          </p:cNvSpPr>
          <p:nvPr/>
        </p:nvSpPr>
        <p:spPr>
          <a:xfrm>
            <a:off x="6257925" y="2895600"/>
            <a:ext cx="2286000" cy="828675"/>
          </a:xfrm>
          <a:prstGeom prst="rect">
            <a:avLst/>
          </a:prstGeom>
          <a:noFill/>
          <a:ln w="0">
            <a:noFill/>
            <a:prstDash val="solid"/>
          </a:ln>
        </p:spPr>
        <p:txBody>
          <a:bodyPr wrap="square" lIns="0" tIns="0" rIns="0" bIns="0" anchor="ctr">
            <a:normAutofit/>
          </a:bodyPr>
          <a:lstStyle>
            <a:defPPr algn="l">
              <a:defRPr sz="1500" b="1">
                <a:solidFill>
                  <a:srgbClr val="20324A"/>
                </a:solidFill>
                <a:latin typeface="Calibri"/>
                <a:ea typeface="Calibri"/>
                <a:cs typeface="Calibri"/>
              </a:defRPr>
            </a:defPPr>
            <a:lvl1pPr algn="l">
              <a:defRPr sz="1500" b="1">
                <a:solidFill>
                  <a:srgbClr val="20324A"/>
                </a:solidFill>
                <a:latin typeface="Calibri"/>
                <a:ea typeface="Calibri"/>
                <a:cs typeface="Calibri"/>
              </a:defRPr>
            </a:lvl1pPr>
            <a:lvl2pPr algn="l">
              <a:defRPr sz="1500" b="1">
                <a:solidFill>
                  <a:srgbClr val="20324A"/>
                </a:solidFill>
                <a:latin typeface="Calibri"/>
                <a:ea typeface="Calibri"/>
                <a:cs typeface="Calibri"/>
              </a:defRPr>
            </a:lvl2pPr>
            <a:lvl3pPr algn="l">
              <a:defRPr sz="1500" b="1">
                <a:solidFill>
                  <a:srgbClr val="20324A"/>
                </a:solidFill>
                <a:latin typeface="Calibri"/>
                <a:ea typeface="Calibri"/>
                <a:cs typeface="Calibri"/>
              </a:defRPr>
            </a:lvl3pPr>
            <a:lvl4pPr algn="l">
              <a:defRPr sz="1500" b="1">
                <a:solidFill>
                  <a:srgbClr val="20324A"/>
                </a:solidFill>
                <a:latin typeface="Calibri"/>
                <a:ea typeface="Calibri"/>
                <a:cs typeface="Calibri"/>
              </a:defRPr>
            </a:lvl4pPr>
            <a:lvl5pPr algn="l">
              <a:defRPr sz="1500" b="1">
                <a:solidFill>
                  <a:srgbClr val="20324A"/>
                </a:solidFill>
                <a:latin typeface="Calibri"/>
                <a:ea typeface="Calibri"/>
                <a:cs typeface="Calibri"/>
              </a:defRPr>
            </a:lvl5pPr>
            <a:lvl6pPr algn="l">
              <a:defRPr sz="1500" b="1">
                <a:solidFill>
                  <a:srgbClr val="20324A"/>
                </a:solidFill>
                <a:latin typeface="Calibri"/>
                <a:ea typeface="Calibri"/>
                <a:cs typeface="Calibri"/>
              </a:defRPr>
            </a:lvl6pPr>
            <a:lvl7pPr algn="l">
              <a:defRPr sz="1500" b="1">
                <a:solidFill>
                  <a:srgbClr val="20324A"/>
                </a:solidFill>
                <a:latin typeface="Calibri"/>
                <a:ea typeface="Calibri"/>
                <a:cs typeface="Calibri"/>
              </a:defRPr>
            </a:lvl7pPr>
            <a:lvl8pPr algn="l">
              <a:defRPr sz="1500" b="1">
                <a:solidFill>
                  <a:srgbClr val="20324A"/>
                </a:solidFill>
                <a:latin typeface="Calibri"/>
                <a:ea typeface="Calibri"/>
                <a:cs typeface="Calibri"/>
              </a:defRPr>
            </a:lvl8pPr>
            <a:lvl9pPr algn="l">
              <a:defRPr sz="1500" b="1">
                <a:solidFill>
                  <a:srgbClr val="20324A"/>
                </a:solidFill>
                <a:latin typeface="Calibri"/>
                <a:ea typeface="Calibri"/>
                <a:cs typeface="Calibri"/>
              </a:defRPr>
            </a:lvl9pPr>
          </a:lstStyle>
          <a:p>
            <a:pPr algn="l">
              <a:buNone/>
              <a:defRPr sz="1500" b="1">
                <a:solidFill>
                  <a:srgbClr val="20324A"/>
                </a:solidFill>
                <a:latin typeface="Calibri"/>
                <a:ea typeface="Calibri"/>
                <a:cs typeface="Calibri"/>
              </a:defRPr>
            </a:pPr>
            <a:r>
              <a:rPr sz="1500" b="1">
                <a:solidFill>
                  <a:srgbClr val="20324A"/>
                </a:solidFill>
                <a:latin typeface="Calibri"/>
                <a:ea typeface="Calibri"/>
                <a:cs typeface="Calibri"/>
              </a:rPr>
              <a:t>LoRA fine-tuning: trained a small adapter</a:t>
            </a:r>
          </a:p>
        </p:txBody>
      </p:sp>
      <p:sp>
        <p:nvSpPr>
          <p:cNvPr id="23" name="Rectangle 22">
            <a:extLst>
              <a:ext uri="{FF2B5EF4-FFF2-40B4-BE49-F238E27FC236}">
                <a16:creationId xmlns:a16="http://schemas.microsoft.com/office/drawing/2014/main" id="{E191ABBC-FF1B-4F39-95D7-F4114F11444F}"/>
              </a:ext>
            </a:extLst>
          </p:cNvPr>
          <p:cNvSpPr>
            <a:spLocks noGrp="1"/>
          </p:cNvSpPr>
          <p:nvPr/>
        </p:nvSpPr>
        <p:spPr>
          <a:xfrm>
            <a:off x="6257925" y="3914775"/>
            <a:ext cx="2286000" cy="46672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16,720 effective · 3 epochs</a:t>
            </a:r>
          </a:p>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LR 1e-5 · best epoch 1</a:t>
            </a:r>
          </a:p>
        </p:txBody>
      </p:sp>
      <p:pic>
        <p:nvPicPr>
          <p:cNvPr id="26" name="Picture 25">
            <a:extLst>
              <a:ext uri="{FF2B5EF4-FFF2-40B4-BE49-F238E27FC236}">
                <a16:creationId xmlns:a16="http://schemas.microsoft.com/office/drawing/2014/main" id="{51F674FE-9C46-41F7-B9FB-6E5F5E7B174A}"/>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24827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6AEBB68-0B28-47C8-B83C-488B59DFFDB7}"/>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Why these three models?</a:t>
            </a:r>
          </a:p>
        </p:txBody>
      </p:sp>
      <p:sp>
        <p:nvSpPr>
          <p:cNvPr id="2" name="Rectangle 1">
            <a:extLst>
              <a:ext uri="{FF2B5EF4-FFF2-40B4-BE49-F238E27FC236}">
                <a16:creationId xmlns:a16="http://schemas.microsoft.com/office/drawing/2014/main" id="{9061228A-188A-407D-8652-7D7152CBE492}"/>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507E83B8-8F65-4E67-802D-F244FFC3A80F}"/>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1AD2B540-AC06-46B8-836C-698B8E956B69}"/>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6</a:t>
            </a:r>
          </a:p>
        </p:txBody>
      </p:sp>
      <p:sp>
        <p:nvSpPr>
          <p:cNvPr id="5" name="Rectangle 4">
            <a:extLst>
              <a:ext uri="{FF2B5EF4-FFF2-40B4-BE49-F238E27FC236}">
                <a16:creationId xmlns:a16="http://schemas.microsoft.com/office/drawing/2014/main" id="{F5CC8090-110A-463A-97C7-55A0F36E2029}"/>
              </a:ext>
            </a:extLst>
          </p:cNvPr>
          <p:cNvSpPr>
            <a:spLocks noGrp="1"/>
          </p:cNvSpPr>
          <p:nvPr/>
        </p:nvSpPr>
        <p:spPr>
          <a:xfrm>
            <a:off x="628650" y="1343025"/>
            <a:ext cx="57150" cy="752475"/>
          </a:xfrm>
          <a:prstGeom prst="rect">
            <a:avLst/>
          </a:prstGeom>
          <a:solidFill>
            <a:srgbClr val="D3663D"/>
          </a:solidFill>
          <a:ln w="0">
            <a:noFill/>
            <a:prstDash val="solid"/>
          </a:ln>
        </p:spPr>
      </p:sp>
      <p:sp>
        <p:nvSpPr>
          <p:cNvPr id="6" name="Rectangle 5">
            <a:extLst>
              <a:ext uri="{FF2B5EF4-FFF2-40B4-BE49-F238E27FC236}">
                <a16:creationId xmlns:a16="http://schemas.microsoft.com/office/drawing/2014/main" id="{0FAAABB7-341F-41F5-B710-3904131D7924}"/>
              </a:ext>
            </a:extLst>
          </p:cNvPr>
          <p:cNvSpPr>
            <a:spLocks noGrp="1"/>
          </p:cNvSpPr>
          <p:nvPr/>
        </p:nvSpPr>
        <p:spPr>
          <a:xfrm>
            <a:off x="847725" y="1381125"/>
            <a:ext cx="2028825" cy="323850"/>
          </a:xfrm>
          <a:prstGeom prst="rect">
            <a:avLst/>
          </a:prstGeom>
          <a:noFill/>
          <a:ln w="0">
            <a:noFill/>
            <a:prstDash val="solid"/>
          </a:ln>
        </p:spPr>
        <p:txBody>
          <a:bodyPr wrap="square" lIns="0" tIns="0" rIns="0" bIns="0" anchor="ctr">
            <a:normAutofit/>
          </a:bodyPr>
          <a:lstStyle>
            <a:defPPr algn="l">
              <a:defRPr sz="1650" b="1">
                <a:solidFill>
                  <a:srgbClr val="D3663D"/>
                </a:solidFill>
                <a:latin typeface="Calibri"/>
                <a:ea typeface="Calibri"/>
                <a:cs typeface="Calibri"/>
              </a:defRPr>
            </a:defPPr>
            <a:lvl1pPr algn="l">
              <a:defRPr sz="1650" b="1">
                <a:solidFill>
                  <a:srgbClr val="D3663D"/>
                </a:solidFill>
                <a:latin typeface="Calibri"/>
                <a:ea typeface="Calibri"/>
                <a:cs typeface="Calibri"/>
              </a:defRPr>
            </a:lvl1pPr>
            <a:lvl2pPr algn="l">
              <a:defRPr sz="1650" b="1">
                <a:solidFill>
                  <a:srgbClr val="D3663D"/>
                </a:solidFill>
                <a:latin typeface="Calibri"/>
                <a:ea typeface="Calibri"/>
                <a:cs typeface="Calibri"/>
              </a:defRPr>
            </a:lvl2pPr>
            <a:lvl3pPr algn="l">
              <a:defRPr sz="1650" b="1">
                <a:solidFill>
                  <a:srgbClr val="D3663D"/>
                </a:solidFill>
                <a:latin typeface="Calibri"/>
                <a:ea typeface="Calibri"/>
                <a:cs typeface="Calibri"/>
              </a:defRPr>
            </a:lvl3pPr>
            <a:lvl4pPr algn="l">
              <a:defRPr sz="1650" b="1">
                <a:solidFill>
                  <a:srgbClr val="D3663D"/>
                </a:solidFill>
                <a:latin typeface="Calibri"/>
                <a:ea typeface="Calibri"/>
                <a:cs typeface="Calibri"/>
              </a:defRPr>
            </a:lvl4pPr>
            <a:lvl5pPr algn="l">
              <a:defRPr sz="1650" b="1">
                <a:solidFill>
                  <a:srgbClr val="D3663D"/>
                </a:solidFill>
                <a:latin typeface="Calibri"/>
                <a:ea typeface="Calibri"/>
                <a:cs typeface="Calibri"/>
              </a:defRPr>
            </a:lvl5pPr>
            <a:lvl6pPr algn="l">
              <a:defRPr sz="1650" b="1">
                <a:solidFill>
                  <a:srgbClr val="D3663D"/>
                </a:solidFill>
                <a:latin typeface="Calibri"/>
                <a:ea typeface="Calibri"/>
                <a:cs typeface="Calibri"/>
              </a:defRPr>
            </a:lvl6pPr>
            <a:lvl7pPr algn="l">
              <a:defRPr sz="1650" b="1">
                <a:solidFill>
                  <a:srgbClr val="D3663D"/>
                </a:solidFill>
                <a:latin typeface="Calibri"/>
                <a:ea typeface="Calibri"/>
                <a:cs typeface="Calibri"/>
              </a:defRPr>
            </a:lvl7pPr>
            <a:lvl8pPr algn="l">
              <a:defRPr sz="1650" b="1">
                <a:solidFill>
                  <a:srgbClr val="D3663D"/>
                </a:solidFill>
                <a:latin typeface="Calibri"/>
                <a:ea typeface="Calibri"/>
                <a:cs typeface="Calibri"/>
              </a:defRPr>
            </a:lvl8pPr>
            <a:lvl9pPr algn="l">
              <a:defRPr sz="1650" b="1">
                <a:solidFill>
                  <a:srgbClr val="D3663D"/>
                </a:solidFill>
                <a:latin typeface="Calibri"/>
                <a:ea typeface="Calibri"/>
                <a:cs typeface="Calibri"/>
              </a:defRPr>
            </a:lvl9pPr>
          </a:lstStyle>
          <a:p>
            <a:pPr algn="l">
              <a:buNone/>
              <a:defRPr sz="1650" b="1">
                <a:solidFill>
                  <a:srgbClr val="D3663D"/>
                </a:solidFill>
                <a:latin typeface="Calibri"/>
                <a:ea typeface="Calibri"/>
                <a:cs typeface="Calibri"/>
              </a:defRPr>
            </a:pPr>
            <a:r>
              <a:rPr sz="1650" b="1">
                <a:solidFill>
                  <a:srgbClr val="D3663D"/>
                </a:solidFill>
                <a:latin typeface="Calibri"/>
                <a:ea typeface="Calibri"/>
                <a:cs typeface="Calibri"/>
              </a:rPr>
              <a:t>Whisper-Tiny</a:t>
            </a:r>
          </a:p>
        </p:txBody>
      </p:sp>
      <p:sp>
        <p:nvSpPr>
          <p:cNvPr id="7" name="Rectangle 6">
            <a:extLst>
              <a:ext uri="{FF2B5EF4-FFF2-40B4-BE49-F238E27FC236}">
                <a16:creationId xmlns:a16="http://schemas.microsoft.com/office/drawing/2014/main" id="{3ADA9025-EB64-4BE4-B173-BCC27E48DB28}"/>
              </a:ext>
            </a:extLst>
          </p:cNvPr>
          <p:cNvSpPr>
            <a:spLocks noGrp="1"/>
          </p:cNvSpPr>
          <p:nvPr/>
        </p:nvSpPr>
        <p:spPr>
          <a:xfrm>
            <a:off x="2924175" y="1362075"/>
            <a:ext cx="5476875" cy="714375"/>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Small encoder-decoder baseline; tests full fine-tuning of a widely used generative ASR model.</a:t>
            </a:r>
          </a:p>
        </p:txBody>
      </p:sp>
      <p:sp>
        <p:nvSpPr>
          <p:cNvPr id="8" name="Rectangle 7">
            <a:extLst>
              <a:ext uri="{FF2B5EF4-FFF2-40B4-BE49-F238E27FC236}">
                <a16:creationId xmlns:a16="http://schemas.microsoft.com/office/drawing/2014/main" id="{20DFDFFC-AA51-447C-9C52-A8C7DBC3F3EE}"/>
              </a:ext>
            </a:extLst>
          </p:cNvPr>
          <p:cNvSpPr>
            <a:spLocks noGrp="1"/>
          </p:cNvSpPr>
          <p:nvPr/>
        </p:nvSpPr>
        <p:spPr>
          <a:xfrm>
            <a:off x="628650" y="2314575"/>
            <a:ext cx="57150" cy="752475"/>
          </a:xfrm>
          <a:prstGeom prst="rect">
            <a:avLst/>
          </a:prstGeom>
          <a:solidFill>
            <a:srgbClr val="174E6E"/>
          </a:solidFill>
          <a:ln w="0">
            <a:noFill/>
            <a:prstDash val="solid"/>
          </a:ln>
        </p:spPr>
      </p:sp>
      <p:sp>
        <p:nvSpPr>
          <p:cNvPr id="9" name="Rectangle 8">
            <a:extLst>
              <a:ext uri="{FF2B5EF4-FFF2-40B4-BE49-F238E27FC236}">
                <a16:creationId xmlns:a16="http://schemas.microsoft.com/office/drawing/2014/main" id="{50708BD1-D5D4-4B9F-9745-BCA2A2DFF7AA}"/>
              </a:ext>
            </a:extLst>
          </p:cNvPr>
          <p:cNvSpPr>
            <a:spLocks noGrp="1"/>
          </p:cNvSpPr>
          <p:nvPr/>
        </p:nvSpPr>
        <p:spPr>
          <a:xfrm>
            <a:off x="847725" y="2352675"/>
            <a:ext cx="2028825" cy="323850"/>
          </a:xfrm>
          <a:prstGeom prst="rect">
            <a:avLst/>
          </a:prstGeom>
          <a:noFill/>
          <a:ln w="0">
            <a:noFill/>
            <a:prstDash val="solid"/>
          </a:ln>
        </p:spPr>
        <p:txBody>
          <a:bodyPr wrap="square" lIns="0" tIns="0" rIns="0" bIns="0" anchor="ctr">
            <a:normAutofit/>
          </a:bodyPr>
          <a:lstStyle>
            <a:defPPr algn="l">
              <a:defRPr sz="1650" b="1">
                <a:solidFill>
                  <a:srgbClr val="174E6E"/>
                </a:solidFill>
                <a:latin typeface="Calibri"/>
                <a:ea typeface="Calibri"/>
                <a:cs typeface="Calibri"/>
              </a:defRPr>
            </a:defPPr>
            <a:lvl1pPr algn="l">
              <a:defRPr sz="1650" b="1">
                <a:solidFill>
                  <a:srgbClr val="174E6E"/>
                </a:solidFill>
                <a:latin typeface="Calibri"/>
                <a:ea typeface="Calibri"/>
                <a:cs typeface="Calibri"/>
              </a:defRPr>
            </a:lvl1pPr>
            <a:lvl2pPr algn="l">
              <a:defRPr sz="1650" b="1">
                <a:solidFill>
                  <a:srgbClr val="174E6E"/>
                </a:solidFill>
                <a:latin typeface="Calibri"/>
                <a:ea typeface="Calibri"/>
                <a:cs typeface="Calibri"/>
              </a:defRPr>
            </a:lvl2pPr>
            <a:lvl3pPr algn="l">
              <a:defRPr sz="1650" b="1">
                <a:solidFill>
                  <a:srgbClr val="174E6E"/>
                </a:solidFill>
                <a:latin typeface="Calibri"/>
                <a:ea typeface="Calibri"/>
                <a:cs typeface="Calibri"/>
              </a:defRPr>
            </a:lvl3pPr>
            <a:lvl4pPr algn="l">
              <a:defRPr sz="1650" b="1">
                <a:solidFill>
                  <a:srgbClr val="174E6E"/>
                </a:solidFill>
                <a:latin typeface="Calibri"/>
                <a:ea typeface="Calibri"/>
                <a:cs typeface="Calibri"/>
              </a:defRPr>
            </a:lvl4pPr>
            <a:lvl5pPr algn="l">
              <a:defRPr sz="1650" b="1">
                <a:solidFill>
                  <a:srgbClr val="174E6E"/>
                </a:solidFill>
                <a:latin typeface="Calibri"/>
                <a:ea typeface="Calibri"/>
                <a:cs typeface="Calibri"/>
              </a:defRPr>
            </a:lvl5pPr>
            <a:lvl6pPr algn="l">
              <a:defRPr sz="1650" b="1">
                <a:solidFill>
                  <a:srgbClr val="174E6E"/>
                </a:solidFill>
                <a:latin typeface="Calibri"/>
                <a:ea typeface="Calibri"/>
                <a:cs typeface="Calibri"/>
              </a:defRPr>
            </a:lvl6pPr>
            <a:lvl7pPr algn="l">
              <a:defRPr sz="1650" b="1">
                <a:solidFill>
                  <a:srgbClr val="174E6E"/>
                </a:solidFill>
                <a:latin typeface="Calibri"/>
                <a:ea typeface="Calibri"/>
                <a:cs typeface="Calibri"/>
              </a:defRPr>
            </a:lvl7pPr>
            <a:lvl8pPr algn="l">
              <a:defRPr sz="1650" b="1">
                <a:solidFill>
                  <a:srgbClr val="174E6E"/>
                </a:solidFill>
                <a:latin typeface="Calibri"/>
                <a:ea typeface="Calibri"/>
                <a:cs typeface="Calibri"/>
              </a:defRPr>
            </a:lvl8pPr>
            <a:lvl9pPr algn="l">
              <a:defRPr sz="1650" b="1">
                <a:solidFill>
                  <a:srgbClr val="174E6E"/>
                </a:solidFill>
                <a:latin typeface="Calibri"/>
                <a:ea typeface="Calibri"/>
                <a:cs typeface="Calibri"/>
              </a:defRPr>
            </a:lvl9pPr>
          </a:lstStyle>
          <a:p>
            <a:pPr algn="l">
              <a:buNone/>
              <a:defRPr sz="1650" b="1">
                <a:solidFill>
                  <a:srgbClr val="174E6E"/>
                </a:solidFill>
                <a:latin typeface="Calibri"/>
                <a:ea typeface="Calibri"/>
                <a:cs typeface="Calibri"/>
              </a:defRPr>
            </a:pPr>
            <a:r>
              <a:rPr sz="1650" b="1">
                <a:solidFill>
                  <a:srgbClr val="174E6E"/>
                </a:solidFill>
                <a:latin typeface="Calibri"/>
                <a:ea typeface="Calibri"/>
                <a:cs typeface="Calibri"/>
              </a:rPr>
              <a:t>MMS-1B CTC</a:t>
            </a:r>
          </a:p>
        </p:txBody>
      </p:sp>
      <p:sp>
        <p:nvSpPr>
          <p:cNvPr id="10" name="Rectangle 9">
            <a:extLst>
              <a:ext uri="{FF2B5EF4-FFF2-40B4-BE49-F238E27FC236}">
                <a16:creationId xmlns:a16="http://schemas.microsoft.com/office/drawing/2014/main" id="{F437D270-6C55-44DF-BA04-025BBBAA1127}"/>
              </a:ext>
            </a:extLst>
          </p:cNvPr>
          <p:cNvSpPr>
            <a:spLocks noGrp="1"/>
          </p:cNvSpPr>
          <p:nvPr/>
        </p:nvSpPr>
        <p:spPr>
          <a:xfrm>
            <a:off x="2924175" y="2333625"/>
            <a:ext cx="5476875" cy="714375"/>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Large multilingual speech encoder; tests partial fine-tuning with CTC decoding.</a:t>
            </a:r>
          </a:p>
        </p:txBody>
      </p:sp>
      <p:sp>
        <p:nvSpPr>
          <p:cNvPr id="11" name="Rectangle 10">
            <a:extLst>
              <a:ext uri="{FF2B5EF4-FFF2-40B4-BE49-F238E27FC236}">
                <a16:creationId xmlns:a16="http://schemas.microsoft.com/office/drawing/2014/main" id="{3A65BFCE-6FA8-4787-8097-B47FFF095136}"/>
              </a:ext>
            </a:extLst>
          </p:cNvPr>
          <p:cNvSpPr>
            <a:spLocks noGrp="1"/>
          </p:cNvSpPr>
          <p:nvPr/>
        </p:nvSpPr>
        <p:spPr>
          <a:xfrm>
            <a:off x="628650" y="3286125"/>
            <a:ext cx="57150" cy="752475"/>
          </a:xfrm>
          <a:prstGeom prst="rect">
            <a:avLst/>
          </a:prstGeom>
          <a:solidFill>
            <a:srgbClr val="2A9D92"/>
          </a:solidFill>
          <a:ln w="0">
            <a:noFill/>
            <a:prstDash val="solid"/>
          </a:ln>
        </p:spPr>
      </p:sp>
      <p:sp>
        <p:nvSpPr>
          <p:cNvPr id="12" name="Rectangle 11">
            <a:extLst>
              <a:ext uri="{FF2B5EF4-FFF2-40B4-BE49-F238E27FC236}">
                <a16:creationId xmlns:a16="http://schemas.microsoft.com/office/drawing/2014/main" id="{51B9A959-A4F0-4D61-8C07-BB5A54288C8A}"/>
              </a:ext>
            </a:extLst>
          </p:cNvPr>
          <p:cNvSpPr>
            <a:spLocks noGrp="1"/>
          </p:cNvSpPr>
          <p:nvPr/>
        </p:nvSpPr>
        <p:spPr>
          <a:xfrm>
            <a:off x="847725" y="3324225"/>
            <a:ext cx="2028825" cy="323850"/>
          </a:xfrm>
          <a:prstGeom prst="rect">
            <a:avLst/>
          </a:prstGeom>
          <a:noFill/>
          <a:ln w="0">
            <a:noFill/>
            <a:prstDash val="solid"/>
          </a:ln>
        </p:spPr>
        <p:txBody>
          <a:bodyPr wrap="square" lIns="0" tIns="0" rIns="0" bIns="0" anchor="ctr">
            <a:normAutofit/>
          </a:bodyPr>
          <a:lstStyle>
            <a:defPPr algn="l">
              <a:defRPr sz="1650" b="1">
                <a:solidFill>
                  <a:srgbClr val="2A9D92"/>
                </a:solidFill>
                <a:latin typeface="Calibri"/>
                <a:ea typeface="Calibri"/>
                <a:cs typeface="Calibri"/>
              </a:defRPr>
            </a:defPPr>
            <a:lvl1pPr algn="l">
              <a:defRPr sz="1650" b="1">
                <a:solidFill>
                  <a:srgbClr val="2A9D92"/>
                </a:solidFill>
                <a:latin typeface="Calibri"/>
                <a:ea typeface="Calibri"/>
                <a:cs typeface="Calibri"/>
              </a:defRPr>
            </a:lvl1pPr>
            <a:lvl2pPr algn="l">
              <a:defRPr sz="1650" b="1">
                <a:solidFill>
                  <a:srgbClr val="2A9D92"/>
                </a:solidFill>
                <a:latin typeface="Calibri"/>
                <a:ea typeface="Calibri"/>
                <a:cs typeface="Calibri"/>
              </a:defRPr>
            </a:lvl2pPr>
            <a:lvl3pPr algn="l">
              <a:defRPr sz="1650" b="1">
                <a:solidFill>
                  <a:srgbClr val="2A9D92"/>
                </a:solidFill>
                <a:latin typeface="Calibri"/>
                <a:ea typeface="Calibri"/>
                <a:cs typeface="Calibri"/>
              </a:defRPr>
            </a:lvl3pPr>
            <a:lvl4pPr algn="l">
              <a:defRPr sz="1650" b="1">
                <a:solidFill>
                  <a:srgbClr val="2A9D92"/>
                </a:solidFill>
                <a:latin typeface="Calibri"/>
                <a:ea typeface="Calibri"/>
                <a:cs typeface="Calibri"/>
              </a:defRPr>
            </a:lvl4pPr>
            <a:lvl5pPr algn="l">
              <a:defRPr sz="1650" b="1">
                <a:solidFill>
                  <a:srgbClr val="2A9D92"/>
                </a:solidFill>
                <a:latin typeface="Calibri"/>
                <a:ea typeface="Calibri"/>
                <a:cs typeface="Calibri"/>
              </a:defRPr>
            </a:lvl5pPr>
            <a:lvl6pPr algn="l">
              <a:defRPr sz="1650" b="1">
                <a:solidFill>
                  <a:srgbClr val="2A9D92"/>
                </a:solidFill>
                <a:latin typeface="Calibri"/>
                <a:ea typeface="Calibri"/>
                <a:cs typeface="Calibri"/>
              </a:defRPr>
            </a:lvl6pPr>
            <a:lvl7pPr algn="l">
              <a:defRPr sz="1650" b="1">
                <a:solidFill>
                  <a:srgbClr val="2A9D92"/>
                </a:solidFill>
                <a:latin typeface="Calibri"/>
                <a:ea typeface="Calibri"/>
                <a:cs typeface="Calibri"/>
              </a:defRPr>
            </a:lvl7pPr>
            <a:lvl8pPr algn="l">
              <a:defRPr sz="1650" b="1">
                <a:solidFill>
                  <a:srgbClr val="2A9D92"/>
                </a:solidFill>
                <a:latin typeface="Calibri"/>
                <a:ea typeface="Calibri"/>
                <a:cs typeface="Calibri"/>
              </a:defRPr>
            </a:lvl8pPr>
            <a:lvl9pPr algn="l">
              <a:defRPr sz="1650" b="1">
                <a:solidFill>
                  <a:srgbClr val="2A9D92"/>
                </a:solidFill>
                <a:latin typeface="Calibri"/>
                <a:ea typeface="Calibri"/>
                <a:cs typeface="Calibri"/>
              </a:defRPr>
            </a:lvl9pPr>
          </a:lstStyle>
          <a:p>
            <a:pPr algn="l">
              <a:buNone/>
              <a:defRPr sz="1650" b="1">
                <a:solidFill>
                  <a:srgbClr val="2A9D92"/>
                </a:solidFill>
                <a:latin typeface="Calibri"/>
                <a:ea typeface="Calibri"/>
                <a:cs typeface="Calibri"/>
              </a:defRPr>
            </a:pPr>
            <a:r>
              <a:rPr sz="1650" b="1">
                <a:solidFill>
                  <a:srgbClr val="2A9D92"/>
                </a:solidFill>
                <a:latin typeface="Calibri"/>
                <a:ea typeface="Calibri"/>
                <a:cs typeface="Calibri"/>
              </a:rPr>
              <a:t>Qwen3-ASR</a:t>
            </a:r>
          </a:p>
        </p:txBody>
      </p:sp>
      <p:sp>
        <p:nvSpPr>
          <p:cNvPr id="13" name="Rectangle 12">
            <a:extLst>
              <a:ext uri="{FF2B5EF4-FFF2-40B4-BE49-F238E27FC236}">
                <a16:creationId xmlns:a16="http://schemas.microsoft.com/office/drawing/2014/main" id="{777C34DA-3A70-4D7D-88B9-605238FECCD7}"/>
              </a:ext>
            </a:extLst>
          </p:cNvPr>
          <p:cNvSpPr>
            <a:spLocks noGrp="1"/>
          </p:cNvSpPr>
          <p:nvPr/>
        </p:nvSpPr>
        <p:spPr>
          <a:xfrm>
            <a:off x="2924175" y="3305175"/>
            <a:ext cx="5476875" cy="714375"/>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Khmer-adapted generative model; tests parameter-efficient LoRA with more public data.</a:t>
            </a:r>
          </a:p>
        </p:txBody>
      </p:sp>
      <p:sp>
        <p:nvSpPr>
          <p:cNvPr id="14" name="Rectangle 13">
            <a:extLst>
              <a:ext uri="{FF2B5EF4-FFF2-40B4-BE49-F238E27FC236}">
                <a16:creationId xmlns:a16="http://schemas.microsoft.com/office/drawing/2014/main" id="{51CD1D92-E326-492A-BA73-A5D258ED84D7}"/>
              </a:ext>
            </a:extLst>
          </p:cNvPr>
          <p:cNvSpPr>
            <a:spLocks noGrp="1"/>
          </p:cNvSpPr>
          <p:nvPr/>
        </p:nvSpPr>
        <p:spPr>
          <a:xfrm>
            <a:off x="628650" y="4314825"/>
            <a:ext cx="7877175" cy="400050"/>
          </a:xfrm>
          <a:prstGeom prst="rect">
            <a:avLst/>
          </a:prstGeom>
          <a:noFill/>
          <a:ln w="0">
            <a:noFill/>
            <a:prstDash val="solid"/>
          </a:ln>
        </p:spPr>
        <p:txBody>
          <a:bodyPr wrap="square" lIns="0" tIns="0" rIns="0" bIns="0" anchor="ctr">
            <a:normAutofit/>
          </a:bodyPr>
          <a:lstStyle>
            <a:defPPr algn="l">
              <a:defRPr sz="1275" b="0">
                <a:solidFill>
                  <a:srgbClr val="5C6C7B"/>
                </a:solidFill>
                <a:latin typeface="Calibri"/>
                <a:ea typeface="Calibri"/>
                <a:cs typeface="Calibri"/>
              </a:defRPr>
            </a:defPPr>
            <a:lvl1pPr algn="l">
              <a:defRPr sz="1275" b="0">
                <a:solidFill>
                  <a:srgbClr val="5C6C7B"/>
                </a:solidFill>
                <a:latin typeface="Calibri"/>
                <a:ea typeface="Calibri"/>
                <a:cs typeface="Calibri"/>
              </a:defRPr>
            </a:lvl1pPr>
            <a:lvl2pPr algn="l">
              <a:defRPr sz="1275" b="0">
                <a:solidFill>
                  <a:srgbClr val="5C6C7B"/>
                </a:solidFill>
                <a:latin typeface="Calibri"/>
                <a:ea typeface="Calibri"/>
                <a:cs typeface="Calibri"/>
              </a:defRPr>
            </a:lvl2pPr>
            <a:lvl3pPr algn="l">
              <a:defRPr sz="1275" b="0">
                <a:solidFill>
                  <a:srgbClr val="5C6C7B"/>
                </a:solidFill>
                <a:latin typeface="Calibri"/>
                <a:ea typeface="Calibri"/>
                <a:cs typeface="Calibri"/>
              </a:defRPr>
            </a:lvl3pPr>
            <a:lvl4pPr algn="l">
              <a:defRPr sz="1275" b="0">
                <a:solidFill>
                  <a:srgbClr val="5C6C7B"/>
                </a:solidFill>
                <a:latin typeface="Calibri"/>
                <a:ea typeface="Calibri"/>
                <a:cs typeface="Calibri"/>
              </a:defRPr>
            </a:lvl4pPr>
            <a:lvl5pPr algn="l">
              <a:defRPr sz="1275" b="0">
                <a:solidFill>
                  <a:srgbClr val="5C6C7B"/>
                </a:solidFill>
                <a:latin typeface="Calibri"/>
                <a:ea typeface="Calibri"/>
                <a:cs typeface="Calibri"/>
              </a:defRPr>
            </a:lvl5pPr>
            <a:lvl6pPr algn="l">
              <a:defRPr sz="1275" b="0">
                <a:solidFill>
                  <a:srgbClr val="5C6C7B"/>
                </a:solidFill>
                <a:latin typeface="Calibri"/>
                <a:ea typeface="Calibri"/>
                <a:cs typeface="Calibri"/>
              </a:defRPr>
            </a:lvl6pPr>
            <a:lvl7pPr algn="l">
              <a:defRPr sz="1275" b="0">
                <a:solidFill>
                  <a:srgbClr val="5C6C7B"/>
                </a:solidFill>
                <a:latin typeface="Calibri"/>
                <a:ea typeface="Calibri"/>
                <a:cs typeface="Calibri"/>
              </a:defRPr>
            </a:lvl7pPr>
            <a:lvl8pPr algn="l">
              <a:defRPr sz="1275" b="0">
                <a:solidFill>
                  <a:srgbClr val="5C6C7B"/>
                </a:solidFill>
                <a:latin typeface="Calibri"/>
                <a:ea typeface="Calibri"/>
                <a:cs typeface="Calibri"/>
              </a:defRPr>
            </a:lvl8pPr>
            <a:lvl9pPr algn="l">
              <a:defRPr sz="1275" b="0">
                <a:solidFill>
                  <a:srgbClr val="5C6C7B"/>
                </a:solidFill>
                <a:latin typeface="Calibri"/>
                <a:ea typeface="Calibri"/>
                <a:cs typeface="Calibri"/>
              </a:defRPr>
            </a:lvl9pPr>
          </a:lstStyle>
          <a:p>
            <a:pPr algn="l">
              <a:buNone/>
              <a:defRPr sz="1275" b="0">
                <a:solidFill>
                  <a:srgbClr val="5C6C7B"/>
                </a:solidFill>
                <a:latin typeface="Calibri"/>
                <a:ea typeface="Calibri"/>
                <a:cs typeface="Calibri"/>
              </a:defRPr>
            </a:pPr>
            <a:r>
              <a:rPr sz="1275" b="0">
                <a:solidFill>
                  <a:srgbClr val="5C6C7B"/>
                </a:solidFill>
                <a:latin typeface="Calibri"/>
                <a:ea typeface="Calibri"/>
                <a:cs typeface="Calibri"/>
              </a:rPr>
              <a:t>The choice compares model families and adaptation methods. Unequal training data prevents a causal architecture ranking.</a:t>
            </a:r>
          </a:p>
        </p:txBody>
      </p:sp>
      <p:pic>
        <p:nvPicPr>
          <p:cNvPr id="17" name="Picture 16">
            <a:extLst>
              <a:ext uri="{FF2B5EF4-FFF2-40B4-BE49-F238E27FC236}">
                <a16:creationId xmlns:a16="http://schemas.microsoft.com/office/drawing/2014/main" id="{E8E19677-2C23-4DDE-BA7E-ECA2C91767CF}"/>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682440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6AEBB68-0B28-47C8-B83C-488B59DFFDB7}"/>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How I trained and selected the models</a:t>
            </a:r>
          </a:p>
        </p:txBody>
      </p:sp>
      <p:sp>
        <p:nvSpPr>
          <p:cNvPr id="2" name="Rectangle 1">
            <a:extLst>
              <a:ext uri="{FF2B5EF4-FFF2-40B4-BE49-F238E27FC236}">
                <a16:creationId xmlns:a16="http://schemas.microsoft.com/office/drawing/2014/main" id="{9061228A-188A-407D-8652-7D7152CBE492}"/>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507E83B8-8F65-4E67-802D-F244FFC3A80F}"/>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1AD2B540-AC06-46B8-836C-698B8E956B69}"/>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7</a:t>
            </a:r>
          </a:p>
        </p:txBody>
      </p:sp>
      <p:sp>
        <p:nvSpPr>
          <p:cNvPr id="5" name="Rectangle 4">
            <a:extLst>
              <a:ext uri="{FF2B5EF4-FFF2-40B4-BE49-F238E27FC236}">
                <a16:creationId xmlns:a16="http://schemas.microsoft.com/office/drawing/2014/main" id="{F5CC8090-110A-463A-97C7-55A0F36E2029}"/>
              </a:ext>
            </a:extLst>
          </p:cNvPr>
          <p:cNvSpPr>
            <a:spLocks noGrp="1"/>
          </p:cNvSpPr>
          <p:nvPr/>
        </p:nvSpPr>
        <p:spPr>
          <a:xfrm>
            <a:off x="628650" y="1343025"/>
            <a:ext cx="57150" cy="752475"/>
          </a:xfrm>
          <a:prstGeom prst="rect">
            <a:avLst/>
          </a:prstGeom>
          <a:solidFill>
            <a:srgbClr val="D3663D"/>
          </a:solidFill>
          <a:ln w="0">
            <a:noFill/>
            <a:prstDash val="solid"/>
          </a:ln>
        </p:spPr>
      </p:sp>
      <p:sp>
        <p:nvSpPr>
          <p:cNvPr id="6" name="Rectangle 5">
            <a:extLst>
              <a:ext uri="{FF2B5EF4-FFF2-40B4-BE49-F238E27FC236}">
                <a16:creationId xmlns:a16="http://schemas.microsoft.com/office/drawing/2014/main" id="{0FAAABB7-341F-41F5-B710-3904131D7924}"/>
              </a:ext>
            </a:extLst>
          </p:cNvPr>
          <p:cNvSpPr>
            <a:spLocks noGrp="1"/>
          </p:cNvSpPr>
          <p:nvPr/>
        </p:nvSpPr>
        <p:spPr>
          <a:xfrm>
            <a:off x="847725" y="1381125"/>
            <a:ext cx="2028825" cy="323850"/>
          </a:xfrm>
          <a:prstGeom prst="rect">
            <a:avLst/>
          </a:prstGeom>
          <a:noFill/>
          <a:ln w="0">
            <a:noFill/>
            <a:prstDash val="solid"/>
          </a:ln>
        </p:spPr>
        <p:txBody>
          <a:bodyPr wrap="square" lIns="0" tIns="0" rIns="0" bIns="0" anchor="ctr">
            <a:normAutofit/>
          </a:bodyPr>
          <a:lstStyle>
            <a:defPPr algn="l">
              <a:defRPr sz="1650" b="1">
                <a:solidFill>
                  <a:srgbClr val="D3663D"/>
                </a:solidFill>
                <a:latin typeface="Calibri"/>
                <a:ea typeface="Calibri"/>
                <a:cs typeface="Calibri"/>
              </a:defRPr>
            </a:defPPr>
            <a:lvl1pPr algn="l">
              <a:defRPr sz="1650" b="1">
                <a:solidFill>
                  <a:srgbClr val="D3663D"/>
                </a:solidFill>
                <a:latin typeface="Calibri"/>
                <a:ea typeface="Calibri"/>
                <a:cs typeface="Calibri"/>
              </a:defRPr>
            </a:lvl1pPr>
            <a:lvl2pPr algn="l">
              <a:defRPr sz="1650" b="1">
                <a:solidFill>
                  <a:srgbClr val="D3663D"/>
                </a:solidFill>
                <a:latin typeface="Calibri"/>
                <a:ea typeface="Calibri"/>
                <a:cs typeface="Calibri"/>
              </a:defRPr>
            </a:lvl2pPr>
            <a:lvl3pPr algn="l">
              <a:defRPr sz="1650" b="1">
                <a:solidFill>
                  <a:srgbClr val="D3663D"/>
                </a:solidFill>
                <a:latin typeface="Calibri"/>
                <a:ea typeface="Calibri"/>
                <a:cs typeface="Calibri"/>
              </a:defRPr>
            </a:lvl3pPr>
            <a:lvl4pPr algn="l">
              <a:defRPr sz="1650" b="1">
                <a:solidFill>
                  <a:srgbClr val="D3663D"/>
                </a:solidFill>
                <a:latin typeface="Calibri"/>
                <a:ea typeface="Calibri"/>
                <a:cs typeface="Calibri"/>
              </a:defRPr>
            </a:lvl4pPr>
            <a:lvl5pPr algn="l">
              <a:defRPr sz="1650" b="1">
                <a:solidFill>
                  <a:srgbClr val="D3663D"/>
                </a:solidFill>
                <a:latin typeface="Calibri"/>
                <a:ea typeface="Calibri"/>
                <a:cs typeface="Calibri"/>
              </a:defRPr>
            </a:lvl5pPr>
            <a:lvl6pPr algn="l">
              <a:defRPr sz="1650" b="1">
                <a:solidFill>
                  <a:srgbClr val="D3663D"/>
                </a:solidFill>
                <a:latin typeface="Calibri"/>
                <a:ea typeface="Calibri"/>
                <a:cs typeface="Calibri"/>
              </a:defRPr>
            </a:lvl6pPr>
            <a:lvl7pPr algn="l">
              <a:defRPr sz="1650" b="1">
                <a:solidFill>
                  <a:srgbClr val="D3663D"/>
                </a:solidFill>
                <a:latin typeface="Calibri"/>
                <a:ea typeface="Calibri"/>
                <a:cs typeface="Calibri"/>
              </a:defRPr>
            </a:lvl7pPr>
            <a:lvl8pPr algn="l">
              <a:defRPr sz="1650" b="1">
                <a:solidFill>
                  <a:srgbClr val="D3663D"/>
                </a:solidFill>
                <a:latin typeface="Calibri"/>
                <a:ea typeface="Calibri"/>
                <a:cs typeface="Calibri"/>
              </a:defRPr>
            </a:lvl8pPr>
            <a:lvl9pPr algn="l">
              <a:defRPr sz="1650" b="1">
                <a:solidFill>
                  <a:srgbClr val="D3663D"/>
                </a:solidFill>
                <a:latin typeface="Calibri"/>
                <a:ea typeface="Calibri"/>
                <a:cs typeface="Calibri"/>
              </a:defRPr>
            </a:lvl9pPr>
          </a:lstStyle>
          <a:p>
            <a:pPr algn="l">
              <a:buNone/>
              <a:defRPr sz="1650" b="1">
                <a:solidFill>
                  <a:srgbClr val="D3663D"/>
                </a:solidFill>
                <a:latin typeface="Calibri"/>
                <a:ea typeface="Calibri"/>
                <a:cs typeface="Calibri"/>
              </a:defRPr>
            </a:pPr>
            <a:r>
              <a:rPr sz="1650" b="1">
                <a:solidFill>
                  <a:srgbClr val="D3663D"/>
                </a:solidFill>
                <a:latin typeface="Calibri"/>
                <a:ea typeface="Calibri"/>
                <a:cs typeface="Calibri"/>
              </a:rPr>
              <a:t>Whisper-Tiny</a:t>
            </a:r>
          </a:p>
        </p:txBody>
      </p:sp>
      <p:sp>
        <p:nvSpPr>
          <p:cNvPr id="7" name="Rectangle 6">
            <a:extLst>
              <a:ext uri="{FF2B5EF4-FFF2-40B4-BE49-F238E27FC236}">
                <a16:creationId xmlns:a16="http://schemas.microsoft.com/office/drawing/2014/main" id="{3ADA9025-EB64-4BE4-B173-BCC27E48DB28}"/>
              </a:ext>
            </a:extLst>
          </p:cNvPr>
          <p:cNvSpPr>
            <a:spLocks noGrp="1"/>
          </p:cNvSpPr>
          <p:nvPr/>
        </p:nvSpPr>
        <p:spPr>
          <a:xfrm>
            <a:off x="2924175" y="1362075"/>
            <a:ext cx="5476875" cy="714375"/>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All weights on 531 clips. 3 epochs, Tesla T4.</a:t>
            </a:r>
          </a:p>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8.7 min measured for the complete run.</a:t>
            </a:r>
          </a:p>
        </p:txBody>
      </p:sp>
      <p:sp>
        <p:nvSpPr>
          <p:cNvPr id="8" name="Rectangle 7">
            <a:extLst>
              <a:ext uri="{FF2B5EF4-FFF2-40B4-BE49-F238E27FC236}">
                <a16:creationId xmlns:a16="http://schemas.microsoft.com/office/drawing/2014/main" id="{20DFDFFC-AA51-447C-9C52-A8C7DBC3F3EE}"/>
              </a:ext>
            </a:extLst>
          </p:cNvPr>
          <p:cNvSpPr>
            <a:spLocks noGrp="1"/>
          </p:cNvSpPr>
          <p:nvPr/>
        </p:nvSpPr>
        <p:spPr>
          <a:xfrm>
            <a:off x="628650" y="2314575"/>
            <a:ext cx="57150" cy="752475"/>
          </a:xfrm>
          <a:prstGeom prst="rect">
            <a:avLst/>
          </a:prstGeom>
          <a:solidFill>
            <a:srgbClr val="174E6E"/>
          </a:solidFill>
          <a:ln w="0">
            <a:noFill/>
            <a:prstDash val="solid"/>
          </a:ln>
        </p:spPr>
      </p:sp>
      <p:sp>
        <p:nvSpPr>
          <p:cNvPr id="9" name="Rectangle 8">
            <a:extLst>
              <a:ext uri="{FF2B5EF4-FFF2-40B4-BE49-F238E27FC236}">
                <a16:creationId xmlns:a16="http://schemas.microsoft.com/office/drawing/2014/main" id="{50708BD1-D5D4-4B9F-9745-BCA2A2DFF7AA}"/>
              </a:ext>
            </a:extLst>
          </p:cNvPr>
          <p:cNvSpPr>
            <a:spLocks noGrp="1"/>
          </p:cNvSpPr>
          <p:nvPr/>
        </p:nvSpPr>
        <p:spPr>
          <a:xfrm>
            <a:off x="847725" y="2352675"/>
            <a:ext cx="2028825" cy="323850"/>
          </a:xfrm>
          <a:prstGeom prst="rect">
            <a:avLst/>
          </a:prstGeom>
          <a:noFill/>
          <a:ln w="0">
            <a:noFill/>
            <a:prstDash val="solid"/>
          </a:ln>
        </p:spPr>
        <p:txBody>
          <a:bodyPr wrap="square" lIns="0" tIns="0" rIns="0" bIns="0" anchor="ctr">
            <a:normAutofit/>
          </a:bodyPr>
          <a:lstStyle>
            <a:defPPr algn="l">
              <a:defRPr sz="1650" b="1">
                <a:solidFill>
                  <a:srgbClr val="174E6E"/>
                </a:solidFill>
                <a:latin typeface="Calibri"/>
                <a:ea typeface="Calibri"/>
                <a:cs typeface="Calibri"/>
              </a:defRPr>
            </a:defPPr>
            <a:lvl1pPr algn="l">
              <a:defRPr sz="1650" b="1">
                <a:solidFill>
                  <a:srgbClr val="174E6E"/>
                </a:solidFill>
                <a:latin typeface="Calibri"/>
                <a:ea typeface="Calibri"/>
                <a:cs typeface="Calibri"/>
              </a:defRPr>
            </a:lvl1pPr>
            <a:lvl2pPr algn="l">
              <a:defRPr sz="1650" b="1">
                <a:solidFill>
                  <a:srgbClr val="174E6E"/>
                </a:solidFill>
                <a:latin typeface="Calibri"/>
                <a:ea typeface="Calibri"/>
                <a:cs typeface="Calibri"/>
              </a:defRPr>
            </a:lvl2pPr>
            <a:lvl3pPr algn="l">
              <a:defRPr sz="1650" b="1">
                <a:solidFill>
                  <a:srgbClr val="174E6E"/>
                </a:solidFill>
                <a:latin typeface="Calibri"/>
                <a:ea typeface="Calibri"/>
                <a:cs typeface="Calibri"/>
              </a:defRPr>
            </a:lvl3pPr>
            <a:lvl4pPr algn="l">
              <a:defRPr sz="1650" b="1">
                <a:solidFill>
                  <a:srgbClr val="174E6E"/>
                </a:solidFill>
                <a:latin typeface="Calibri"/>
                <a:ea typeface="Calibri"/>
                <a:cs typeface="Calibri"/>
              </a:defRPr>
            </a:lvl4pPr>
            <a:lvl5pPr algn="l">
              <a:defRPr sz="1650" b="1">
                <a:solidFill>
                  <a:srgbClr val="174E6E"/>
                </a:solidFill>
                <a:latin typeface="Calibri"/>
                <a:ea typeface="Calibri"/>
                <a:cs typeface="Calibri"/>
              </a:defRPr>
            </a:lvl5pPr>
            <a:lvl6pPr algn="l">
              <a:defRPr sz="1650" b="1">
                <a:solidFill>
                  <a:srgbClr val="174E6E"/>
                </a:solidFill>
                <a:latin typeface="Calibri"/>
                <a:ea typeface="Calibri"/>
                <a:cs typeface="Calibri"/>
              </a:defRPr>
            </a:lvl6pPr>
            <a:lvl7pPr algn="l">
              <a:defRPr sz="1650" b="1">
                <a:solidFill>
                  <a:srgbClr val="174E6E"/>
                </a:solidFill>
                <a:latin typeface="Calibri"/>
                <a:ea typeface="Calibri"/>
                <a:cs typeface="Calibri"/>
              </a:defRPr>
            </a:lvl7pPr>
            <a:lvl8pPr algn="l">
              <a:defRPr sz="1650" b="1">
                <a:solidFill>
                  <a:srgbClr val="174E6E"/>
                </a:solidFill>
                <a:latin typeface="Calibri"/>
                <a:ea typeface="Calibri"/>
                <a:cs typeface="Calibri"/>
              </a:defRPr>
            </a:lvl8pPr>
            <a:lvl9pPr algn="l">
              <a:defRPr sz="1650" b="1">
                <a:solidFill>
                  <a:srgbClr val="174E6E"/>
                </a:solidFill>
                <a:latin typeface="Calibri"/>
                <a:ea typeface="Calibri"/>
                <a:cs typeface="Calibri"/>
              </a:defRPr>
            </a:lvl9pPr>
          </a:lstStyle>
          <a:p>
            <a:pPr algn="l">
              <a:buNone/>
              <a:defRPr sz="1650" b="1">
                <a:solidFill>
                  <a:srgbClr val="174E6E"/>
                </a:solidFill>
                <a:latin typeface="Calibri"/>
                <a:ea typeface="Calibri"/>
                <a:cs typeface="Calibri"/>
              </a:defRPr>
            </a:pPr>
            <a:r>
              <a:rPr sz="1650" b="1">
                <a:solidFill>
                  <a:srgbClr val="174E6E"/>
                </a:solidFill>
                <a:latin typeface="Calibri"/>
                <a:ea typeface="Calibri"/>
                <a:cs typeface="Calibri"/>
              </a:rPr>
              <a:t>MMS-1B CTC</a:t>
            </a:r>
          </a:p>
        </p:txBody>
      </p:sp>
      <p:sp>
        <p:nvSpPr>
          <p:cNvPr id="10" name="Rectangle 9">
            <a:extLst>
              <a:ext uri="{FF2B5EF4-FFF2-40B4-BE49-F238E27FC236}">
                <a16:creationId xmlns:a16="http://schemas.microsoft.com/office/drawing/2014/main" id="{F437D270-6C55-44DF-BA04-025BBBAA1127}"/>
              </a:ext>
            </a:extLst>
          </p:cNvPr>
          <p:cNvSpPr>
            <a:spLocks noGrp="1"/>
          </p:cNvSpPr>
          <p:nvPr/>
        </p:nvSpPr>
        <p:spPr>
          <a:xfrm>
            <a:off x="2924175" y="2333625"/>
            <a:ext cx="5476875" cy="714375"/>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Top 4 encoder layers and CTC head on 531 clips.</a:t>
            </a:r>
          </a:p>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15 epochs, T4; about 1.6 h estimated.</a:t>
            </a:r>
          </a:p>
        </p:txBody>
      </p:sp>
      <p:sp>
        <p:nvSpPr>
          <p:cNvPr id="11" name="Rectangle 10">
            <a:extLst>
              <a:ext uri="{FF2B5EF4-FFF2-40B4-BE49-F238E27FC236}">
                <a16:creationId xmlns:a16="http://schemas.microsoft.com/office/drawing/2014/main" id="{3A65BFCE-6FA8-4787-8097-B47FFF095136}"/>
              </a:ext>
            </a:extLst>
          </p:cNvPr>
          <p:cNvSpPr>
            <a:spLocks noGrp="1"/>
          </p:cNvSpPr>
          <p:nvPr/>
        </p:nvSpPr>
        <p:spPr>
          <a:xfrm>
            <a:off x="628650" y="3286125"/>
            <a:ext cx="57150" cy="752475"/>
          </a:xfrm>
          <a:prstGeom prst="rect">
            <a:avLst/>
          </a:prstGeom>
          <a:solidFill>
            <a:srgbClr val="2A9D92"/>
          </a:solidFill>
          <a:ln w="0">
            <a:noFill/>
            <a:prstDash val="solid"/>
          </a:ln>
        </p:spPr>
      </p:sp>
      <p:sp>
        <p:nvSpPr>
          <p:cNvPr id="12" name="Rectangle 11">
            <a:extLst>
              <a:ext uri="{FF2B5EF4-FFF2-40B4-BE49-F238E27FC236}">
                <a16:creationId xmlns:a16="http://schemas.microsoft.com/office/drawing/2014/main" id="{51B9A959-A4F0-4D61-8C07-BB5A54288C8A}"/>
              </a:ext>
            </a:extLst>
          </p:cNvPr>
          <p:cNvSpPr>
            <a:spLocks noGrp="1"/>
          </p:cNvSpPr>
          <p:nvPr/>
        </p:nvSpPr>
        <p:spPr>
          <a:xfrm>
            <a:off x="847725" y="3324225"/>
            <a:ext cx="2028825" cy="323850"/>
          </a:xfrm>
          <a:prstGeom prst="rect">
            <a:avLst/>
          </a:prstGeom>
          <a:noFill/>
          <a:ln w="0">
            <a:noFill/>
            <a:prstDash val="solid"/>
          </a:ln>
        </p:spPr>
        <p:txBody>
          <a:bodyPr wrap="square" lIns="0" tIns="0" rIns="0" bIns="0" anchor="ctr">
            <a:normAutofit/>
          </a:bodyPr>
          <a:lstStyle>
            <a:defPPr algn="l">
              <a:defRPr sz="1650" b="1">
                <a:solidFill>
                  <a:srgbClr val="2A9D92"/>
                </a:solidFill>
                <a:latin typeface="Calibri"/>
                <a:ea typeface="Calibri"/>
                <a:cs typeface="Calibri"/>
              </a:defRPr>
            </a:defPPr>
            <a:lvl1pPr algn="l">
              <a:defRPr sz="1650" b="1">
                <a:solidFill>
                  <a:srgbClr val="2A9D92"/>
                </a:solidFill>
                <a:latin typeface="Calibri"/>
                <a:ea typeface="Calibri"/>
                <a:cs typeface="Calibri"/>
              </a:defRPr>
            </a:lvl1pPr>
            <a:lvl2pPr algn="l">
              <a:defRPr sz="1650" b="1">
                <a:solidFill>
                  <a:srgbClr val="2A9D92"/>
                </a:solidFill>
                <a:latin typeface="Calibri"/>
                <a:ea typeface="Calibri"/>
                <a:cs typeface="Calibri"/>
              </a:defRPr>
            </a:lvl2pPr>
            <a:lvl3pPr algn="l">
              <a:defRPr sz="1650" b="1">
                <a:solidFill>
                  <a:srgbClr val="2A9D92"/>
                </a:solidFill>
                <a:latin typeface="Calibri"/>
                <a:ea typeface="Calibri"/>
                <a:cs typeface="Calibri"/>
              </a:defRPr>
            </a:lvl3pPr>
            <a:lvl4pPr algn="l">
              <a:defRPr sz="1650" b="1">
                <a:solidFill>
                  <a:srgbClr val="2A9D92"/>
                </a:solidFill>
                <a:latin typeface="Calibri"/>
                <a:ea typeface="Calibri"/>
                <a:cs typeface="Calibri"/>
              </a:defRPr>
            </a:lvl4pPr>
            <a:lvl5pPr algn="l">
              <a:defRPr sz="1650" b="1">
                <a:solidFill>
                  <a:srgbClr val="2A9D92"/>
                </a:solidFill>
                <a:latin typeface="Calibri"/>
                <a:ea typeface="Calibri"/>
                <a:cs typeface="Calibri"/>
              </a:defRPr>
            </a:lvl5pPr>
            <a:lvl6pPr algn="l">
              <a:defRPr sz="1650" b="1">
                <a:solidFill>
                  <a:srgbClr val="2A9D92"/>
                </a:solidFill>
                <a:latin typeface="Calibri"/>
                <a:ea typeface="Calibri"/>
                <a:cs typeface="Calibri"/>
              </a:defRPr>
            </a:lvl6pPr>
            <a:lvl7pPr algn="l">
              <a:defRPr sz="1650" b="1">
                <a:solidFill>
                  <a:srgbClr val="2A9D92"/>
                </a:solidFill>
                <a:latin typeface="Calibri"/>
                <a:ea typeface="Calibri"/>
                <a:cs typeface="Calibri"/>
              </a:defRPr>
            </a:lvl7pPr>
            <a:lvl8pPr algn="l">
              <a:defRPr sz="1650" b="1">
                <a:solidFill>
                  <a:srgbClr val="2A9D92"/>
                </a:solidFill>
                <a:latin typeface="Calibri"/>
                <a:ea typeface="Calibri"/>
                <a:cs typeface="Calibri"/>
              </a:defRPr>
            </a:lvl8pPr>
            <a:lvl9pPr algn="l">
              <a:defRPr sz="1650" b="1">
                <a:solidFill>
                  <a:srgbClr val="2A9D92"/>
                </a:solidFill>
                <a:latin typeface="Calibri"/>
                <a:ea typeface="Calibri"/>
                <a:cs typeface="Calibri"/>
              </a:defRPr>
            </a:lvl9pPr>
          </a:lstStyle>
          <a:p>
            <a:pPr algn="l">
              <a:buNone/>
              <a:defRPr sz="1650" b="1">
                <a:solidFill>
                  <a:srgbClr val="2A9D92"/>
                </a:solidFill>
                <a:latin typeface="Calibri"/>
                <a:ea typeface="Calibri"/>
                <a:cs typeface="Calibri"/>
              </a:defRPr>
            </a:pPr>
            <a:r>
              <a:rPr sz="1650" b="1">
                <a:solidFill>
                  <a:srgbClr val="2A9D92"/>
                </a:solidFill>
                <a:latin typeface="Calibri"/>
                <a:ea typeface="Calibri"/>
                <a:cs typeface="Calibri"/>
              </a:rPr>
              <a:t>Qwen3-ASR LoRA</a:t>
            </a:r>
          </a:p>
        </p:txBody>
      </p:sp>
      <p:sp>
        <p:nvSpPr>
          <p:cNvPr id="13" name="Rectangle 12">
            <a:extLst>
              <a:ext uri="{FF2B5EF4-FFF2-40B4-BE49-F238E27FC236}">
                <a16:creationId xmlns:a16="http://schemas.microsoft.com/office/drawing/2014/main" id="{777C34DA-3A70-4D7D-88B9-605238FECCD7}"/>
              </a:ext>
            </a:extLst>
          </p:cNvPr>
          <p:cNvSpPr>
            <a:spLocks noGrp="1"/>
          </p:cNvSpPr>
          <p:nvPr/>
        </p:nvSpPr>
        <p:spPr>
          <a:xfrm>
            <a:off x="2924175" y="3305175"/>
            <a:ext cx="5476875" cy="714375"/>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lang="en-US" sz="1500" b="0">
                <a:solidFill>
                  <a:srgbClr val="20324A"/>
                </a:solidFill>
                <a:latin typeface="Calibri"/>
                <a:ea typeface="Calibri"/>
                <a:cs typeface="Calibri"/>
              </a:rPr>
              <a:t>LoRA on 16,720 effective entries. 3 epochs, T4.</a:t>
            </a:r>
          </a:p>
          <a:p>
            <a:pPr algn="l">
              <a:buNone/>
              <a:defRPr sz="1500" b="0">
                <a:solidFill>
                  <a:srgbClr val="20324A"/>
                </a:solidFill>
                <a:latin typeface="Calibri"/>
                <a:ea typeface="Calibri"/>
                <a:cs typeface="Calibri"/>
              </a:defRPr>
            </a:pPr>
            <a:r>
              <a:rPr lang="en-US" sz="1500" b="0">
                <a:solidFill>
                  <a:srgbClr val="20324A"/>
                </a:solidFill>
                <a:latin typeface="Calibri"/>
                <a:ea typeface="Calibri"/>
                <a:cs typeface="Calibri"/>
              </a:rPr>
              <a:t>About 6.3 h estimated active training time.</a:t>
            </a:r>
            <a:endParaRPr sz="1500" b="0">
              <a:solidFill>
                <a:srgbClr val="20324A"/>
              </a:solidFill>
              <a:latin typeface="Calibri"/>
              <a:ea typeface="Calibri"/>
              <a:cs typeface="Calibri"/>
            </a:endParaRPr>
          </a:p>
        </p:txBody>
      </p:sp>
      <p:sp>
        <p:nvSpPr>
          <p:cNvPr id="14" name="Rectangle 13">
            <a:extLst>
              <a:ext uri="{FF2B5EF4-FFF2-40B4-BE49-F238E27FC236}">
                <a16:creationId xmlns:a16="http://schemas.microsoft.com/office/drawing/2014/main" id="{51CD1D92-E326-492A-BA73-A5D258ED84D7}"/>
              </a:ext>
            </a:extLst>
          </p:cNvPr>
          <p:cNvSpPr>
            <a:spLocks noGrp="1"/>
          </p:cNvSpPr>
          <p:nvPr/>
        </p:nvSpPr>
        <p:spPr>
          <a:xfrm>
            <a:off x="628650" y="4314825"/>
            <a:ext cx="7877175" cy="400050"/>
          </a:xfrm>
          <a:prstGeom prst="rect">
            <a:avLst/>
          </a:prstGeom>
          <a:noFill/>
          <a:ln w="0">
            <a:noFill/>
            <a:prstDash val="solid"/>
          </a:ln>
        </p:spPr>
        <p:txBody>
          <a:bodyPr wrap="square" lIns="0" tIns="0" rIns="0" bIns="0" anchor="ctr">
            <a:normAutofit/>
          </a:bodyPr>
          <a:lstStyle>
            <a:defPPr algn="l">
              <a:defRPr sz="1275" b="0">
                <a:solidFill>
                  <a:srgbClr val="5C6C7B"/>
                </a:solidFill>
                <a:latin typeface="Calibri"/>
                <a:ea typeface="Calibri"/>
                <a:cs typeface="Calibri"/>
              </a:defRPr>
            </a:defPPr>
            <a:lvl1pPr algn="l">
              <a:defRPr sz="1275" b="0">
                <a:solidFill>
                  <a:srgbClr val="5C6C7B"/>
                </a:solidFill>
                <a:latin typeface="Calibri"/>
                <a:ea typeface="Calibri"/>
                <a:cs typeface="Calibri"/>
              </a:defRPr>
            </a:lvl1pPr>
            <a:lvl2pPr algn="l">
              <a:defRPr sz="1275" b="0">
                <a:solidFill>
                  <a:srgbClr val="5C6C7B"/>
                </a:solidFill>
                <a:latin typeface="Calibri"/>
                <a:ea typeface="Calibri"/>
                <a:cs typeface="Calibri"/>
              </a:defRPr>
            </a:lvl2pPr>
            <a:lvl3pPr algn="l">
              <a:defRPr sz="1275" b="0">
                <a:solidFill>
                  <a:srgbClr val="5C6C7B"/>
                </a:solidFill>
                <a:latin typeface="Calibri"/>
                <a:ea typeface="Calibri"/>
                <a:cs typeface="Calibri"/>
              </a:defRPr>
            </a:lvl3pPr>
            <a:lvl4pPr algn="l">
              <a:defRPr sz="1275" b="0">
                <a:solidFill>
                  <a:srgbClr val="5C6C7B"/>
                </a:solidFill>
                <a:latin typeface="Calibri"/>
                <a:ea typeface="Calibri"/>
                <a:cs typeface="Calibri"/>
              </a:defRPr>
            </a:lvl4pPr>
            <a:lvl5pPr algn="l">
              <a:defRPr sz="1275" b="0">
                <a:solidFill>
                  <a:srgbClr val="5C6C7B"/>
                </a:solidFill>
                <a:latin typeface="Calibri"/>
                <a:ea typeface="Calibri"/>
                <a:cs typeface="Calibri"/>
              </a:defRPr>
            </a:lvl5pPr>
            <a:lvl6pPr algn="l">
              <a:defRPr sz="1275" b="0">
                <a:solidFill>
                  <a:srgbClr val="5C6C7B"/>
                </a:solidFill>
                <a:latin typeface="Calibri"/>
                <a:ea typeface="Calibri"/>
                <a:cs typeface="Calibri"/>
              </a:defRPr>
            </a:lvl6pPr>
            <a:lvl7pPr algn="l">
              <a:defRPr sz="1275" b="0">
                <a:solidFill>
                  <a:srgbClr val="5C6C7B"/>
                </a:solidFill>
                <a:latin typeface="Calibri"/>
                <a:ea typeface="Calibri"/>
                <a:cs typeface="Calibri"/>
              </a:defRPr>
            </a:lvl7pPr>
            <a:lvl8pPr algn="l">
              <a:defRPr sz="1275" b="0">
                <a:solidFill>
                  <a:srgbClr val="5C6C7B"/>
                </a:solidFill>
                <a:latin typeface="Calibri"/>
                <a:ea typeface="Calibri"/>
                <a:cs typeface="Calibri"/>
              </a:defRPr>
            </a:lvl8pPr>
            <a:lvl9pPr algn="l">
              <a:defRPr sz="1275" b="0">
                <a:solidFill>
                  <a:srgbClr val="5C6C7B"/>
                </a:solidFill>
                <a:latin typeface="Calibri"/>
                <a:ea typeface="Calibri"/>
                <a:cs typeface="Calibri"/>
              </a:defRPr>
            </a:lvl9pPr>
          </a:lstStyle>
          <a:p>
            <a:pPr algn="l">
              <a:buNone/>
              <a:defRPr sz="1275" b="0">
                <a:solidFill>
                  <a:srgbClr val="5C6C7B"/>
                </a:solidFill>
                <a:latin typeface="Calibri"/>
                <a:ea typeface="Calibri"/>
                <a:cs typeface="Calibri"/>
              </a:defRPr>
            </a:pPr>
            <a:r>
              <a:rPr sz="1275" b="0">
                <a:solidFill>
                  <a:srgbClr val="5C6C7B"/>
                </a:solidFill>
                <a:latin typeface="Calibri"/>
                <a:ea typeface="Calibri"/>
                <a:cs typeface="Calibri"/>
              </a:rPr>
              <a:t>Workflow: prepare audio, fine-tune, select using 124 validation clips, then score once on the shared 114-clip test.</a:t>
            </a:r>
          </a:p>
        </p:txBody>
      </p:sp>
      <p:pic>
        <p:nvPicPr>
          <p:cNvPr id="16" name="Picture 15">
            <a:extLst>
              <a:ext uri="{FF2B5EF4-FFF2-40B4-BE49-F238E27FC236}">
                <a16:creationId xmlns:a16="http://schemas.microsoft.com/office/drawing/2014/main" id="{C6641912-739B-5DF2-8056-37F5B419E523}"/>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682440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658201-86A6-4DAB-8C12-07A1664158E2}"/>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Results: shared held-out test</a:t>
            </a:r>
          </a:p>
        </p:txBody>
      </p:sp>
      <p:sp>
        <p:nvSpPr>
          <p:cNvPr id="2" name="Rectangle 1">
            <a:extLst>
              <a:ext uri="{FF2B5EF4-FFF2-40B4-BE49-F238E27FC236}">
                <a16:creationId xmlns:a16="http://schemas.microsoft.com/office/drawing/2014/main" id="{2C73164A-13EC-4B50-8F2D-4ABF70E94F38}"/>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33C3D4F5-DF57-4276-BAB6-316EBF6D5ACC}"/>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0F557551-7A9D-4171-9914-5AB8805371EC}"/>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8</a:t>
            </a:r>
          </a:p>
        </p:txBody>
      </p:sp>
      <p:sp>
        <p:nvSpPr>
          <p:cNvPr id="5" name="Rectangle 4">
            <a:extLst>
              <a:ext uri="{FF2B5EF4-FFF2-40B4-BE49-F238E27FC236}">
                <a16:creationId xmlns:a16="http://schemas.microsoft.com/office/drawing/2014/main" id="{15792E74-72B5-41D2-AF63-AD661A9E16BF}"/>
              </a:ext>
            </a:extLst>
          </p:cNvPr>
          <p:cNvSpPr>
            <a:spLocks noGrp="1"/>
          </p:cNvSpPr>
          <p:nvPr/>
        </p:nvSpPr>
        <p:spPr>
          <a:xfrm>
            <a:off x="628650" y="1133475"/>
            <a:ext cx="7905750" cy="400050"/>
          </a:xfrm>
          <a:prstGeom prst="rect">
            <a:avLst/>
          </a:prstGeom>
          <a:noFill/>
          <a:ln w="0">
            <a:noFill/>
            <a:prstDash val="solid"/>
          </a:ln>
        </p:spPr>
        <p:txBody>
          <a:bodyPr wrap="square" lIns="0" tIns="0" rIns="0" bIns="0" anchor="ctr">
            <a:normAutofit/>
          </a:bodyPr>
          <a:lstStyle>
            <a:defPPr algn="l">
              <a:defRPr sz="1500" b="0">
                <a:solidFill>
                  <a:srgbClr val="5C6C7B"/>
                </a:solidFill>
                <a:latin typeface="Calibri"/>
                <a:ea typeface="Calibri"/>
                <a:cs typeface="Calibri"/>
              </a:defRPr>
            </a:defPPr>
            <a:lvl1pPr algn="l">
              <a:defRPr sz="1500" b="0">
                <a:solidFill>
                  <a:srgbClr val="5C6C7B"/>
                </a:solidFill>
                <a:latin typeface="Calibri"/>
                <a:ea typeface="Calibri"/>
                <a:cs typeface="Calibri"/>
              </a:defRPr>
            </a:lvl1pPr>
            <a:lvl2pPr algn="l">
              <a:defRPr sz="1500" b="0">
                <a:solidFill>
                  <a:srgbClr val="5C6C7B"/>
                </a:solidFill>
                <a:latin typeface="Calibri"/>
                <a:ea typeface="Calibri"/>
                <a:cs typeface="Calibri"/>
              </a:defRPr>
            </a:lvl2pPr>
            <a:lvl3pPr algn="l">
              <a:defRPr sz="1500" b="0">
                <a:solidFill>
                  <a:srgbClr val="5C6C7B"/>
                </a:solidFill>
                <a:latin typeface="Calibri"/>
                <a:ea typeface="Calibri"/>
                <a:cs typeface="Calibri"/>
              </a:defRPr>
            </a:lvl3pPr>
            <a:lvl4pPr algn="l">
              <a:defRPr sz="1500" b="0">
                <a:solidFill>
                  <a:srgbClr val="5C6C7B"/>
                </a:solidFill>
                <a:latin typeface="Calibri"/>
                <a:ea typeface="Calibri"/>
                <a:cs typeface="Calibri"/>
              </a:defRPr>
            </a:lvl4pPr>
            <a:lvl5pPr algn="l">
              <a:defRPr sz="1500" b="0">
                <a:solidFill>
                  <a:srgbClr val="5C6C7B"/>
                </a:solidFill>
                <a:latin typeface="Calibri"/>
                <a:ea typeface="Calibri"/>
                <a:cs typeface="Calibri"/>
              </a:defRPr>
            </a:lvl5pPr>
            <a:lvl6pPr algn="l">
              <a:defRPr sz="1500" b="0">
                <a:solidFill>
                  <a:srgbClr val="5C6C7B"/>
                </a:solidFill>
                <a:latin typeface="Calibri"/>
                <a:ea typeface="Calibri"/>
                <a:cs typeface="Calibri"/>
              </a:defRPr>
            </a:lvl6pPr>
            <a:lvl7pPr algn="l">
              <a:defRPr sz="1500" b="0">
                <a:solidFill>
                  <a:srgbClr val="5C6C7B"/>
                </a:solidFill>
                <a:latin typeface="Calibri"/>
                <a:ea typeface="Calibri"/>
                <a:cs typeface="Calibri"/>
              </a:defRPr>
            </a:lvl7pPr>
            <a:lvl8pPr algn="l">
              <a:defRPr sz="1500" b="0">
                <a:solidFill>
                  <a:srgbClr val="5C6C7B"/>
                </a:solidFill>
                <a:latin typeface="Calibri"/>
                <a:ea typeface="Calibri"/>
                <a:cs typeface="Calibri"/>
              </a:defRPr>
            </a:lvl8pPr>
            <a:lvl9pPr algn="l">
              <a:defRPr sz="1500" b="0">
                <a:solidFill>
                  <a:srgbClr val="5C6C7B"/>
                </a:solidFill>
                <a:latin typeface="Calibri"/>
                <a:ea typeface="Calibri"/>
                <a:cs typeface="Calibri"/>
              </a:defRPr>
            </a:lvl9pPr>
          </a:lstStyle>
          <a:p>
            <a:pPr algn="l">
              <a:buNone/>
              <a:defRPr sz="1500" b="0">
                <a:solidFill>
                  <a:srgbClr val="5C6C7B"/>
                </a:solidFill>
                <a:latin typeface="Calibri"/>
                <a:ea typeface="Calibri"/>
                <a:cs typeface="Calibri"/>
              </a:defRPr>
            </a:pPr>
            <a:r>
              <a:rPr sz="1500" b="0">
                <a:solidFill>
                  <a:srgbClr val="5C6C7B"/>
                </a:solidFill>
                <a:latin typeface="Calibri"/>
                <a:ea typeface="Calibri"/>
                <a:cs typeface="Calibri"/>
              </a:rPr>
              <a:t>Same 114 FLEURS Khmer test utterances for all three. LR = learning rate; lower error is better.</a:t>
            </a:r>
          </a:p>
        </p:txBody>
      </p:sp>
      <p:graphicFrame>
        <p:nvGraphicFramePr>
          <p:cNvPr id="6" name="Table 5">
            <a:extLst>
              <a:ext uri="{FF2B5EF4-FFF2-40B4-BE49-F238E27FC236}">
                <a16:creationId xmlns:a16="http://schemas.microsoft.com/office/drawing/2014/main" id="{76BDA277-34F9-4A63-B985-54B24C0B77FF}"/>
              </a:ext>
            </a:extLst>
          </p:cNvPr>
          <p:cNvGraphicFramePr/>
          <p:nvPr/>
        </p:nvGraphicFramePr>
        <p:xfrm>
          <a:off x="619125" y="1743075"/>
          <a:ext cx="7905750" cy="2162175"/>
        </p:xfrm>
        <a:graphic>
          <a:graphicData uri="http://schemas.openxmlformats.org/drawingml/2006/table">
            <a:tbl>
              <a:tblPr/>
              <a:tblGrid>
                <a:gridCol w="180975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381125">
                  <a:extLst>
                    <a:ext uri="{9D8B030D-6E8A-4147-A177-3AD203B41FA5}">
                      <a16:colId xmlns:a16="http://schemas.microsoft.com/office/drawing/2014/main" val="20004"/>
                    </a:ext>
                  </a:extLst>
                </a:gridCol>
              </a:tblGrid>
              <a:tr h="476250">
                <a:tc>
                  <a:txBody>
                    <a:bodyPr/>
                    <a:lstStyle/>
                    <a:p>
                      <a:pPr algn="l">
                        <a:buNone/>
                      </a:pPr>
                      <a:r>
                        <a:rPr sz="1425" b="1">
                          <a:solidFill>
                            <a:srgbClr val="FFFFFF"/>
                          </a:solidFill>
                          <a:latin typeface="Calibri"/>
                          <a:ea typeface="Calibri"/>
                          <a:cs typeface="Calibri"/>
                        </a:rPr>
                        <a:t>Approach</a:t>
                      </a:r>
                    </a:p>
                  </a:txBody>
                  <a:tcPr anchor="ctr">
                    <a:lnL w="9525">
                      <a:solidFill>
                        <a:srgbClr val="D4DEE2"/>
                      </a:solidFill>
                      <a:prstDash val="solid"/>
                    </a:lnL>
                    <a:lnR w="9525">
                      <a:solidFill>
                        <a:srgbClr val="D4DEE2"/>
                      </a:solidFill>
                      <a:prstDash val="solid"/>
                    </a:lnR>
                    <a:lnT w="9525">
                      <a:solidFill>
                        <a:srgbClr val="D4DEE2"/>
                      </a:solidFill>
                      <a:prstDash val="solid"/>
                    </a:lnT>
                    <a:lnB w="9525">
                      <a:solidFill>
                        <a:srgbClr val="D4DEE2"/>
                      </a:solidFill>
                      <a:prstDash val="solid"/>
                    </a:lnB>
                    <a:solidFill>
                      <a:srgbClr val="1C2D49"/>
                    </a:solidFill>
                  </a:tcPr>
                </a:tc>
                <a:tc>
                  <a:txBody>
                    <a:bodyPr/>
                    <a:lstStyle/>
                    <a:p>
                      <a:pPr algn="l">
                        <a:buNone/>
                      </a:pPr>
                      <a:r>
                        <a:rPr sz="1425" b="1">
                          <a:solidFill>
                            <a:srgbClr val="FFFFFF"/>
                          </a:solidFill>
                          <a:latin typeface="Calibri"/>
                          <a:ea typeface="Calibri"/>
                          <a:cs typeface="Calibri"/>
                        </a:rPr>
                        <a:t>Training examples</a:t>
                      </a:r>
                    </a:p>
                  </a:txBody>
                  <a:tcPr anchor="ctr">
                    <a:lnL w="9525" cmpd="sng">
                      <a:solidFill>
                        <a:srgbClr val="D4DEE2"/>
                      </a:solidFill>
                      <a:prstDash val="solid"/>
                    </a:lnL>
                    <a:lnR w="9525">
                      <a:solidFill>
                        <a:srgbClr val="D4DEE2"/>
                      </a:solidFill>
                      <a:prstDash val="solid"/>
                    </a:lnR>
                    <a:lnT w="9525">
                      <a:solidFill>
                        <a:srgbClr val="D4DEE2"/>
                      </a:solidFill>
                      <a:prstDash val="solid"/>
                    </a:lnT>
                    <a:lnB w="9525">
                      <a:solidFill>
                        <a:srgbClr val="D4DEE2"/>
                      </a:solidFill>
                      <a:prstDash val="solid"/>
                    </a:lnB>
                    <a:solidFill>
                      <a:srgbClr val="1C2D49"/>
                    </a:solidFill>
                  </a:tcPr>
                </a:tc>
                <a:tc>
                  <a:txBody>
                    <a:bodyPr/>
                    <a:lstStyle/>
                    <a:p>
                      <a:r>
                        <a:rPr sz="1200" b="1">
                          <a:solidFill>
                            <a:srgbClr val="FFFFFF"/>
                          </a:solidFill>
                        </a:rPr>
                        <a:t>Training setup</a:t>
                      </a:r>
                    </a:p>
                  </a:txBody>
                  <a:tcPr anchor="ctr">
                    <a:lnL w="9525" cmpd="sng">
                      <a:solidFill>
                        <a:srgbClr val="D4DEE2"/>
                      </a:solidFill>
                      <a:prstDash val="solid"/>
                    </a:lnL>
                    <a:lnR w="9525">
                      <a:solidFill>
                        <a:srgbClr val="D4DEE2"/>
                      </a:solidFill>
                      <a:prstDash val="solid"/>
                    </a:lnR>
                    <a:lnT w="9525">
                      <a:solidFill>
                        <a:srgbClr val="D4DEE2"/>
                      </a:solidFill>
                      <a:prstDash val="solid"/>
                    </a:lnT>
                    <a:lnB w="9525">
                      <a:solidFill>
                        <a:srgbClr val="D4DEE2"/>
                      </a:solidFill>
                      <a:prstDash val="solid"/>
                    </a:lnB>
                    <a:solidFill>
                      <a:srgbClr val="1C2D49"/>
                    </a:solidFill>
                  </a:tcPr>
                </a:tc>
                <a:tc>
                  <a:txBody>
                    <a:bodyPr/>
                    <a:lstStyle/>
                    <a:p>
                      <a:pPr algn="ctr">
                        <a:buNone/>
                      </a:pPr>
                      <a:r>
                        <a:rPr sz="1425" b="1">
                          <a:solidFill>
                            <a:srgbClr val="FFFFFF"/>
                          </a:solidFill>
                          <a:latin typeface="Calibri"/>
                          <a:ea typeface="Calibri"/>
                          <a:cs typeface="Calibri"/>
                        </a:rPr>
                        <a:t>CER (%)</a:t>
                      </a:r>
                    </a:p>
                  </a:txBody>
                  <a:tcPr anchor="ctr">
                    <a:lnL w="9525" cmpd="sng">
                      <a:solidFill>
                        <a:srgbClr val="D4DEE2"/>
                      </a:solidFill>
                      <a:prstDash val="solid"/>
                    </a:lnL>
                    <a:lnR w="9525">
                      <a:solidFill>
                        <a:srgbClr val="D4DEE2"/>
                      </a:solidFill>
                      <a:prstDash val="solid"/>
                    </a:lnR>
                    <a:lnT w="9525">
                      <a:solidFill>
                        <a:srgbClr val="D4DEE2"/>
                      </a:solidFill>
                      <a:prstDash val="solid"/>
                    </a:lnT>
                    <a:lnB w="9525">
                      <a:solidFill>
                        <a:srgbClr val="D4DEE2"/>
                      </a:solidFill>
                      <a:prstDash val="solid"/>
                    </a:lnB>
                    <a:solidFill>
                      <a:srgbClr val="1C2D49"/>
                    </a:solidFill>
                  </a:tcPr>
                </a:tc>
                <a:tc>
                  <a:txBody>
                    <a:bodyPr/>
                    <a:lstStyle/>
                    <a:p>
                      <a:pPr algn="ctr">
                        <a:buNone/>
                      </a:pPr>
                      <a:r>
                        <a:rPr sz="1425" b="1">
                          <a:solidFill>
                            <a:srgbClr val="FFFFFF"/>
                          </a:solidFill>
                          <a:latin typeface="Calibri"/>
                          <a:ea typeface="Calibri"/>
                          <a:cs typeface="Calibri"/>
                        </a:rPr>
                        <a:t>ICU WER (%)</a:t>
                      </a:r>
                    </a:p>
                  </a:txBody>
                  <a:tcPr anchor="ctr">
                    <a:lnL w="9525" cmpd="sng">
                      <a:solidFill>
                        <a:srgbClr val="D4DEE2"/>
                      </a:solidFill>
                      <a:prstDash val="solid"/>
                    </a:lnL>
                    <a:lnR w="9525">
                      <a:solidFill>
                        <a:srgbClr val="D4DEE2"/>
                      </a:solidFill>
                      <a:prstDash val="solid"/>
                    </a:lnR>
                    <a:lnT w="9525">
                      <a:solidFill>
                        <a:srgbClr val="D4DEE2"/>
                      </a:solidFill>
                      <a:prstDash val="solid"/>
                    </a:lnT>
                    <a:lnB w="9525">
                      <a:solidFill>
                        <a:srgbClr val="D4DEE2"/>
                      </a:solidFill>
                      <a:prstDash val="solid"/>
                    </a:lnB>
                    <a:solidFill>
                      <a:srgbClr val="1C2D49"/>
                    </a:solidFill>
                  </a:tcPr>
                </a:tc>
                <a:extLst>
                  <a:ext uri="{0D108BD9-81ED-4DB2-BD59-A6C34878D82A}">
                    <a16:rowId xmlns:a16="http://schemas.microsoft.com/office/drawing/2014/main" val="10000"/>
                  </a:ext>
                </a:extLst>
              </a:tr>
              <a:tr h="561975">
                <a:tc>
                  <a:txBody>
                    <a:bodyPr/>
                    <a:lstStyle/>
                    <a:p>
                      <a:pPr algn="l">
                        <a:buNone/>
                      </a:pPr>
                      <a:r>
                        <a:rPr sz="1575" b="0">
                          <a:solidFill>
                            <a:srgbClr val="20324A"/>
                          </a:solidFill>
                          <a:latin typeface="Calibri"/>
                          <a:ea typeface="Calibri"/>
                          <a:cs typeface="Calibri"/>
                        </a:rPr>
                        <a:t>Whisper-Tiny</a:t>
                      </a:r>
                    </a:p>
                  </a:txBody>
                  <a:tcPr anchor="ctr">
                    <a:lnL w="9525">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FFFFF"/>
                    </a:solidFill>
                  </a:tcPr>
                </a:tc>
                <a:tc>
                  <a:txBody>
                    <a:bodyPr/>
                    <a:lstStyle/>
                    <a:p>
                      <a:pPr algn="l">
                        <a:buNone/>
                      </a:pPr>
                      <a:r>
                        <a:rPr sz="1575" b="0">
                          <a:solidFill>
                            <a:srgbClr val="20324A"/>
                          </a:solidFill>
                          <a:latin typeface="Calibri"/>
                          <a:ea typeface="Calibri"/>
                          <a:cs typeface="Calibri"/>
                        </a:rPr>
                        <a:t>531</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FFFFF"/>
                    </a:solidFill>
                  </a:tcPr>
                </a:tc>
                <a:tc>
                  <a:txBody>
                    <a:bodyPr/>
                    <a:lstStyle/>
                    <a:p>
                      <a:r>
                        <a:rPr sz="1200">
                          <a:solidFill>
                            <a:srgbClr val="1D3150"/>
                          </a:solidFill>
                        </a:rPr>
                        <a:t>3 epochs</a:t>
                      </a:r>
                    </a:p>
                    <a:p>
                      <a:r>
                        <a:rPr sz="1200">
                          <a:solidFill>
                            <a:srgbClr val="1D3150"/>
                          </a:solidFill>
                        </a:rPr>
                        <a:t>LR 1e-5</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FFFFF"/>
                    </a:solidFill>
                  </a:tcPr>
                </a:tc>
                <a:tc>
                  <a:txBody>
                    <a:bodyPr/>
                    <a:lstStyle/>
                    <a:p>
                      <a:pPr algn="ctr">
                        <a:buNone/>
                      </a:pPr>
                      <a:r>
                        <a:rPr sz="1575" b="0">
                          <a:solidFill>
                            <a:srgbClr val="20324A"/>
                          </a:solidFill>
                          <a:latin typeface="Calibri"/>
                          <a:ea typeface="Calibri"/>
                          <a:cs typeface="Calibri"/>
                        </a:rPr>
                        <a:t>86.76</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FFFFF"/>
                    </a:solidFill>
                  </a:tcPr>
                </a:tc>
                <a:tc>
                  <a:txBody>
                    <a:bodyPr/>
                    <a:lstStyle/>
                    <a:p>
                      <a:pPr algn="ctr">
                        <a:buNone/>
                      </a:pPr>
                      <a:r>
                        <a:rPr sz="1575" b="0">
                          <a:solidFill>
                            <a:srgbClr val="20324A"/>
                          </a:solidFill>
                          <a:latin typeface="Calibri"/>
                          <a:ea typeface="Calibri"/>
                          <a:cs typeface="Calibri"/>
                        </a:rPr>
                        <a:t>106.27</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FFFFF"/>
                    </a:solidFill>
                  </a:tcPr>
                </a:tc>
                <a:extLst>
                  <a:ext uri="{0D108BD9-81ED-4DB2-BD59-A6C34878D82A}">
                    <a16:rowId xmlns:a16="http://schemas.microsoft.com/office/drawing/2014/main" val="10001"/>
                  </a:ext>
                </a:extLst>
              </a:tr>
              <a:tr h="561975">
                <a:tc>
                  <a:txBody>
                    <a:bodyPr/>
                    <a:lstStyle/>
                    <a:p>
                      <a:pPr algn="l">
                        <a:buNone/>
                      </a:pPr>
                      <a:r>
                        <a:rPr sz="1575" b="0">
                          <a:solidFill>
                            <a:srgbClr val="20324A"/>
                          </a:solidFill>
                          <a:latin typeface="Calibri"/>
                          <a:ea typeface="Calibri"/>
                          <a:cs typeface="Calibri"/>
                        </a:rPr>
                        <a:t>MMS-1B CTC</a:t>
                      </a:r>
                    </a:p>
                  </a:txBody>
                  <a:tcPr anchor="ctr">
                    <a:lnL w="9525">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7F9FA"/>
                    </a:solidFill>
                  </a:tcPr>
                </a:tc>
                <a:tc>
                  <a:txBody>
                    <a:bodyPr/>
                    <a:lstStyle/>
                    <a:p>
                      <a:pPr algn="l">
                        <a:buNone/>
                      </a:pPr>
                      <a:r>
                        <a:rPr sz="1575" b="0">
                          <a:solidFill>
                            <a:srgbClr val="20324A"/>
                          </a:solidFill>
                          <a:latin typeface="Calibri"/>
                          <a:ea typeface="Calibri"/>
                          <a:cs typeface="Calibri"/>
                        </a:rPr>
                        <a:t>531</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7F9FA"/>
                    </a:solidFill>
                  </a:tcPr>
                </a:tc>
                <a:tc>
                  <a:txBody>
                    <a:bodyPr/>
                    <a:lstStyle/>
                    <a:p>
                      <a:r>
                        <a:rPr sz="1200">
                          <a:solidFill>
                            <a:srgbClr val="1D3150"/>
                          </a:solidFill>
                        </a:rPr>
                        <a:t>15 epochs</a:t>
                      </a:r>
                    </a:p>
                    <a:p>
                      <a:r>
                        <a:rPr sz="1200">
                          <a:solidFill>
                            <a:srgbClr val="1D3150"/>
                          </a:solidFill>
                        </a:rPr>
                        <a:t>LR 3e-5</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7F9FA"/>
                    </a:solidFill>
                  </a:tcPr>
                </a:tc>
                <a:tc>
                  <a:txBody>
                    <a:bodyPr/>
                    <a:lstStyle/>
                    <a:p>
                      <a:pPr algn="ctr">
                        <a:buNone/>
                      </a:pPr>
                      <a:r>
                        <a:rPr sz="1575" b="0">
                          <a:solidFill>
                            <a:srgbClr val="20324A"/>
                          </a:solidFill>
                          <a:latin typeface="Calibri"/>
                          <a:ea typeface="Calibri"/>
                          <a:cs typeface="Calibri"/>
                        </a:rPr>
                        <a:t>15.84</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7F9FA"/>
                    </a:solidFill>
                  </a:tcPr>
                </a:tc>
                <a:tc>
                  <a:txBody>
                    <a:bodyPr/>
                    <a:lstStyle/>
                    <a:p>
                      <a:pPr algn="ctr">
                        <a:buNone/>
                      </a:pPr>
                      <a:r>
                        <a:rPr sz="1575" b="0">
                          <a:solidFill>
                            <a:srgbClr val="20324A"/>
                          </a:solidFill>
                          <a:latin typeface="Calibri"/>
                          <a:ea typeface="Calibri"/>
                          <a:cs typeface="Calibri"/>
                        </a:rPr>
                        <a:t>67.16</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F7F9FA"/>
                    </a:solidFill>
                  </a:tcPr>
                </a:tc>
                <a:extLst>
                  <a:ext uri="{0D108BD9-81ED-4DB2-BD59-A6C34878D82A}">
                    <a16:rowId xmlns:a16="http://schemas.microsoft.com/office/drawing/2014/main" val="10002"/>
                  </a:ext>
                </a:extLst>
              </a:tr>
              <a:tr h="561975">
                <a:tc>
                  <a:txBody>
                    <a:bodyPr/>
                    <a:lstStyle/>
                    <a:p>
                      <a:pPr algn="l">
                        <a:buNone/>
                      </a:pPr>
                      <a:r>
                        <a:rPr sz="1575" b="1">
                          <a:solidFill>
                            <a:srgbClr val="20324A"/>
                          </a:solidFill>
                          <a:latin typeface="Calibri"/>
                          <a:ea typeface="Calibri"/>
                          <a:cs typeface="Calibri"/>
                        </a:rPr>
                        <a:t>Qwen3-ASR LoRA</a:t>
                      </a:r>
                    </a:p>
                  </a:txBody>
                  <a:tcPr anchor="ctr">
                    <a:lnL w="9525">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DDF1EF"/>
                    </a:solidFill>
                  </a:tcPr>
                </a:tc>
                <a:tc>
                  <a:txBody>
                    <a:bodyPr/>
                    <a:lstStyle/>
                    <a:p>
                      <a:pPr algn="l">
                        <a:buNone/>
                      </a:pPr>
                      <a:r>
                        <a:rPr sz="1575" b="1">
                          <a:solidFill>
                            <a:srgbClr val="20324A"/>
                          </a:solidFill>
                          <a:latin typeface="Calibri"/>
                          <a:ea typeface="Calibri"/>
                          <a:cs typeface="Calibri"/>
                        </a:rPr>
                        <a:t>16,720 effective</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DDF1EF"/>
                    </a:solidFill>
                  </a:tcPr>
                </a:tc>
                <a:tc>
                  <a:txBody>
                    <a:bodyPr/>
                    <a:lstStyle/>
                    <a:p>
                      <a:r>
                        <a:rPr sz="1200">
                          <a:solidFill>
                            <a:srgbClr val="1D3150"/>
                          </a:solidFill>
                        </a:rPr>
                        <a:t>3 epochs</a:t>
                      </a:r>
                    </a:p>
                    <a:p>
                      <a:r>
                        <a:rPr sz="1200">
                          <a:solidFill>
                            <a:srgbClr val="1D3150"/>
                          </a:solidFill>
                        </a:rPr>
                        <a:t>LR 1e-5</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DDF1EF"/>
                    </a:solidFill>
                  </a:tcPr>
                </a:tc>
                <a:tc>
                  <a:txBody>
                    <a:bodyPr/>
                    <a:lstStyle/>
                    <a:p>
                      <a:pPr algn="ctr">
                        <a:buNone/>
                      </a:pPr>
                      <a:r>
                        <a:rPr sz="1575" b="1">
                          <a:solidFill>
                            <a:srgbClr val="20324A"/>
                          </a:solidFill>
                          <a:latin typeface="Calibri"/>
                          <a:ea typeface="Calibri"/>
                          <a:cs typeface="Calibri"/>
                        </a:rPr>
                        <a:t>13.71</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DDF1EF"/>
                    </a:solidFill>
                  </a:tcPr>
                </a:tc>
                <a:tc>
                  <a:txBody>
                    <a:bodyPr/>
                    <a:lstStyle/>
                    <a:p>
                      <a:pPr algn="ctr">
                        <a:buNone/>
                      </a:pPr>
                      <a:r>
                        <a:rPr sz="1575" b="1">
                          <a:solidFill>
                            <a:srgbClr val="20324A"/>
                          </a:solidFill>
                          <a:latin typeface="Calibri"/>
                          <a:ea typeface="Calibri"/>
                          <a:cs typeface="Calibri"/>
                        </a:rPr>
                        <a:t>33.40</a:t>
                      </a:r>
                    </a:p>
                  </a:txBody>
                  <a:tcPr anchor="ctr">
                    <a:lnL w="9525" cmpd="sng">
                      <a:solidFill>
                        <a:srgbClr val="D4DEE2"/>
                      </a:solidFill>
                      <a:prstDash val="solid"/>
                    </a:lnL>
                    <a:lnR w="9525">
                      <a:solidFill>
                        <a:srgbClr val="D4DEE2"/>
                      </a:solidFill>
                      <a:prstDash val="solid"/>
                    </a:lnR>
                    <a:lnT w="9525" cmpd="sng">
                      <a:solidFill>
                        <a:srgbClr val="D4DEE2"/>
                      </a:solidFill>
                      <a:prstDash val="solid"/>
                    </a:lnT>
                    <a:lnB w="9525">
                      <a:solidFill>
                        <a:srgbClr val="D4DEE2"/>
                      </a:solidFill>
                      <a:prstDash val="solid"/>
                    </a:lnB>
                    <a:solidFill>
                      <a:srgbClr val="DDF1EF"/>
                    </a:solidFill>
                  </a:tcPr>
                </a:tc>
                <a:extLst>
                  <a:ext uri="{0D108BD9-81ED-4DB2-BD59-A6C34878D82A}">
                    <a16:rowId xmlns:a16="http://schemas.microsoft.com/office/drawing/2014/main" val="10003"/>
                  </a:ext>
                </a:extLst>
              </a:tr>
            </a:tbl>
          </a:graphicData>
        </a:graphic>
      </p:graphicFrame>
      <p:sp>
        <p:nvSpPr>
          <p:cNvPr id="7" name="Rectangle 6">
            <a:extLst>
              <a:ext uri="{FF2B5EF4-FFF2-40B4-BE49-F238E27FC236}">
                <a16:creationId xmlns:a16="http://schemas.microsoft.com/office/drawing/2014/main" id="{D67FEDFC-9C8E-42B2-B44B-4E6ECDAC82BB}"/>
              </a:ext>
            </a:extLst>
          </p:cNvPr>
          <p:cNvSpPr>
            <a:spLocks noGrp="1"/>
          </p:cNvSpPr>
          <p:nvPr/>
        </p:nvSpPr>
        <p:spPr>
          <a:xfrm>
            <a:off x="628650" y="4057650"/>
            <a:ext cx="7839075" cy="542925"/>
          </a:xfrm>
          <a:prstGeom prst="rect">
            <a:avLst/>
          </a:prstGeom>
          <a:noFill/>
          <a:ln w="0">
            <a:noFill/>
            <a:prstDash val="solid"/>
          </a:ln>
        </p:spPr>
        <p:txBody>
          <a:bodyPr wrap="square" lIns="0" tIns="0" rIns="0" bIns="0" anchor="ctr">
            <a:normAutofit/>
          </a:bodyPr>
          <a:lstStyle>
            <a:defPPr algn="l">
              <a:defRPr sz="1425" b="1">
                <a:solidFill>
                  <a:srgbClr val="D3663D"/>
                </a:solidFill>
                <a:latin typeface="Calibri"/>
                <a:ea typeface="Calibri"/>
                <a:cs typeface="Calibri"/>
              </a:defRPr>
            </a:defPPr>
            <a:lvl1pPr algn="l">
              <a:defRPr sz="1425" b="1">
                <a:solidFill>
                  <a:srgbClr val="D3663D"/>
                </a:solidFill>
                <a:latin typeface="Calibri"/>
                <a:ea typeface="Calibri"/>
                <a:cs typeface="Calibri"/>
              </a:defRPr>
            </a:lvl1pPr>
            <a:lvl2pPr algn="l">
              <a:defRPr sz="1425" b="1">
                <a:solidFill>
                  <a:srgbClr val="D3663D"/>
                </a:solidFill>
                <a:latin typeface="Calibri"/>
                <a:ea typeface="Calibri"/>
                <a:cs typeface="Calibri"/>
              </a:defRPr>
            </a:lvl2pPr>
            <a:lvl3pPr algn="l">
              <a:defRPr sz="1425" b="1">
                <a:solidFill>
                  <a:srgbClr val="D3663D"/>
                </a:solidFill>
                <a:latin typeface="Calibri"/>
                <a:ea typeface="Calibri"/>
                <a:cs typeface="Calibri"/>
              </a:defRPr>
            </a:lvl3pPr>
            <a:lvl4pPr algn="l">
              <a:defRPr sz="1425" b="1">
                <a:solidFill>
                  <a:srgbClr val="D3663D"/>
                </a:solidFill>
                <a:latin typeface="Calibri"/>
                <a:ea typeface="Calibri"/>
                <a:cs typeface="Calibri"/>
              </a:defRPr>
            </a:lvl4pPr>
            <a:lvl5pPr algn="l">
              <a:defRPr sz="1425" b="1">
                <a:solidFill>
                  <a:srgbClr val="D3663D"/>
                </a:solidFill>
                <a:latin typeface="Calibri"/>
                <a:ea typeface="Calibri"/>
                <a:cs typeface="Calibri"/>
              </a:defRPr>
            </a:lvl5pPr>
            <a:lvl6pPr algn="l">
              <a:defRPr sz="1425" b="1">
                <a:solidFill>
                  <a:srgbClr val="D3663D"/>
                </a:solidFill>
                <a:latin typeface="Calibri"/>
                <a:ea typeface="Calibri"/>
                <a:cs typeface="Calibri"/>
              </a:defRPr>
            </a:lvl6pPr>
            <a:lvl7pPr algn="l">
              <a:defRPr sz="1425" b="1">
                <a:solidFill>
                  <a:srgbClr val="D3663D"/>
                </a:solidFill>
                <a:latin typeface="Calibri"/>
                <a:ea typeface="Calibri"/>
                <a:cs typeface="Calibri"/>
              </a:defRPr>
            </a:lvl7pPr>
            <a:lvl8pPr algn="l">
              <a:defRPr sz="1425" b="1">
                <a:solidFill>
                  <a:srgbClr val="D3663D"/>
                </a:solidFill>
                <a:latin typeface="Calibri"/>
                <a:ea typeface="Calibri"/>
                <a:cs typeface="Calibri"/>
              </a:defRPr>
            </a:lvl8pPr>
            <a:lvl9pPr algn="l">
              <a:defRPr sz="1425" b="1">
                <a:solidFill>
                  <a:srgbClr val="D3663D"/>
                </a:solidFill>
                <a:latin typeface="Calibri"/>
                <a:ea typeface="Calibri"/>
                <a:cs typeface="Calibri"/>
              </a:defRPr>
            </a:lvl9pPr>
          </a:lstStyle>
          <a:p>
            <a:pPr algn="l">
              <a:buNone/>
              <a:defRPr sz="1425" b="1">
                <a:solidFill>
                  <a:srgbClr val="D3663D"/>
                </a:solidFill>
                <a:latin typeface="Calibri"/>
                <a:ea typeface="Calibri"/>
                <a:cs typeface="Calibri"/>
              </a:defRPr>
            </a:pPr>
            <a:r>
              <a:rPr sz="1425" b="1">
                <a:solidFill>
                  <a:srgbClr val="D3663D"/>
                </a:solidFill>
                <a:latin typeface="Calibri"/>
                <a:ea typeface="Calibri"/>
                <a:cs typeface="Calibri"/>
              </a:rPr>
              <a:t>Qwen leads on this test, but its larger training set and Khmer-adapted base prevent a controlled comparison.</a:t>
            </a:r>
          </a:p>
        </p:txBody>
      </p:sp>
      <p:pic>
        <p:nvPicPr>
          <p:cNvPr id="10" name="Picture 9">
            <a:extLst>
              <a:ext uri="{FF2B5EF4-FFF2-40B4-BE49-F238E27FC236}">
                <a16:creationId xmlns:a16="http://schemas.microsoft.com/office/drawing/2014/main" id="{3E3898E8-233A-41F1-9A9E-F6EA41E16D38}"/>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81742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349499C-1480-4D96-92A4-5B5A6D4F84DB}"/>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Qwen checkpoint selection and final test</a:t>
            </a:r>
          </a:p>
        </p:txBody>
      </p:sp>
      <p:sp>
        <p:nvSpPr>
          <p:cNvPr id="2" name="Rectangle 1">
            <a:extLst>
              <a:ext uri="{FF2B5EF4-FFF2-40B4-BE49-F238E27FC236}">
                <a16:creationId xmlns:a16="http://schemas.microsoft.com/office/drawing/2014/main" id="{4BA04B03-4D5C-4DA3-9BF9-3825F32409C5}"/>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1DEFDA76-0309-42AA-BAE0-7711C7A116CD}"/>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B7AD74D9-78DE-41E9-BF31-0CEC4EACA735}"/>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9</a:t>
            </a:r>
          </a:p>
        </p:txBody>
      </p:sp>
      <p:sp>
        <p:nvSpPr>
          <p:cNvPr id="5" name="Rectangle 4">
            <a:extLst>
              <a:ext uri="{FF2B5EF4-FFF2-40B4-BE49-F238E27FC236}">
                <a16:creationId xmlns:a16="http://schemas.microsoft.com/office/drawing/2014/main" id="{114CD24C-C230-49A6-AC6E-DB74C4DF3D9F}"/>
              </a:ext>
            </a:extLst>
          </p:cNvPr>
          <p:cNvSpPr>
            <a:spLocks noGrp="1"/>
          </p:cNvSpPr>
          <p:nvPr/>
        </p:nvSpPr>
        <p:spPr>
          <a:xfrm>
            <a:off x="628650" y="1381125"/>
            <a:ext cx="3771900" cy="2076450"/>
          </a:xfrm>
          <a:prstGeom prst="rect">
            <a:avLst/>
          </a:prstGeom>
          <a:solidFill>
            <a:srgbClr val="ECF2F4"/>
          </a:solidFill>
          <a:ln w="0">
            <a:noFill/>
            <a:prstDash val="solid"/>
          </a:ln>
        </p:spPr>
      </p:sp>
      <p:sp>
        <p:nvSpPr>
          <p:cNvPr id="6" name="Rectangle 5">
            <a:extLst>
              <a:ext uri="{FF2B5EF4-FFF2-40B4-BE49-F238E27FC236}">
                <a16:creationId xmlns:a16="http://schemas.microsoft.com/office/drawing/2014/main" id="{D271962E-DF56-4145-A5B0-8ADF65B387AE}"/>
              </a:ext>
            </a:extLst>
          </p:cNvPr>
          <p:cNvSpPr>
            <a:spLocks noGrp="1"/>
          </p:cNvSpPr>
          <p:nvPr/>
        </p:nvSpPr>
        <p:spPr>
          <a:xfrm>
            <a:off x="4743450" y="1381125"/>
            <a:ext cx="3771900" cy="2076450"/>
          </a:xfrm>
          <a:prstGeom prst="rect">
            <a:avLst/>
          </a:prstGeom>
          <a:solidFill>
            <a:srgbClr val="ECF2F4"/>
          </a:solidFill>
          <a:ln w="0">
            <a:noFill/>
            <a:prstDash val="solid"/>
          </a:ln>
        </p:spPr>
      </p:sp>
      <p:sp>
        <p:nvSpPr>
          <p:cNvPr id="7" name="Rectangle 6">
            <a:extLst>
              <a:ext uri="{FF2B5EF4-FFF2-40B4-BE49-F238E27FC236}">
                <a16:creationId xmlns:a16="http://schemas.microsoft.com/office/drawing/2014/main" id="{D50569FB-4384-44A9-8BBE-ABE3849E2E93}"/>
              </a:ext>
            </a:extLst>
          </p:cNvPr>
          <p:cNvSpPr>
            <a:spLocks noGrp="1"/>
          </p:cNvSpPr>
          <p:nvPr/>
        </p:nvSpPr>
        <p:spPr>
          <a:xfrm>
            <a:off x="809625" y="1524000"/>
            <a:ext cx="3390900" cy="323850"/>
          </a:xfrm>
          <a:prstGeom prst="rect">
            <a:avLst/>
          </a:prstGeom>
          <a:noFill/>
          <a:ln w="0">
            <a:noFill/>
            <a:prstDash val="solid"/>
          </a:ln>
        </p:spPr>
        <p:txBody>
          <a:bodyPr wrap="square" lIns="0" tIns="0" rIns="0" bIns="0" anchor="ctr">
            <a:normAutofit/>
          </a:bodyPr>
          <a:lstStyle>
            <a:defPPr algn="l">
              <a:defRPr sz="1575" b="1">
                <a:solidFill>
                  <a:srgbClr val="F1A12B"/>
                </a:solidFill>
                <a:latin typeface="Calibri"/>
                <a:ea typeface="Calibri"/>
                <a:cs typeface="Calibri"/>
              </a:defRPr>
            </a:defPPr>
            <a:lvl1pPr algn="l">
              <a:defRPr sz="1575" b="1">
                <a:solidFill>
                  <a:srgbClr val="F1A12B"/>
                </a:solidFill>
                <a:latin typeface="Calibri"/>
                <a:ea typeface="Calibri"/>
                <a:cs typeface="Calibri"/>
              </a:defRPr>
            </a:lvl1pPr>
            <a:lvl2pPr algn="l">
              <a:defRPr sz="1575" b="1">
                <a:solidFill>
                  <a:srgbClr val="F1A12B"/>
                </a:solidFill>
                <a:latin typeface="Calibri"/>
                <a:ea typeface="Calibri"/>
                <a:cs typeface="Calibri"/>
              </a:defRPr>
            </a:lvl2pPr>
            <a:lvl3pPr algn="l">
              <a:defRPr sz="1575" b="1">
                <a:solidFill>
                  <a:srgbClr val="F1A12B"/>
                </a:solidFill>
                <a:latin typeface="Calibri"/>
                <a:ea typeface="Calibri"/>
                <a:cs typeface="Calibri"/>
              </a:defRPr>
            </a:lvl3pPr>
            <a:lvl4pPr algn="l">
              <a:defRPr sz="1575" b="1">
                <a:solidFill>
                  <a:srgbClr val="F1A12B"/>
                </a:solidFill>
                <a:latin typeface="Calibri"/>
                <a:ea typeface="Calibri"/>
                <a:cs typeface="Calibri"/>
              </a:defRPr>
            </a:lvl4pPr>
            <a:lvl5pPr algn="l">
              <a:defRPr sz="1575" b="1">
                <a:solidFill>
                  <a:srgbClr val="F1A12B"/>
                </a:solidFill>
                <a:latin typeface="Calibri"/>
                <a:ea typeface="Calibri"/>
                <a:cs typeface="Calibri"/>
              </a:defRPr>
            </a:lvl5pPr>
            <a:lvl6pPr algn="l">
              <a:defRPr sz="1575" b="1">
                <a:solidFill>
                  <a:srgbClr val="F1A12B"/>
                </a:solidFill>
                <a:latin typeface="Calibri"/>
                <a:ea typeface="Calibri"/>
                <a:cs typeface="Calibri"/>
              </a:defRPr>
            </a:lvl6pPr>
            <a:lvl7pPr algn="l">
              <a:defRPr sz="1575" b="1">
                <a:solidFill>
                  <a:srgbClr val="F1A12B"/>
                </a:solidFill>
                <a:latin typeface="Calibri"/>
                <a:ea typeface="Calibri"/>
                <a:cs typeface="Calibri"/>
              </a:defRPr>
            </a:lvl7pPr>
            <a:lvl8pPr algn="l">
              <a:defRPr sz="1575" b="1">
                <a:solidFill>
                  <a:srgbClr val="F1A12B"/>
                </a:solidFill>
                <a:latin typeface="Calibri"/>
                <a:ea typeface="Calibri"/>
                <a:cs typeface="Calibri"/>
              </a:defRPr>
            </a:lvl8pPr>
            <a:lvl9pPr algn="l">
              <a:defRPr sz="1575" b="1">
                <a:solidFill>
                  <a:srgbClr val="F1A12B"/>
                </a:solidFill>
                <a:latin typeface="Calibri"/>
                <a:ea typeface="Calibri"/>
                <a:cs typeface="Calibri"/>
              </a:defRPr>
            </a:lvl9pPr>
          </a:lstStyle>
          <a:p>
            <a:pPr algn="l">
              <a:buNone/>
              <a:defRPr sz="1575" b="1">
                <a:solidFill>
                  <a:srgbClr val="F1A12B"/>
                </a:solidFill>
                <a:latin typeface="Calibri"/>
                <a:ea typeface="Calibri"/>
                <a:cs typeface="Calibri"/>
              </a:defRPr>
            </a:pPr>
            <a:r>
              <a:rPr sz="1575" b="1">
                <a:solidFill>
                  <a:srgbClr val="F1A12B"/>
                </a:solidFill>
                <a:latin typeface="Calibri"/>
                <a:ea typeface="Calibri"/>
                <a:cs typeface="Calibri"/>
              </a:rPr>
              <a:t>Validation  ·  124 utterances</a:t>
            </a:r>
          </a:p>
        </p:txBody>
      </p:sp>
      <p:sp>
        <p:nvSpPr>
          <p:cNvPr id="8" name="Rectangle 7">
            <a:extLst>
              <a:ext uri="{FF2B5EF4-FFF2-40B4-BE49-F238E27FC236}">
                <a16:creationId xmlns:a16="http://schemas.microsoft.com/office/drawing/2014/main" id="{917568C4-4161-40AD-8561-0A7C90A6B09E}"/>
              </a:ext>
            </a:extLst>
          </p:cNvPr>
          <p:cNvSpPr>
            <a:spLocks noGrp="1"/>
          </p:cNvSpPr>
          <p:nvPr/>
        </p:nvSpPr>
        <p:spPr>
          <a:xfrm>
            <a:off x="809625" y="1971675"/>
            <a:ext cx="1619250" cy="685800"/>
          </a:xfrm>
          <a:prstGeom prst="rect">
            <a:avLst/>
          </a:prstGeom>
          <a:noFill/>
          <a:ln w="0">
            <a:noFill/>
            <a:prstDash val="solid"/>
          </a:ln>
        </p:spPr>
        <p:txBody>
          <a:bodyPr wrap="square" lIns="0" tIns="0" rIns="0" bIns="0" anchor="ctr">
            <a:normAutofit/>
          </a:bodyPr>
          <a:lstStyle>
            <a:defPPr algn="l">
              <a:defRPr sz="3675" b="1">
                <a:solidFill>
                  <a:srgbClr val="1C2D49"/>
                </a:solidFill>
                <a:latin typeface="Cambria"/>
                <a:ea typeface="Cambria"/>
                <a:cs typeface="Cambria"/>
              </a:defRPr>
            </a:defPPr>
            <a:lvl1pPr algn="l">
              <a:defRPr sz="3675" b="1">
                <a:solidFill>
                  <a:srgbClr val="1C2D49"/>
                </a:solidFill>
                <a:latin typeface="Cambria"/>
                <a:ea typeface="Cambria"/>
                <a:cs typeface="Cambria"/>
              </a:defRPr>
            </a:lvl1pPr>
            <a:lvl2pPr algn="l">
              <a:defRPr sz="3675" b="1">
                <a:solidFill>
                  <a:srgbClr val="1C2D49"/>
                </a:solidFill>
                <a:latin typeface="Cambria"/>
                <a:ea typeface="Cambria"/>
                <a:cs typeface="Cambria"/>
              </a:defRPr>
            </a:lvl2pPr>
            <a:lvl3pPr algn="l">
              <a:defRPr sz="3675" b="1">
                <a:solidFill>
                  <a:srgbClr val="1C2D49"/>
                </a:solidFill>
                <a:latin typeface="Cambria"/>
                <a:ea typeface="Cambria"/>
                <a:cs typeface="Cambria"/>
              </a:defRPr>
            </a:lvl3pPr>
            <a:lvl4pPr algn="l">
              <a:defRPr sz="3675" b="1">
                <a:solidFill>
                  <a:srgbClr val="1C2D49"/>
                </a:solidFill>
                <a:latin typeface="Cambria"/>
                <a:ea typeface="Cambria"/>
                <a:cs typeface="Cambria"/>
              </a:defRPr>
            </a:lvl4pPr>
            <a:lvl5pPr algn="l">
              <a:defRPr sz="3675" b="1">
                <a:solidFill>
                  <a:srgbClr val="1C2D49"/>
                </a:solidFill>
                <a:latin typeface="Cambria"/>
                <a:ea typeface="Cambria"/>
                <a:cs typeface="Cambria"/>
              </a:defRPr>
            </a:lvl5pPr>
            <a:lvl6pPr algn="l">
              <a:defRPr sz="3675" b="1">
                <a:solidFill>
                  <a:srgbClr val="1C2D49"/>
                </a:solidFill>
                <a:latin typeface="Cambria"/>
                <a:ea typeface="Cambria"/>
                <a:cs typeface="Cambria"/>
              </a:defRPr>
            </a:lvl6pPr>
            <a:lvl7pPr algn="l">
              <a:defRPr sz="3675" b="1">
                <a:solidFill>
                  <a:srgbClr val="1C2D49"/>
                </a:solidFill>
                <a:latin typeface="Cambria"/>
                <a:ea typeface="Cambria"/>
                <a:cs typeface="Cambria"/>
              </a:defRPr>
            </a:lvl7pPr>
            <a:lvl8pPr algn="l">
              <a:defRPr sz="3675" b="1">
                <a:solidFill>
                  <a:srgbClr val="1C2D49"/>
                </a:solidFill>
                <a:latin typeface="Cambria"/>
                <a:ea typeface="Cambria"/>
                <a:cs typeface="Cambria"/>
              </a:defRPr>
            </a:lvl8pPr>
            <a:lvl9pPr algn="l">
              <a:defRPr sz="3675" b="1">
                <a:solidFill>
                  <a:srgbClr val="1C2D49"/>
                </a:solidFill>
                <a:latin typeface="Cambria"/>
                <a:ea typeface="Cambria"/>
                <a:cs typeface="Cambria"/>
              </a:defRPr>
            </a:lvl9pPr>
          </a:lstStyle>
          <a:p>
            <a:pPr algn="l">
              <a:buNone/>
              <a:defRPr sz="3675" b="1">
                <a:solidFill>
                  <a:srgbClr val="1C2D49"/>
                </a:solidFill>
                <a:latin typeface="Cambria"/>
                <a:ea typeface="Cambria"/>
                <a:cs typeface="Cambria"/>
              </a:defRPr>
            </a:pPr>
            <a:r>
              <a:rPr sz="3675" b="1">
                <a:solidFill>
                  <a:srgbClr val="1C2D49"/>
                </a:solidFill>
                <a:latin typeface="Cambria"/>
                <a:ea typeface="Cambria"/>
                <a:cs typeface="Cambria"/>
              </a:rPr>
              <a:t>12.42</a:t>
            </a:r>
          </a:p>
        </p:txBody>
      </p:sp>
      <p:sp>
        <p:nvSpPr>
          <p:cNvPr id="9" name="Rectangle 8">
            <a:extLst>
              <a:ext uri="{FF2B5EF4-FFF2-40B4-BE49-F238E27FC236}">
                <a16:creationId xmlns:a16="http://schemas.microsoft.com/office/drawing/2014/main" id="{D4D6CAFB-99CF-486C-AF7E-69D490CE38A7}"/>
              </a:ext>
            </a:extLst>
          </p:cNvPr>
          <p:cNvSpPr>
            <a:spLocks noGrp="1"/>
          </p:cNvSpPr>
          <p:nvPr/>
        </p:nvSpPr>
        <p:spPr>
          <a:xfrm>
            <a:off x="2524125" y="1971675"/>
            <a:ext cx="1628775" cy="685800"/>
          </a:xfrm>
          <a:prstGeom prst="rect">
            <a:avLst/>
          </a:prstGeom>
          <a:noFill/>
          <a:ln w="0">
            <a:noFill/>
            <a:prstDash val="solid"/>
          </a:ln>
        </p:spPr>
        <p:txBody>
          <a:bodyPr wrap="square" lIns="0" tIns="0" rIns="0" bIns="0" anchor="ctr">
            <a:normAutofit/>
          </a:bodyPr>
          <a:lstStyle>
            <a:defPPr algn="l">
              <a:defRPr sz="3675" b="1">
                <a:solidFill>
                  <a:srgbClr val="1C2D49"/>
                </a:solidFill>
                <a:latin typeface="Cambria"/>
                <a:ea typeface="Cambria"/>
                <a:cs typeface="Cambria"/>
              </a:defRPr>
            </a:defPPr>
            <a:lvl1pPr algn="l">
              <a:defRPr sz="3675" b="1">
                <a:solidFill>
                  <a:srgbClr val="1C2D49"/>
                </a:solidFill>
                <a:latin typeface="Cambria"/>
                <a:ea typeface="Cambria"/>
                <a:cs typeface="Cambria"/>
              </a:defRPr>
            </a:lvl1pPr>
            <a:lvl2pPr algn="l">
              <a:defRPr sz="3675" b="1">
                <a:solidFill>
                  <a:srgbClr val="1C2D49"/>
                </a:solidFill>
                <a:latin typeface="Cambria"/>
                <a:ea typeface="Cambria"/>
                <a:cs typeface="Cambria"/>
              </a:defRPr>
            </a:lvl2pPr>
            <a:lvl3pPr algn="l">
              <a:defRPr sz="3675" b="1">
                <a:solidFill>
                  <a:srgbClr val="1C2D49"/>
                </a:solidFill>
                <a:latin typeface="Cambria"/>
                <a:ea typeface="Cambria"/>
                <a:cs typeface="Cambria"/>
              </a:defRPr>
            </a:lvl3pPr>
            <a:lvl4pPr algn="l">
              <a:defRPr sz="3675" b="1">
                <a:solidFill>
                  <a:srgbClr val="1C2D49"/>
                </a:solidFill>
                <a:latin typeface="Cambria"/>
                <a:ea typeface="Cambria"/>
                <a:cs typeface="Cambria"/>
              </a:defRPr>
            </a:lvl4pPr>
            <a:lvl5pPr algn="l">
              <a:defRPr sz="3675" b="1">
                <a:solidFill>
                  <a:srgbClr val="1C2D49"/>
                </a:solidFill>
                <a:latin typeface="Cambria"/>
                <a:ea typeface="Cambria"/>
                <a:cs typeface="Cambria"/>
              </a:defRPr>
            </a:lvl5pPr>
            <a:lvl6pPr algn="l">
              <a:defRPr sz="3675" b="1">
                <a:solidFill>
                  <a:srgbClr val="1C2D49"/>
                </a:solidFill>
                <a:latin typeface="Cambria"/>
                <a:ea typeface="Cambria"/>
                <a:cs typeface="Cambria"/>
              </a:defRPr>
            </a:lvl6pPr>
            <a:lvl7pPr algn="l">
              <a:defRPr sz="3675" b="1">
                <a:solidFill>
                  <a:srgbClr val="1C2D49"/>
                </a:solidFill>
                <a:latin typeface="Cambria"/>
                <a:ea typeface="Cambria"/>
                <a:cs typeface="Cambria"/>
              </a:defRPr>
            </a:lvl7pPr>
            <a:lvl8pPr algn="l">
              <a:defRPr sz="3675" b="1">
                <a:solidFill>
                  <a:srgbClr val="1C2D49"/>
                </a:solidFill>
                <a:latin typeface="Cambria"/>
                <a:ea typeface="Cambria"/>
                <a:cs typeface="Cambria"/>
              </a:defRPr>
            </a:lvl8pPr>
            <a:lvl9pPr algn="l">
              <a:defRPr sz="3675" b="1">
                <a:solidFill>
                  <a:srgbClr val="1C2D49"/>
                </a:solidFill>
                <a:latin typeface="Cambria"/>
                <a:ea typeface="Cambria"/>
                <a:cs typeface="Cambria"/>
              </a:defRPr>
            </a:lvl9pPr>
          </a:lstStyle>
          <a:p>
            <a:pPr algn="l">
              <a:buNone/>
              <a:defRPr sz="3675" b="1">
                <a:solidFill>
                  <a:srgbClr val="1C2D49"/>
                </a:solidFill>
                <a:latin typeface="Cambria"/>
                <a:ea typeface="Cambria"/>
                <a:cs typeface="Cambria"/>
              </a:defRPr>
            </a:pPr>
            <a:r>
              <a:rPr sz="3675" b="1">
                <a:solidFill>
                  <a:srgbClr val="1C2D49"/>
                </a:solidFill>
                <a:latin typeface="Cambria"/>
                <a:ea typeface="Cambria"/>
                <a:cs typeface="Cambria"/>
              </a:rPr>
              <a:t>27.99</a:t>
            </a:r>
          </a:p>
        </p:txBody>
      </p:sp>
      <p:sp>
        <p:nvSpPr>
          <p:cNvPr id="10" name="Rectangle 9">
            <a:extLst>
              <a:ext uri="{FF2B5EF4-FFF2-40B4-BE49-F238E27FC236}">
                <a16:creationId xmlns:a16="http://schemas.microsoft.com/office/drawing/2014/main" id="{562BC645-52C5-49DD-96F0-57FA8F0AE104}"/>
              </a:ext>
            </a:extLst>
          </p:cNvPr>
          <p:cNvSpPr>
            <a:spLocks noGrp="1"/>
          </p:cNvSpPr>
          <p:nvPr/>
        </p:nvSpPr>
        <p:spPr>
          <a:xfrm>
            <a:off x="809625" y="2724150"/>
            <a:ext cx="1619250" cy="304800"/>
          </a:xfrm>
          <a:prstGeom prst="rect">
            <a:avLst/>
          </a:prstGeom>
          <a:noFill/>
          <a:ln w="0">
            <a:noFill/>
            <a:prstDash val="solid"/>
          </a:ln>
        </p:spPr>
        <p:txBody>
          <a:bodyPr wrap="square" lIns="0" tIns="0" rIns="0" bIns="0" anchor="ctr">
            <a:normAutofit/>
          </a:bodyPr>
          <a:lstStyle>
            <a:defPPr algn="l">
              <a:defRPr sz="1275" b="0">
                <a:solidFill>
                  <a:srgbClr val="5C6C7B"/>
                </a:solidFill>
                <a:latin typeface="Calibri"/>
                <a:ea typeface="Calibri"/>
                <a:cs typeface="Calibri"/>
              </a:defRPr>
            </a:defPPr>
            <a:lvl1pPr algn="l">
              <a:defRPr sz="1275" b="0">
                <a:solidFill>
                  <a:srgbClr val="5C6C7B"/>
                </a:solidFill>
                <a:latin typeface="Calibri"/>
                <a:ea typeface="Calibri"/>
                <a:cs typeface="Calibri"/>
              </a:defRPr>
            </a:lvl1pPr>
            <a:lvl2pPr algn="l">
              <a:defRPr sz="1275" b="0">
                <a:solidFill>
                  <a:srgbClr val="5C6C7B"/>
                </a:solidFill>
                <a:latin typeface="Calibri"/>
                <a:ea typeface="Calibri"/>
                <a:cs typeface="Calibri"/>
              </a:defRPr>
            </a:lvl2pPr>
            <a:lvl3pPr algn="l">
              <a:defRPr sz="1275" b="0">
                <a:solidFill>
                  <a:srgbClr val="5C6C7B"/>
                </a:solidFill>
                <a:latin typeface="Calibri"/>
                <a:ea typeface="Calibri"/>
                <a:cs typeface="Calibri"/>
              </a:defRPr>
            </a:lvl3pPr>
            <a:lvl4pPr algn="l">
              <a:defRPr sz="1275" b="0">
                <a:solidFill>
                  <a:srgbClr val="5C6C7B"/>
                </a:solidFill>
                <a:latin typeface="Calibri"/>
                <a:ea typeface="Calibri"/>
                <a:cs typeface="Calibri"/>
              </a:defRPr>
            </a:lvl4pPr>
            <a:lvl5pPr algn="l">
              <a:defRPr sz="1275" b="0">
                <a:solidFill>
                  <a:srgbClr val="5C6C7B"/>
                </a:solidFill>
                <a:latin typeface="Calibri"/>
                <a:ea typeface="Calibri"/>
                <a:cs typeface="Calibri"/>
              </a:defRPr>
            </a:lvl5pPr>
            <a:lvl6pPr algn="l">
              <a:defRPr sz="1275" b="0">
                <a:solidFill>
                  <a:srgbClr val="5C6C7B"/>
                </a:solidFill>
                <a:latin typeface="Calibri"/>
                <a:ea typeface="Calibri"/>
                <a:cs typeface="Calibri"/>
              </a:defRPr>
            </a:lvl6pPr>
            <a:lvl7pPr algn="l">
              <a:defRPr sz="1275" b="0">
                <a:solidFill>
                  <a:srgbClr val="5C6C7B"/>
                </a:solidFill>
                <a:latin typeface="Calibri"/>
                <a:ea typeface="Calibri"/>
                <a:cs typeface="Calibri"/>
              </a:defRPr>
            </a:lvl7pPr>
            <a:lvl8pPr algn="l">
              <a:defRPr sz="1275" b="0">
                <a:solidFill>
                  <a:srgbClr val="5C6C7B"/>
                </a:solidFill>
                <a:latin typeface="Calibri"/>
                <a:ea typeface="Calibri"/>
                <a:cs typeface="Calibri"/>
              </a:defRPr>
            </a:lvl8pPr>
            <a:lvl9pPr algn="l">
              <a:defRPr sz="1275" b="0">
                <a:solidFill>
                  <a:srgbClr val="5C6C7B"/>
                </a:solidFill>
                <a:latin typeface="Calibri"/>
                <a:ea typeface="Calibri"/>
                <a:cs typeface="Calibri"/>
              </a:defRPr>
            </a:lvl9pPr>
          </a:lstStyle>
          <a:p>
            <a:pPr algn="l">
              <a:buNone/>
              <a:defRPr sz="1275" b="0">
                <a:solidFill>
                  <a:srgbClr val="5C6C7B"/>
                </a:solidFill>
                <a:latin typeface="Calibri"/>
                <a:ea typeface="Calibri"/>
                <a:cs typeface="Calibri"/>
              </a:defRPr>
            </a:pPr>
            <a:r>
              <a:rPr sz="1275" b="0">
                <a:solidFill>
                  <a:srgbClr val="5C6C7B"/>
                </a:solidFill>
                <a:latin typeface="Calibri"/>
                <a:ea typeface="Calibri"/>
                <a:cs typeface="Calibri"/>
              </a:rPr>
              <a:t>CER (%)</a:t>
            </a:r>
          </a:p>
        </p:txBody>
      </p:sp>
      <p:sp>
        <p:nvSpPr>
          <p:cNvPr id="11" name="Rectangle 10">
            <a:extLst>
              <a:ext uri="{FF2B5EF4-FFF2-40B4-BE49-F238E27FC236}">
                <a16:creationId xmlns:a16="http://schemas.microsoft.com/office/drawing/2014/main" id="{1B4A93A5-4C79-47D8-AB03-28D93B464D88}"/>
              </a:ext>
            </a:extLst>
          </p:cNvPr>
          <p:cNvSpPr>
            <a:spLocks noGrp="1"/>
          </p:cNvSpPr>
          <p:nvPr/>
        </p:nvSpPr>
        <p:spPr>
          <a:xfrm>
            <a:off x="2524125" y="2724150"/>
            <a:ext cx="1619250" cy="304800"/>
          </a:xfrm>
          <a:prstGeom prst="rect">
            <a:avLst/>
          </a:prstGeom>
          <a:noFill/>
          <a:ln w="0">
            <a:noFill/>
            <a:prstDash val="solid"/>
          </a:ln>
        </p:spPr>
        <p:txBody>
          <a:bodyPr wrap="square" lIns="0" tIns="0" rIns="0" bIns="0" anchor="ctr">
            <a:normAutofit/>
          </a:bodyPr>
          <a:lstStyle>
            <a:defPPr algn="l">
              <a:defRPr sz="1275" b="0">
                <a:solidFill>
                  <a:srgbClr val="5C6C7B"/>
                </a:solidFill>
                <a:latin typeface="Calibri"/>
                <a:ea typeface="Calibri"/>
                <a:cs typeface="Calibri"/>
              </a:defRPr>
            </a:defPPr>
            <a:lvl1pPr algn="l">
              <a:defRPr sz="1275" b="0">
                <a:solidFill>
                  <a:srgbClr val="5C6C7B"/>
                </a:solidFill>
                <a:latin typeface="Calibri"/>
                <a:ea typeface="Calibri"/>
                <a:cs typeface="Calibri"/>
              </a:defRPr>
            </a:lvl1pPr>
            <a:lvl2pPr algn="l">
              <a:defRPr sz="1275" b="0">
                <a:solidFill>
                  <a:srgbClr val="5C6C7B"/>
                </a:solidFill>
                <a:latin typeface="Calibri"/>
                <a:ea typeface="Calibri"/>
                <a:cs typeface="Calibri"/>
              </a:defRPr>
            </a:lvl2pPr>
            <a:lvl3pPr algn="l">
              <a:defRPr sz="1275" b="0">
                <a:solidFill>
                  <a:srgbClr val="5C6C7B"/>
                </a:solidFill>
                <a:latin typeface="Calibri"/>
                <a:ea typeface="Calibri"/>
                <a:cs typeface="Calibri"/>
              </a:defRPr>
            </a:lvl3pPr>
            <a:lvl4pPr algn="l">
              <a:defRPr sz="1275" b="0">
                <a:solidFill>
                  <a:srgbClr val="5C6C7B"/>
                </a:solidFill>
                <a:latin typeface="Calibri"/>
                <a:ea typeface="Calibri"/>
                <a:cs typeface="Calibri"/>
              </a:defRPr>
            </a:lvl4pPr>
            <a:lvl5pPr algn="l">
              <a:defRPr sz="1275" b="0">
                <a:solidFill>
                  <a:srgbClr val="5C6C7B"/>
                </a:solidFill>
                <a:latin typeface="Calibri"/>
                <a:ea typeface="Calibri"/>
                <a:cs typeface="Calibri"/>
              </a:defRPr>
            </a:lvl5pPr>
            <a:lvl6pPr algn="l">
              <a:defRPr sz="1275" b="0">
                <a:solidFill>
                  <a:srgbClr val="5C6C7B"/>
                </a:solidFill>
                <a:latin typeface="Calibri"/>
                <a:ea typeface="Calibri"/>
                <a:cs typeface="Calibri"/>
              </a:defRPr>
            </a:lvl6pPr>
            <a:lvl7pPr algn="l">
              <a:defRPr sz="1275" b="0">
                <a:solidFill>
                  <a:srgbClr val="5C6C7B"/>
                </a:solidFill>
                <a:latin typeface="Calibri"/>
                <a:ea typeface="Calibri"/>
                <a:cs typeface="Calibri"/>
              </a:defRPr>
            </a:lvl7pPr>
            <a:lvl8pPr algn="l">
              <a:defRPr sz="1275" b="0">
                <a:solidFill>
                  <a:srgbClr val="5C6C7B"/>
                </a:solidFill>
                <a:latin typeface="Calibri"/>
                <a:ea typeface="Calibri"/>
                <a:cs typeface="Calibri"/>
              </a:defRPr>
            </a:lvl8pPr>
            <a:lvl9pPr algn="l">
              <a:defRPr sz="1275" b="0">
                <a:solidFill>
                  <a:srgbClr val="5C6C7B"/>
                </a:solidFill>
                <a:latin typeface="Calibri"/>
                <a:ea typeface="Calibri"/>
                <a:cs typeface="Calibri"/>
              </a:defRPr>
            </a:lvl9pPr>
          </a:lstStyle>
          <a:p>
            <a:pPr algn="l">
              <a:buNone/>
              <a:defRPr sz="1275" b="0">
                <a:solidFill>
                  <a:srgbClr val="5C6C7B"/>
                </a:solidFill>
                <a:latin typeface="Calibri"/>
                <a:ea typeface="Calibri"/>
                <a:cs typeface="Calibri"/>
              </a:defRPr>
            </a:pPr>
            <a:r>
              <a:rPr sz="1275" b="0">
                <a:solidFill>
                  <a:srgbClr val="5C6C7B"/>
                </a:solidFill>
                <a:latin typeface="Calibri"/>
                <a:ea typeface="Calibri"/>
                <a:cs typeface="Calibri"/>
              </a:rPr>
              <a:t>ICU WER (%)</a:t>
            </a:r>
          </a:p>
        </p:txBody>
      </p:sp>
      <p:sp>
        <p:nvSpPr>
          <p:cNvPr id="12" name="Rectangle 11">
            <a:extLst>
              <a:ext uri="{FF2B5EF4-FFF2-40B4-BE49-F238E27FC236}">
                <a16:creationId xmlns:a16="http://schemas.microsoft.com/office/drawing/2014/main" id="{9E477625-AC6D-490C-B40E-6C4D4C80F4DC}"/>
              </a:ext>
            </a:extLst>
          </p:cNvPr>
          <p:cNvSpPr>
            <a:spLocks noGrp="1"/>
          </p:cNvSpPr>
          <p:nvPr/>
        </p:nvSpPr>
        <p:spPr>
          <a:xfrm>
            <a:off x="4933950" y="1524000"/>
            <a:ext cx="3381375" cy="323850"/>
          </a:xfrm>
          <a:prstGeom prst="rect">
            <a:avLst/>
          </a:prstGeom>
          <a:noFill/>
          <a:ln w="0">
            <a:noFill/>
            <a:prstDash val="solid"/>
          </a:ln>
        </p:spPr>
        <p:txBody>
          <a:bodyPr wrap="square" lIns="0" tIns="0" rIns="0" bIns="0" anchor="ctr">
            <a:normAutofit/>
          </a:bodyPr>
          <a:lstStyle>
            <a:defPPr algn="l">
              <a:defRPr sz="1575" b="1">
                <a:solidFill>
                  <a:srgbClr val="174E6E"/>
                </a:solidFill>
                <a:latin typeface="Calibri"/>
                <a:ea typeface="Calibri"/>
                <a:cs typeface="Calibri"/>
              </a:defRPr>
            </a:defPPr>
            <a:lvl1pPr algn="l">
              <a:defRPr sz="1575" b="1">
                <a:solidFill>
                  <a:srgbClr val="174E6E"/>
                </a:solidFill>
                <a:latin typeface="Calibri"/>
                <a:ea typeface="Calibri"/>
                <a:cs typeface="Calibri"/>
              </a:defRPr>
            </a:lvl1pPr>
            <a:lvl2pPr algn="l">
              <a:defRPr sz="1575" b="1">
                <a:solidFill>
                  <a:srgbClr val="174E6E"/>
                </a:solidFill>
                <a:latin typeface="Calibri"/>
                <a:ea typeface="Calibri"/>
                <a:cs typeface="Calibri"/>
              </a:defRPr>
            </a:lvl2pPr>
            <a:lvl3pPr algn="l">
              <a:defRPr sz="1575" b="1">
                <a:solidFill>
                  <a:srgbClr val="174E6E"/>
                </a:solidFill>
                <a:latin typeface="Calibri"/>
                <a:ea typeface="Calibri"/>
                <a:cs typeface="Calibri"/>
              </a:defRPr>
            </a:lvl3pPr>
            <a:lvl4pPr algn="l">
              <a:defRPr sz="1575" b="1">
                <a:solidFill>
                  <a:srgbClr val="174E6E"/>
                </a:solidFill>
                <a:latin typeface="Calibri"/>
                <a:ea typeface="Calibri"/>
                <a:cs typeface="Calibri"/>
              </a:defRPr>
            </a:lvl4pPr>
            <a:lvl5pPr algn="l">
              <a:defRPr sz="1575" b="1">
                <a:solidFill>
                  <a:srgbClr val="174E6E"/>
                </a:solidFill>
                <a:latin typeface="Calibri"/>
                <a:ea typeface="Calibri"/>
                <a:cs typeface="Calibri"/>
              </a:defRPr>
            </a:lvl5pPr>
            <a:lvl6pPr algn="l">
              <a:defRPr sz="1575" b="1">
                <a:solidFill>
                  <a:srgbClr val="174E6E"/>
                </a:solidFill>
                <a:latin typeface="Calibri"/>
                <a:ea typeface="Calibri"/>
                <a:cs typeface="Calibri"/>
              </a:defRPr>
            </a:lvl6pPr>
            <a:lvl7pPr algn="l">
              <a:defRPr sz="1575" b="1">
                <a:solidFill>
                  <a:srgbClr val="174E6E"/>
                </a:solidFill>
                <a:latin typeface="Calibri"/>
                <a:ea typeface="Calibri"/>
                <a:cs typeface="Calibri"/>
              </a:defRPr>
            </a:lvl7pPr>
            <a:lvl8pPr algn="l">
              <a:defRPr sz="1575" b="1">
                <a:solidFill>
                  <a:srgbClr val="174E6E"/>
                </a:solidFill>
                <a:latin typeface="Calibri"/>
                <a:ea typeface="Calibri"/>
                <a:cs typeface="Calibri"/>
              </a:defRPr>
            </a:lvl8pPr>
            <a:lvl9pPr algn="l">
              <a:defRPr sz="1575" b="1">
                <a:solidFill>
                  <a:srgbClr val="174E6E"/>
                </a:solidFill>
                <a:latin typeface="Calibri"/>
                <a:ea typeface="Calibri"/>
                <a:cs typeface="Calibri"/>
              </a:defRPr>
            </a:lvl9pPr>
          </a:lstStyle>
          <a:p>
            <a:pPr algn="l">
              <a:buNone/>
              <a:defRPr sz="1575" b="1">
                <a:solidFill>
                  <a:srgbClr val="174E6E"/>
                </a:solidFill>
                <a:latin typeface="Calibri"/>
                <a:ea typeface="Calibri"/>
                <a:cs typeface="Calibri"/>
              </a:defRPr>
            </a:pPr>
            <a:r>
              <a:rPr sz="1575" b="1">
                <a:solidFill>
                  <a:srgbClr val="174E6E"/>
                </a:solidFill>
                <a:latin typeface="Calibri"/>
                <a:ea typeface="Calibri"/>
                <a:cs typeface="Calibri"/>
              </a:rPr>
              <a:t>Held-out test  ·  114 utterances</a:t>
            </a:r>
          </a:p>
        </p:txBody>
      </p:sp>
      <p:sp>
        <p:nvSpPr>
          <p:cNvPr id="13" name="Rectangle 12">
            <a:extLst>
              <a:ext uri="{FF2B5EF4-FFF2-40B4-BE49-F238E27FC236}">
                <a16:creationId xmlns:a16="http://schemas.microsoft.com/office/drawing/2014/main" id="{B93631F2-A84B-4BDD-B681-86B534F5CF31}"/>
              </a:ext>
            </a:extLst>
          </p:cNvPr>
          <p:cNvSpPr>
            <a:spLocks noGrp="1"/>
          </p:cNvSpPr>
          <p:nvPr/>
        </p:nvSpPr>
        <p:spPr>
          <a:xfrm>
            <a:off x="4933950" y="1971675"/>
            <a:ext cx="1619250" cy="685800"/>
          </a:xfrm>
          <a:prstGeom prst="rect">
            <a:avLst/>
          </a:prstGeom>
          <a:noFill/>
          <a:ln w="0">
            <a:noFill/>
            <a:prstDash val="solid"/>
          </a:ln>
        </p:spPr>
        <p:txBody>
          <a:bodyPr wrap="square" lIns="0" tIns="0" rIns="0" bIns="0" anchor="ctr">
            <a:normAutofit/>
          </a:bodyPr>
          <a:lstStyle>
            <a:defPPr algn="l">
              <a:defRPr sz="3675" b="1">
                <a:solidFill>
                  <a:srgbClr val="1C2D49"/>
                </a:solidFill>
                <a:latin typeface="Cambria"/>
                <a:ea typeface="Cambria"/>
                <a:cs typeface="Cambria"/>
              </a:defRPr>
            </a:defPPr>
            <a:lvl1pPr algn="l">
              <a:defRPr sz="3675" b="1">
                <a:solidFill>
                  <a:srgbClr val="1C2D49"/>
                </a:solidFill>
                <a:latin typeface="Cambria"/>
                <a:ea typeface="Cambria"/>
                <a:cs typeface="Cambria"/>
              </a:defRPr>
            </a:lvl1pPr>
            <a:lvl2pPr algn="l">
              <a:defRPr sz="3675" b="1">
                <a:solidFill>
                  <a:srgbClr val="1C2D49"/>
                </a:solidFill>
                <a:latin typeface="Cambria"/>
                <a:ea typeface="Cambria"/>
                <a:cs typeface="Cambria"/>
              </a:defRPr>
            </a:lvl2pPr>
            <a:lvl3pPr algn="l">
              <a:defRPr sz="3675" b="1">
                <a:solidFill>
                  <a:srgbClr val="1C2D49"/>
                </a:solidFill>
                <a:latin typeface="Cambria"/>
                <a:ea typeface="Cambria"/>
                <a:cs typeface="Cambria"/>
              </a:defRPr>
            </a:lvl3pPr>
            <a:lvl4pPr algn="l">
              <a:defRPr sz="3675" b="1">
                <a:solidFill>
                  <a:srgbClr val="1C2D49"/>
                </a:solidFill>
                <a:latin typeface="Cambria"/>
                <a:ea typeface="Cambria"/>
                <a:cs typeface="Cambria"/>
              </a:defRPr>
            </a:lvl4pPr>
            <a:lvl5pPr algn="l">
              <a:defRPr sz="3675" b="1">
                <a:solidFill>
                  <a:srgbClr val="1C2D49"/>
                </a:solidFill>
                <a:latin typeface="Cambria"/>
                <a:ea typeface="Cambria"/>
                <a:cs typeface="Cambria"/>
              </a:defRPr>
            </a:lvl5pPr>
            <a:lvl6pPr algn="l">
              <a:defRPr sz="3675" b="1">
                <a:solidFill>
                  <a:srgbClr val="1C2D49"/>
                </a:solidFill>
                <a:latin typeface="Cambria"/>
                <a:ea typeface="Cambria"/>
                <a:cs typeface="Cambria"/>
              </a:defRPr>
            </a:lvl6pPr>
            <a:lvl7pPr algn="l">
              <a:defRPr sz="3675" b="1">
                <a:solidFill>
                  <a:srgbClr val="1C2D49"/>
                </a:solidFill>
                <a:latin typeface="Cambria"/>
                <a:ea typeface="Cambria"/>
                <a:cs typeface="Cambria"/>
              </a:defRPr>
            </a:lvl7pPr>
            <a:lvl8pPr algn="l">
              <a:defRPr sz="3675" b="1">
                <a:solidFill>
                  <a:srgbClr val="1C2D49"/>
                </a:solidFill>
                <a:latin typeface="Cambria"/>
                <a:ea typeface="Cambria"/>
                <a:cs typeface="Cambria"/>
              </a:defRPr>
            </a:lvl8pPr>
            <a:lvl9pPr algn="l">
              <a:defRPr sz="3675" b="1">
                <a:solidFill>
                  <a:srgbClr val="1C2D49"/>
                </a:solidFill>
                <a:latin typeface="Cambria"/>
                <a:ea typeface="Cambria"/>
                <a:cs typeface="Cambria"/>
              </a:defRPr>
            </a:lvl9pPr>
          </a:lstStyle>
          <a:p>
            <a:pPr algn="l">
              <a:buNone/>
              <a:defRPr sz="3675" b="1">
                <a:solidFill>
                  <a:srgbClr val="1C2D49"/>
                </a:solidFill>
                <a:latin typeface="Cambria"/>
                <a:ea typeface="Cambria"/>
                <a:cs typeface="Cambria"/>
              </a:defRPr>
            </a:pPr>
            <a:r>
              <a:rPr sz="3675" b="1">
                <a:solidFill>
                  <a:srgbClr val="1C2D49"/>
                </a:solidFill>
                <a:latin typeface="Cambria"/>
                <a:ea typeface="Cambria"/>
                <a:cs typeface="Cambria"/>
              </a:rPr>
              <a:t>13.71</a:t>
            </a:r>
          </a:p>
        </p:txBody>
      </p:sp>
      <p:sp>
        <p:nvSpPr>
          <p:cNvPr id="14" name="Rectangle 13">
            <a:extLst>
              <a:ext uri="{FF2B5EF4-FFF2-40B4-BE49-F238E27FC236}">
                <a16:creationId xmlns:a16="http://schemas.microsoft.com/office/drawing/2014/main" id="{B0447B55-7AC6-452C-BDBF-49448E1B668C}"/>
              </a:ext>
            </a:extLst>
          </p:cNvPr>
          <p:cNvSpPr>
            <a:spLocks noGrp="1"/>
          </p:cNvSpPr>
          <p:nvPr/>
        </p:nvSpPr>
        <p:spPr>
          <a:xfrm>
            <a:off x="6638925" y="1971675"/>
            <a:ext cx="1657350" cy="685800"/>
          </a:xfrm>
          <a:prstGeom prst="rect">
            <a:avLst/>
          </a:prstGeom>
          <a:noFill/>
          <a:ln w="0">
            <a:noFill/>
            <a:prstDash val="solid"/>
          </a:ln>
        </p:spPr>
        <p:txBody>
          <a:bodyPr wrap="square" lIns="0" tIns="0" rIns="0" bIns="0" anchor="ctr">
            <a:normAutofit/>
          </a:bodyPr>
          <a:lstStyle>
            <a:defPPr algn="l">
              <a:defRPr sz="3675" b="1">
                <a:solidFill>
                  <a:srgbClr val="1C2D49"/>
                </a:solidFill>
                <a:latin typeface="Cambria"/>
                <a:ea typeface="Cambria"/>
                <a:cs typeface="Cambria"/>
              </a:defRPr>
            </a:defPPr>
            <a:lvl1pPr algn="l">
              <a:defRPr sz="3675" b="1">
                <a:solidFill>
                  <a:srgbClr val="1C2D49"/>
                </a:solidFill>
                <a:latin typeface="Cambria"/>
                <a:ea typeface="Cambria"/>
                <a:cs typeface="Cambria"/>
              </a:defRPr>
            </a:lvl1pPr>
            <a:lvl2pPr algn="l">
              <a:defRPr sz="3675" b="1">
                <a:solidFill>
                  <a:srgbClr val="1C2D49"/>
                </a:solidFill>
                <a:latin typeface="Cambria"/>
                <a:ea typeface="Cambria"/>
                <a:cs typeface="Cambria"/>
              </a:defRPr>
            </a:lvl2pPr>
            <a:lvl3pPr algn="l">
              <a:defRPr sz="3675" b="1">
                <a:solidFill>
                  <a:srgbClr val="1C2D49"/>
                </a:solidFill>
                <a:latin typeface="Cambria"/>
                <a:ea typeface="Cambria"/>
                <a:cs typeface="Cambria"/>
              </a:defRPr>
            </a:lvl3pPr>
            <a:lvl4pPr algn="l">
              <a:defRPr sz="3675" b="1">
                <a:solidFill>
                  <a:srgbClr val="1C2D49"/>
                </a:solidFill>
                <a:latin typeface="Cambria"/>
                <a:ea typeface="Cambria"/>
                <a:cs typeface="Cambria"/>
              </a:defRPr>
            </a:lvl4pPr>
            <a:lvl5pPr algn="l">
              <a:defRPr sz="3675" b="1">
                <a:solidFill>
                  <a:srgbClr val="1C2D49"/>
                </a:solidFill>
                <a:latin typeface="Cambria"/>
                <a:ea typeface="Cambria"/>
                <a:cs typeface="Cambria"/>
              </a:defRPr>
            </a:lvl5pPr>
            <a:lvl6pPr algn="l">
              <a:defRPr sz="3675" b="1">
                <a:solidFill>
                  <a:srgbClr val="1C2D49"/>
                </a:solidFill>
                <a:latin typeface="Cambria"/>
                <a:ea typeface="Cambria"/>
                <a:cs typeface="Cambria"/>
              </a:defRPr>
            </a:lvl6pPr>
            <a:lvl7pPr algn="l">
              <a:defRPr sz="3675" b="1">
                <a:solidFill>
                  <a:srgbClr val="1C2D49"/>
                </a:solidFill>
                <a:latin typeface="Cambria"/>
                <a:ea typeface="Cambria"/>
                <a:cs typeface="Cambria"/>
              </a:defRPr>
            </a:lvl7pPr>
            <a:lvl8pPr algn="l">
              <a:defRPr sz="3675" b="1">
                <a:solidFill>
                  <a:srgbClr val="1C2D49"/>
                </a:solidFill>
                <a:latin typeface="Cambria"/>
                <a:ea typeface="Cambria"/>
                <a:cs typeface="Cambria"/>
              </a:defRPr>
            </a:lvl8pPr>
            <a:lvl9pPr algn="l">
              <a:defRPr sz="3675" b="1">
                <a:solidFill>
                  <a:srgbClr val="1C2D49"/>
                </a:solidFill>
                <a:latin typeface="Cambria"/>
                <a:ea typeface="Cambria"/>
                <a:cs typeface="Cambria"/>
              </a:defRPr>
            </a:lvl9pPr>
          </a:lstStyle>
          <a:p>
            <a:pPr algn="l">
              <a:buNone/>
              <a:defRPr sz="3675" b="1">
                <a:solidFill>
                  <a:srgbClr val="1C2D49"/>
                </a:solidFill>
                <a:latin typeface="Cambria"/>
                <a:ea typeface="Cambria"/>
                <a:cs typeface="Cambria"/>
              </a:defRPr>
            </a:pPr>
            <a:r>
              <a:rPr sz="3675" b="1">
                <a:solidFill>
                  <a:srgbClr val="1C2D49"/>
                </a:solidFill>
                <a:latin typeface="Cambria"/>
                <a:ea typeface="Cambria"/>
                <a:cs typeface="Cambria"/>
              </a:rPr>
              <a:t>33.40</a:t>
            </a:r>
          </a:p>
        </p:txBody>
      </p:sp>
      <p:sp>
        <p:nvSpPr>
          <p:cNvPr id="15" name="Rectangle 14">
            <a:extLst>
              <a:ext uri="{FF2B5EF4-FFF2-40B4-BE49-F238E27FC236}">
                <a16:creationId xmlns:a16="http://schemas.microsoft.com/office/drawing/2014/main" id="{68E598E2-4522-481D-B87F-B103BBEA3D4E}"/>
              </a:ext>
            </a:extLst>
          </p:cNvPr>
          <p:cNvSpPr>
            <a:spLocks noGrp="1"/>
          </p:cNvSpPr>
          <p:nvPr/>
        </p:nvSpPr>
        <p:spPr>
          <a:xfrm>
            <a:off x="4933950" y="2724150"/>
            <a:ext cx="1619250" cy="304800"/>
          </a:xfrm>
          <a:prstGeom prst="rect">
            <a:avLst/>
          </a:prstGeom>
          <a:noFill/>
          <a:ln w="0">
            <a:noFill/>
            <a:prstDash val="solid"/>
          </a:ln>
        </p:spPr>
        <p:txBody>
          <a:bodyPr wrap="square" lIns="0" tIns="0" rIns="0" bIns="0" anchor="ctr">
            <a:normAutofit/>
          </a:bodyPr>
          <a:lstStyle>
            <a:defPPr algn="l">
              <a:defRPr sz="1275" b="0">
                <a:solidFill>
                  <a:srgbClr val="5C6C7B"/>
                </a:solidFill>
                <a:latin typeface="Calibri"/>
                <a:ea typeface="Calibri"/>
                <a:cs typeface="Calibri"/>
              </a:defRPr>
            </a:defPPr>
            <a:lvl1pPr algn="l">
              <a:defRPr sz="1275" b="0">
                <a:solidFill>
                  <a:srgbClr val="5C6C7B"/>
                </a:solidFill>
                <a:latin typeface="Calibri"/>
                <a:ea typeface="Calibri"/>
                <a:cs typeface="Calibri"/>
              </a:defRPr>
            </a:lvl1pPr>
            <a:lvl2pPr algn="l">
              <a:defRPr sz="1275" b="0">
                <a:solidFill>
                  <a:srgbClr val="5C6C7B"/>
                </a:solidFill>
                <a:latin typeface="Calibri"/>
                <a:ea typeface="Calibri"/>
                <a:cs typeface="Calibri"/>
              </a:defRPr>
            </a:lvl2pPr>
            <a:lvl3pPr algn="l">
              <a:defRPr sz="1275" b="0">
                <a:solidFill>
                  <a:srgbClr val="5C6C7B"/>
                </a:solidFill>
                <a:latin typeface="Calibri"/>
                <a:ea typeface="Calibri"/>
                <a:cs typeface="Calibri"/>
              </a:defRPr>
            </a:lvl3pPr>
            <a:lvl4pPr algn="l">
              <a:defRPr sz="1275" b="0">
                <a:solidFill>
                  <a:srgbClr val="5C6C7B"/>
                </a:solidFill>
                <a:latin typeface="Calibri"/>
                <a:ea typeface="Calibri"/>
                <a:cs typeface="Calibri"/>
              </a:defRPr>
            </a:lvl4pPr>
            <a:lvl5pPr algn="l">
              <a:defRPr sz="1275" b="0">
                <a:solidFill>
                  <a:srgbClr val="5C6C7B"/>
                </a:solidFill>
                <a:latin typeface="Calibri"/>
                <a:ea typeface="Calibri"/>
                <a:cs typeface="Calibri"/>
              </a:defRPr>
            </a:lvl5pPr>
            <a:lvl6pPr algn="l">
              <a:defRPr sz="1275" b="0">
                <a:solidFill>
                  <a:srgbClr val="5C6C7B"/>
                </a:solidFill>
                <a:latin typeface="Calibri"/>
                <a:ea typeface="Calibri"/>
                <a:cs typeface="Calibri"/>
              </a:defRPr>
            </a:lvl6pPr>
            <a:lvl7pPr algn="l">
              <a:defRPr sz="1275" b="0">
                <a:solidFill>
                  <a:srgbClr val="5C6C7B"/>
                </a:solidFill>
                <a:latin typeface="Calibri"/>
                <a:ea typeface="Calibri"/>
                <a:cs typeface="Calibri"/>
              </a:defRPr>
            </a:lvl7pPr>
            <a:lvl8pPr algn="l">
              <a:defRPr sz="1275" b="0">
                <a:solidFill>
                  <a:srgbClr val="5C6C7B"/>
                </a:solidFill>
                <a:latin typeface="Calibri"/>
                <a:ea typeface="Calibri"/>
                <a:cs typeface="Calibri"/>
              </a:defRPr>
            </a:lvl8pPr>
            <a:lvl9pPr algn="l">
              <a:defRPr sz="1275" b="0">
                <a:solidFill>
                  <a:srgbClr val="5C6C7B"/>
                </a:solidFill>
                <a:latin typeface="Calibri"/>
                <a:ea typeface="Calibri"/>
                <a:cs typeface="Calibri"/>
              </a:defRPr>
            </a:lvl9pPr>
          </a:lstStyle>
          <a:p>
            <a:pPr algn="l">
              <a:buNone/>
              <a:defRPr sz="1275" b="0">
                <a:solidFill>
                  <a:srgbClr val="5C6C7B"/>
                </a:solidFill>
                <a:latin typeface="Calibri"/>
                <a:ea typeface="Calibri"/>
                <a:cs typeface="Calibri"/>
              </a:defRPr>
            </a:pPr>
            <a:r>
              <a:rPr sz="1275" b="0">
                <a:solidFill>
                  <a:srgbClr val="5C6C7B"/>
                </a:solidFill>
                <a:latin typeface="Calibri"/>
                <a:ea typeface="Calibri"/>
                <a:cs typeface="Calibri"/>
              </a:rPr>
              <a:t>CER (%)</a:t>
            </a:r>
          </a:p>
        </p:txBody>
      </p:sp>
      <p:sp>
        <p:nvSpPr>
          <p:cNvPr id="16" name="Rectangle 15">
            <a:extLst>
              <a:ext uri="{FF2B5EF4-FFF2-40B4-BE49-F238E27FC236}">
                <a16:creationId xmlns:a16="http://schemas.microsoft.com/office/drawing/2014/main" id="{2CA0C311-89A1-4DF3-826C-4D01FC75AEFB}"/>
              </a:ext>
            </a:extLst>
          </p:cNvPr>
          <p:cNvSpPr>
            <a:spLocks noGrp="1"/>
          </p:cNvSpPr>
          <p:nvPr/>
        </p:nvSpPr>
        <p:spPr>
          <a:xfrm>
            <a:off x="6638925" y="2724150"/>
            <a:ext cx="1657350" cy="304800"/>
          </a:xfrm>
          <a:prstGeom prst="rect">
            <a:avLst/>
          </a:prstGeom>
          <a:noFill/>
          <a:ln w="0">
            <a:noFill/>
            <a:prstDash val="solid"/>
          </a:ln>
        </p:spPr>
        <p:txBody>
          <a:bodyPr wrap="square" lIns="0" tIns="0" rIns="0" bIns="0" anchor="ctr">
            <a:normAutofit/>
          </a:bodyPr>
          <a:lstStyle>
            <a:defPPr algn="l">
              <a:defRPr sz="1275" b="0">
                <a:solidFill>
                  <a:srgbClr val="5C6C7B"/>
                </a:solidFill>
                <a:latin typeface="Calibri"/>
                <a:ea typeface="Calibri"/>
                <a:cs typeface="Calibri"/>
              </a:defRPr>
            </a:defPPr>
            <a:lvl1pPr algn="l">
              <a:defRPr sz="1275" b="0">
                <a:solidFill>
                  <a:srgbClr val="5C6C7B"/>
                </a:solidFill>
                <a:latin typeface="Calibri"/>
                <a:ea typeface="Calibri"/>
                <a:cs typeface="Calibri"/>
              </a:defRPr>
            </a:lvl1pPr>
            <a:lvl2pPr algn="l">
              <a:defRPr sz="1275" b="0">
                <a:solidFill>
                  <a:srgbClr val="5C6C7B"/>
                </a:solidFill>
                <a:latin typeface="Calibri"/>
                <a:ea typeface="Calibri"/>
                <a:cs typeface="Calibri"/>
              </a:defRPr>
            </a:lvl2pPr>
            <a:lvl3pPr algn="l">
              <a:defRPr sz="1275" b="0">
                <a:solidFill>
                  <a:srgbClr val="5C6C7B"/>
                </a:solidFill>
                <a:latin typeface="Calibri"/>
                <a:ea typeface="Calibri"/>
                <a:cs typeface="Calibri"/>
              </a:defRPr>
            </a:lvl3pPr>
            <a:lvl4pPr algn="l">
              <a:defRPr sz="1275" b="0">
                <a:solidFill>
                  <a:srgbClr val="5C6C7B"/>
                </a:solidFill>
                <a:latin typeface="Calibri"/>
                <a:ea typeface="Calibri"/>
                <a:cs typeface="Calibri"/>
              </a:defRPr>
            </a:lvl4pPr>
            <a:lvl5pPr algn="l">
              <a:defRPr sz="1275" b="0">
                <a:solidFill>
                  <a:srgbClr val="5C6C7B"/>
                </a:solidFill>
                <a:latin typeface="Calibri"/>
                <a:ea typeface="Calibri"/>
                <a:cs typeface="Calibri"/>
              </a:defRPr>
            </a:lvl5pPr>
            <a:lvl6pPr algn="l">
              <a:defRPr sz="1275" b="0">
                <a:solidFill>
                  <a:srgbClr val="5C6C7B"/>
                </a:solidFill>
                <a:latin typeface="Calibri"/>
                <a:ea typeface="Calibri"/>
                <a:cs typeface="Calibri"/>
              </a:defRPr>
            </a:lvl6pPr>
            <a:lvl7pPr algn="l">
              <a:defRPr sz="1275" b="0">
                <a:solidFill>
                  <a:srgbClr val="5C6C7B"/>
                </a:solidFill>
                <a:latin typeface="Calibri"/>
                <a:ea typeface="Calibri"/>
                <a:cs typeface="Calibri"/>
              </a:defRPr>
            </a:lvl7pPr>
            <a:lvl8pPr algn="l">
              <a:defRPr sz="1275" b="0">
                <a:solidFill>
                  <a:srgbClr val="5C6C7B"/>
                </a:solidFill>
                <a:latin typeface="Calibri"/>
                <a:ea typeface="Calibri"/>
                <a:cs typeface="Calibri"/>
              </a:defRPr>
            </a:lvl8pPr>
            <a:lvl9pPr algn="l">
              <a:defRPr sz="1275" b="0">
                <a:solidFill>
                  <a:srgbClr val="5C6C7B"/>
                </a:solidFill>
                <a:latin typeface="Calibri"/>
                <a:ea typeface="Calibri"/>
                <a:cs typeface="Calibri"/>
              </a:defRPr>
            </a:lvl9pPr>
          </a:lstStyle>
          <a:p>
            <a:pPr algn="l">
              <a:buNone/>
              <a:defRPr sz="1275" b="0">
                <a:solidFill>
                  <a:srgbClr val="5C6C7B"/>
                </a:solidFill>
                <a:latin typeface="Calibri"/>
                <a:ea typeface="Calibri"/>
                <a:cs typeface="Calibri"/>
              </a:defRPr>
            </a:pPr>
            <a:r>
              <a:rPr sz="1275" b="0">
                <a:solidFill>
                  <a:srgbClr val="5C6C7B"/>
                </a:solidFill>
                <a:latin typeface="Calibri"/>
                <a:ea typeface="Calibri"/>
                <a:cs typeface="Calibri"/>
              </a:rPr>
              <a:t>ICU WER (%)</a:t>
            </a:r>
          </a:p>
        </p:txBody>
      </p:sp>
      <p:sp>
        <p:nvSpPr>
          <p:cNvPr id="17" name="Rectangle 16">
            <a:extLst>
              <a:ext uri="{FF2B5EF4-FFF2-40B4-BE49-F238E27FC236}">
                <a16:creationId xmlns:a16="http://schemas.microsoft.com/office/drawing/2014/main" id="{AA59577F-8247-4709-903C-2017F30698D0}"/>
              </a:ext>
            </a:extLst>
          </p:cNvPr>
          <p:cNvSpPr>
            <a:spLocks noGrp="1"/>
          </p:cNvSpPr>
          <p:nvPr/>
        </p:nvSpPr>
        <p:spPr>
          <a:xfrm>
            <a:off x="638175" y="3705225"/>
            <a:ext cx="7848600" cy="819150"/>
          </a:xfrm>
          <a:prstGeom prst="rect">
            <a:avLst/>
          </a:prstGeom>
          <a:noFill/>
          <a:ln w="0">
            <a:noFill/>
            <a:prstDash val="solid"/>
          </a:ln>
        </p:spPr>
        <p:txBody>
          <a:bodyPr wrap="square" lIns="0" tIns="0" rIns="0" bIns="0" anchor="ctr">
            <a:normAutofit/>
          </a:bodyPr>
          <a:lstStyle>
            <a:defPPr algn="l">
              <a:defRPr sz="1500" b="0">
                <a:solidFill>
                  <a:srgbClr val="20324A"/>
                </a:solidFill>
                <a:latin typeface="Calibri"/>
                <a:ea typeface="Calibri"/>
                <a:cs typeface="Calibri"/>
              </a:defRPr>
            </a:defPPr>
            <a:lvl1pPr algn="l">
              <a:defRPr sz="1500" b="0">
                <a:solidFill>
                  <a:srgbClr val="20324A"/>
                </a:solidFill>
                <a:latin typeface="Calibri"/>
                <a:ea typeface="Calibri"/>
                <a:cs typeface="Calibri"/>
              </a:defRPr>
            </a:lvl1pPr>
            <a:lvl2pPr algn="l">
              <a:defRPr sz="1500" b="0">
                <a:solidFill>
                  <a:srgbClr val="20324A"/>
                </a:solidFill>
                <a:latin typeface="Calibri"/>
                <a:ea typeface="Calibri"/>
                <a:cs typeface="Calibri"/>
              </a:defRPr>
            </a:lvl2pPr>
            <a:lvl3pPr algn="l">
              <a:defRPr sz="1500" b="0">
                <a:solidFill>
                  <a:srgbClr val="20324A"/>
                </a:solidFill>
                <a:latin typeface="Calibri"/>
                <a:ea typeface="Calibri"/>
                <a:cs typeface="Calibri"/>
              </a:defRPr>
            </a:lvl3pPr>
            <a:lvl4pPr algn="l">
              <a:defRPr sz="1500" b="0">
                <a:solidFill>
                  <a:srgbClr val="20324A"/>
                </a:solidFill>
                <a:latin typeface="Calibri"/>
                <a:ea typeface="Calibri"/>
                <a:cs typeface="Calibri"/>
              </a:defRPr>
            </a:lvl4pPr>
            <a:lvl5pPr algn="l">
              <a:defRPr sz="1500" b="0">
                <a:solidFill>
                  <a:srgbClr val="20324A"/>
                </a:solidFill>
                <a:latin typeface="Calibri"/>
                <a:ea typeface="Calibri"/>
                <a:cs typeface="Calibri"/>
              </a:defRPr>
            </a:lvl5pPr>
            <a:lvl6pPr algn="l">
              <a:defRPr sz="1500" b="0">
                <a:solidFill>
                  <a:srgbClr val="20324A"/>
                </a:solidFill>
                <a:latin typeface="Calibri"/>
                <a:ea typeface="Calibri"/>
                <a:cs typeface="Calibri"/>
              </a:defRPr>
            </a:lvl6pPr>
            <a:lvl7pPr algn="l">
              <a:defRPr sz="1500" b="0">
                <a:solidFill>
                  <a:srgbClr val="20324A"/>
                </a:solidFill>
                <a:latin typeface="Calibri"/>
                <a:ea typeface="Calibri"/>
                <a:cs typeface="Calibri"/>
              </a:defRPr>
            </a:lvl7pPr>
            <a:lvl8pPr algn="l">
              <a:defRPr sz="1500" b="0">
                <a:solidFill>
                  <a:srgbClr val="20324A"/>
                </a:solidFill>
                <a:latin typeface="Calibri"/>
                <a:ea typeface="Calibri"/>
                <a:cs typeface="Calibri"/>
              </a:defRPr>
            </a:lvl8pPr>
            <a:lvl9pPr algn="l">
              <a:defRPr sz="1500" b="0">
                <a:solidFill>
                  <a:srgbClr val="20324A"/>
                </a:solidFill>
                <a:latin typeface="Calibri"/>
                <a:ea typeface="Calibri"/>
                <a:cs typeface="Calibri"/>
              </a:defRPr>
            </a:lvl9pPr>
          </a:lstStyle>
          <a:p>
            <a:pPr algn="l">
              <a:buNone/>
              <a:defRPr sz="1500" b="0">
                <a:solidFill>
                  <a:srgbClr val="20324A"/>
                </a:solidFill>
                <a:latin typeface="Calibri"/>
                <a:ea typeface="Calibri"/>
                <a:cs typeface="Calibri"/>
              </a:defRPr>
            </a:pPr>
            <a:r>
              <a:rPr sz="1500" b="0">
                <a:solidFill>
                  <a:srgbClr val="20324A"/>
                </a:solidFill>
                <a:latin typeface="Calibri"/>
                <a:ea typeface="Calibri"/>
                <a:cs typeface="Calibri"/>
              </a:rPr>
              <a:t>Epoch 1 was chosen by validation WER before the one-time test. Its 27.99% validation WER missed the &lt;25% goal.</a:t>
            </a:r>
          </a:p>
        </p:txBody>
      </p:sp>
      <p:pic>
        <p:nvPicPr>
          <p:cNvPr id="20" name="Picture 19">
            <a:extLst>
              <a:ext uri="{FF2B5EF4-FFF2-40B4-BE49-F238E27FC236}">
                <a16:creationId xmlns:a16="http://schemas.microsoft.com/office/drawing/2014/main" id="{8AC76E14-2EC2-4342-8FCD-1B8B374BAA88}"/>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1870318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B9359CC-B2F8-4362-93E6-497A1AA5CC83}"/>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Critical analysis of the test results</a:t>
            </a:r>
          </a:p>
        </p:txBody>
      </p:sp>
      <p:sp>
        <p:nvSpPr>
          <p:cNvPr id="2" name="Rectangle 1">
            <a:extLst>
              <a:ext uri="{FF2B5EF4-FFF2-40B4-BE49-F238E27FC236}">
                <a16:creationId xmlns:a16="http://schemas.microsoft.com/office/drawing/2014/main" id="{732C6158-59FF-43F6-9E75-4582A7C3AF77}"/>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C2B4C12D-3F03-43AF-B8C3-E82E462DED01}"/>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58F16E96-5BE0-4A12-9C56-BFBC3CBD6FF2}"/>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10</a:t>
            </a:r>
          </a:p>
        </p:txBody>
      </p:sp>
      <p:sp>
        <p:nvSpPr>
          <p:cNvPr id="5" name="Rectangle 4">
            <a:extLst>
              <a:ext uri="{FF2B5EF4-FFF2-40B4-BE49-F238E27FC236}">
                <a16:creationId xmlns:a16="http://schemas.microsoft.com/office/drawing/2014/main" id="{84DC1B61-617A-425F-912F-63B629AF857B}"/>
              </a:ext>
            </a:extLst>
          </p:cNvPr>
          <p:cNvSpPr>
            <a:spLocks noGrp="1"/>
          </p:cNvSpPr>
          <p:nvPr/>
        </p:nvSpPr>
        <p:spPr>
          <a:xfrm>
            <a:off x="628650" y="1285875"/>
            <a:ext cx="66675" cy="895350"/>
          </a:xfrm>
          <a:prstGeom prst="rect">
            <a:avLst/>
          </a:prstGeom>
          <a:solidFill>
            <a:srgbClr val="D3663D"/>
          </a:solidFill>
          <a:ln w="0">
            <a:noFill/>
            <a:prstDash val="solid"/>
          </a:ln>
        </p:spPr>
      </p:sp>
      <p:sp>
        <p:nvSpPr>
          <p:cNvPr id="6" name="Rectangle 5">
            <a:extLst>
              <a:ext uri="{FF2B5EF4-FFF2-40B4-BE49-F238E27FC236}">
                <a16:creationId xmlns:a16="http://schemas.microsoft.com/office/drawing/2014/main" id="{30A0CE14-6B90-4D44-A1B8-3412B2D7D59F}"/>
              </a:ext>
            </a:extLst>
          </p:cNvPr>
          <p:cNvSpPr>
            <a:spLocks noGrp="1"/>
          </p:cNvSpPr>
          <p:nvPr/>
        </p:nvSpPr>
        <p:spPr>
          <a:xfrm>
            <a:off x="819150" y="1323975"/>
            <a:ext cx="1790700" cy="323850"/>
          </a:xfrm>
          <a:prstGeom prst="rect">
            <a:avLst/>
          </a:prstGeom>
          <a:noFill/>
          <a:ln w="0">
            <a:noFill/>
            <a:prstDash val="solid"/>
          </a:ln>
        </p:spPr>
        <p:txBody>
          <a:bodyPr wrap="square" lIns="0" tIns="0" rIns="0" bIns="0" anchor="ctr">
            <a:normAutofit/>
          </a:bodyPr>
          <a:lstStyle>
            <a:defPPr algn="l">
              <a:defRPr sz="1650" b="1">
                <a:solidFill>
                  <a:srgbClr val="D3663D"/>
                </a:solidFill>
                <a:latin typeface="Calibri"/>
                <a:ea typeface="Calibri"/>
                <a:cs typeface="Calibri"/>
              </a:defRPr>
            </a:defPPr>
            <a:lvl1pPr algn="l">
              <a:defRPr sz="1650" b="1">
                <a:solidFill>
                  <a:srgbClr val="D3663D"/>
                </a:solidFill>
                <a:latin typeface="Calibri"/>
                <a:ea typeface="Calibri"/>
                <a:cs typeface="Calibri"/>
              </a:defRPr>
            </a:lvl1pPr>
            <a:lvl2pPr algn="l">
              <a:defRPr sz="1650" b="1">
                <a:solidFill>
                  <a:srgbClr val="D3663D"/>
                </a:solidFill>
                <a:latin typeface="Calibri"/>
                <a:ea typeface="Calibri"/>
                <a:cs typeface="Calibri"/>
              </a:defRPr>
            </a:lvl2pPr>
            <a:lvl3pPr algn="l">
              <a:defRPr sz="1650" b="1">
                <a:solidFill>
                  <a:srgbClr val="D3663D"/>
                </a:solidFill>
                <a:latin typeface="Calibri"/>
                <a:ea typeface="Calibri"/>
                <a:cs typeface="Calibri"/>
              </a:defRPr>
            </a:lvl3pPr>
            <a:lvl4pPr algn="l">
              <a:defRPr sz="1650" b="1">
                <a:solidFill>
                  <a:srgbClr val="D3663D"/>
                </a:solidFill>
                <a:latin typeface="Calibri"/>
                <a:ea typeface="Calibri"/>
                <a:cs typeface="Calibri"/>
              </a:defRPr>
            </a:lvl4pPr>
            <a:lvl5pPr algn="l">
              <a:defRPr sz="1650" b="1">
                <a:solidFill>
                  <a:srgbClr val="D3663D"/>
                </a:solidFill>
                <a:latin typeface="Calibri"/>
                <a:ea typeface="Calibri"/>
                <a:cs typeface="Calibri"/>
              </a:defRPr>
            </a:lvl5pPr>
            <a:lvl6pPr algn="l">
              <a:defRPr sz="1650" b="1">
                <a:solidFill>
                  <a:srgbClr val="D3663D"/>
                </a:solidFill>
                <a:latin typeface="Calibri"/>
                <a:ea typeface="Calibri"/>
                <a:cs typeface="Calibri"/>
              </a:defRPr>
            </a:lvl6pPr>
            <a:lvl7pPr algn="l">
              <a:defRPr sz="1650" b="1">
                <a:solidFill>
                  <a:srgbClr val="D3663D"/>
                </a:solidFill>
                <a:latin typeface="Calibri"/>
                <a:ea typeface="Calibri"/>
                <a:cs typeface="Calibri"/>
              </a:defRPr>
            </a:lvl7pPr>
            <a:lvl8pPr algn="l">
              <a:defRPr sz="1650" b="1">
                <a:solidFill>
                  <a:srgbClr val="D3663D"/>
                </a:solidFill>
                <a:latin typeface="Calibri"/>
                <a:ea typeface="Calibri"/>
                <a:cs typeface="Calibri"/>
              </a:defRPr>
            </a:lvl8pPr>
            <a:lvl9pPr algn="l">
              <a:defRPr sz="1650" b="1">
                <a:solidFill>
                  <a:srgbClr val="D3663D"/>
                </a:solidFill>
                <a:latin typeface="Calibri"/>
                <a:ea typeface="Calibri"/>
                <a:cs typeface="Calibri"/>
              </a:defRPr>
            </a:lvl9pPr>
          </a:lstStyle>
          <a:p>
            <a:pPr algn="l">
              <a:buNone/>
              <a:defRPr sz="1650" b="1">
                <a:solidFill>
                  <a:srgbClr val="D3663D"/>
                </a:solidFill>
                <a:latin typeface="Calibri"/>
                <a:ea typeface="Calibri"/>
                <a:cs typeface="Calibri"/>
              </a:defRPr>
            </a:pPr>
            <a:r>
              <a:rPr sz="1650" b="1">
                <a:solidFill>
                  <a:srgbClr val="D3663D"/>
                </a:solidFill>
                <a:latin typeface="Calibri"/>
                <a:ea typeface="Calibri"/>
                <a:cs typeface="Calibri"/>
              </a:rPr>
              <a:t>Whisper-Tiny</a:t>
            </a:r>
          </a:p>
        </p:txBody>
      </p:sp>
      <p:sp>
        <p:nvSpPr>
          <p:cNvPr id="7" name="Rectangle 6">
            <a:extLst>
              <a:ext uri="{FF2B5EF4-FFF2-40B4-BE49-F238E27FC236}">
                <a16:creationId xmlns:a16="http://schemas.microsoft.com/office/drawing/2014/main" id="{6FC64FCE-DF8E-42B9-B5EB-8C7DA011E7E3}"/>
              </a:ext>
            </a:extLst>
          </p:cNvPr>
          <p:cNvSpPr>
            <a:spLocks noGrp="1"/>
          </p:cNvSpPr>
          <p:nvPr/>
        </p:nvSpPr>
        <p:spPr>
          <a:xfrm>
            <a:off x="2638425" y="1323975"/>
            <a:ext cx="5734050" cy="771525"/>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2,644 word edits for 2,488 reference words. Its 106.27% WER shows this checkpoint is unreliable on this test.</a:t>
            </a:r>
          </a:p>
        </p:txBody>
      </p:sp>
      <p:sp>
        <p:nvSpPr>
          <p:cNvPr id="8" name="Rectangle 7">
            <a:extLst>
              <a:ext uri="{FF2B5EF4-FFF2-40B4-BE49-F238E27FC236}">
                <a16:creationId xmlns:a16="http://schemas.microsoft.com/office/drawing/2014/main" id="{8A10DDAB-9896-42F1-8B59-F0A0A4E7FDD9}"/>
              </a:ext>
            </a:extLst>
          </p:cNvPr>
          <p:cNvSpPr>
            <a:spLocks noGrp="1"/>
          </p:cNvSpPr>
          <p:nvPr/>
        </p:nvSpPr>
        <p:spPr>
          <a:xfrm>
            <a:off x="628650" y="2362200"/>
            <a:ext cx="66675" cy="895350"/>
          </a:xfrm>
          <a:prstGeom prst="rect">
            <a:avLst/>
          </a:prstGeom>
          <a:solidFill>
            <a:srgbClr val="174E6E"/>
          </a:solidFill>
          <a:ln w="0">
            <a:noFill/>
            <a:prstDash val="solid"/>
          </a:ln>
        </p:spPr>
      </p:sp>
      <p:sp>
        <p:nvSpPr>
          <p:cNvPr id="9" name="Rectangle 8">
            <a:extLst>
              <a:ext uri="{FF2B5EF4-FFF2-40B4-BE49-F238E27FC236}">
                <a16:creationId xmlns:a16="http://schemas.microsoft.com/office/drawing/2014/main" id="{39A5CFE2-D223-4FC7-926B-C46FEC995EB7}"/>
              </a:ext>
            </a:extLst>
          </p:cNvPr>
          <p:cNvSpPr>
            <a:spLocks noGrp="1"/>
          </p:cNvSpPr>
          <p:nvPr/>
        </p:nvSpPr>
        <p:spPr>
          <a:xfrm>
            <a:off x="819150" y="2400300"/>
            <a:ext cx="1790700" cy="323850"/>
          </a:xfrm>
          <a:prstGeom prst="rect">
            <a:avLst/>
          </a:prstGeom>
          <a:noFill/>
          <a:ln w="0">
            <a:noFill/>
            <a:prstDash val="solid"/>
          </a:ln>
        </p:spPr>
        <p:txBody>
          <a:bodyPr wrap="square" lIns="0" tIns="0" rIns="0" bIns="0" anchor="ctr">
            <a:normAutofit/>
          </a:bodyPr>
          <a:lstStyle>
            <a:defPPr algn="l">
              <a:defRPr sz="1650" b="1">
                <a:solidFill>
                  <a:srgbClr val="174E6E"/>
                </a:solidFill>
                <a:latin typeface="Calibri"/>
                <a:ea typeface="Calibri"/>
                <a:cs typeface="Calibri"/>
              </a:defRPr>
            </a:defPPr>
            <a:lvl1pPr algn="l">
              <a:defRPr sz="1650" b="1">
                <a:solidFill>
                  <a:srgbClr val="174E6E"/>
                </a:solidFill>
                <a:latin typeface="Calibri"/>
                <a:ea typeface="Calibri"/>
                <a:cs typeface="Calibri"/>
              </a:defRPr>
            </a:lvl1pPr>
            <a:lvl2pPr algn="l">
              <a:defRPr sz="1650" b="1">
                <a:solidFill>
                  <a:srgbClr val="174E6E"/>
                </a:solidFill>
                <a:latin typeface="Calibri"/>
                <a:ea typeface="Calibri"/>
                <a:cs typeface="Calibri"/>
              </a:defRPr>
            </a:lvl2pPr>
            <a:lvl3pPr algn="l">
              <a:defRPr sz="1650" b="1">
                <a:solidFill>
                  <a:srgbClr val="174E6E"/>
                </a:solidFill>
                <a:latin typeface="Calibri"/>
                <a:ea typeface="Calibri"/>
                <a:cs typeface="Calibri"/>
              </a:defRPr>
            </a:lvl3pPr>
            <a:lvl4pPr algn="l">
              <a:defRPr sz="1650" b="1">
                <a:solidFill>
                  <a:srgbClr val="174E6E"/>
                </a:solidFill>
                <a:latin typeface="Calibri"/>
                <a:ea typeface="Calibri"/>
                <a:cs typeface="Calibri"/>
              </a:defRPr>
            </a:lvl4pPr>
            <a:lvl5pPr algn="l">
              <a:defRPr sz="1650" b="1">
                <a:solidFill>
                  <a:srgbClr val="174E6E"/>
                </a:solidFill>
                <a:latin typeface="Calibri"/>
                <a:ea typeface="Calibri"/>
                <a:cs typeface="Calibri"/>
              </a:defRPr>
            </a:lvl5pPr>
            <a:lvl6pPr algn="l">
              <a:defRPr sz="1650" b="1">
                <a:solidFill>
                  <a:srgbClr val="174E6E"/>
                </a:solidFill>
                <a:latin typeface="Calibri"/>
                <a:ea typeface="Calibri"/>
                <a:cs typeface="Calibri"/>
              </a:defRPr>
            </a:lvl6pPr>
            <a:lvl7pPr algn="l">
              <a:defRPr sz="1650" b="1">
                <a:solidFill>
                  <a:srgbClr val="174E6E"/>
                </a:solidFill>
                <a:latin typeface="Calibri"/>
                <a:ea typeface="Calibri"/>
                <a:cs typeface="Calibri"/>
              </a:defRPr>
            </a:lvl7pPr>
            <a:lvl8pPr algn="l">
              <a:defRPr sz="1650" b="1">
                <a:solidFill>
                  <a:srgbClr val="174E6E"/>
                </a:solidFill>
                <a:latin typeface="Calibri"/>
                <a:ea typeface="Calibri"/>
                <a:cs typeface="Calibri"/>
              </a:defRPr>
            </a:lvl8pPr>
            <a:lvl9pPr algn="l">
              <a:defRPr sz="1650" b="1">
                <a:solidFill>
                  <a:srgbClr val="174E6E"/>
                </a:solidFill>
                <a:latin typeface="Calibri"/>
                <a:ea typeface="Calibri"/>
                <a:cs typeface="Calibri"/>
              </a:defRPr>
            </a:lvl9pPr>
          </a:lstStyle>
          <a:p>
            <a:pPr algn="l">
              <a:buNone/>
              <a:defRPr sz="1650" b="1">
                <a:solidFill>
                  <a:srgbClr val="174E6E"/>
                </a:solidFill>
                <a:latin typeface="Calibri"/>
                <a:ea typeface="Calibri"/>
                <a:cs typeface="Calibri"/>
              </a:defRPr>
            </a:pPr>
            <a:r>
              <a:rPr sz="1650" b="1">
                <a:solidFill>
                  <a:srgbClr val="174E6E"/>
                </a:solidFill>
                <a:latin typeface="Calibri"/>
                <a:ea typeface="Calibri"/>
                <a:cs typeface="Calibri"/>
              </a:rPr>
              <a:t>MMS-1B</a:t>
            </a:r>
          </a:p>
        </p:txBody>
      </p:sp>
      <p:sp>
        <p:nvSpPr>
          <p:cNvPr id="10" name="Rectangle 9">
            <a:extLst>
              <a:ext uri="{FF2B5EF4-FFF2-40B4-BE49-F238E27FC236}">
                <a16:creationId xmlns:a16="http://schemas.microsoft.com/office/drawing/2014/main" id="{A4CD745E-6FAD-4D04-BAEA-77EFFB1FD33F}"/>
              </a:ext>
            </a:extLst>
          </p:cNvPr>
          <p:cNvSpPr>
            <a:spLocks noGrp="1"/>
          </p:cNvSpPr>
          <p:nvPr/>
        </p:nvSpPr>
        <p:spPr>
          <a:xfrm>
            <a:off x="2638425" y="2400300"/>
            <a:ext cx="5734050" cy="771525"/>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15.84% CER but 67.16% WER. Character-level improvement does not mean whole-word accuracy; 605 of 1,671 word edits were insertions.</a:t>
            </a:r>
          </a:p>
        </p:txBody>
      </p:sp>
      <p:sp>
        <p:nvSpPr>
          <p:cNvPr id="11" name="Rectangle 10">
            <a:extLst>
              <a:ext uri="{FF2B5EF4-FFF2-40B4-BE49-F238E27FC236}">
                <a16:creationId xmlns:a16="http://schemas.microsoft.com/office/drawing/2014/main" id="{BBDD7002-E0C4-4408-A87D-A9FD396AD1B9}"/>
              </a:ext>
            </a:extLst>
          </p:cNvPr>
          <p:cNvSpPr>
            <a:spLocks noGrp="1"/>
          </p:cNvSpPr>
          <p:nvPr/>
        </p:nvSpPr>
        <p:spPr>
          <a:xfrm>
            <a:off x="628650" y="3438525"/>
            <a:ext cx="66675" cy="895350"/>
          </a:xfrm>
          <a:prstGeom prst="rect">
            <a:avLst/>
          </a:prstGeom>
          <a:solidFill>
            <a:srgbClr val="2A9D92"/>
          </a:solidFill>
          <a:ln w="0">
            <a:noFill/>
            <a:prstDash val="solid"/>
          </a:ln>
        </p:spPr>
      </p:sp>
      <p:sp>
        <p:nvSpPr>
          <p:cNvPr id="12" name="Rectangle 11">
            <a:extLst>
              <a:ext uri="{FF2B5EF4-FFF2-40B4-BE49-F238E27FC236}">
                <a16:creationId xmlns:a16="http://schemas.microsoft.com/office/drawing/2014/main" id="{0D61B479-C139-405B-8958-8DE833362567}"/>
              </a:ext>
            </a:extLst>
          </p:cNvPr>
          <p:cNvSpPr>
            <a:spLocks noGrp="1"/>
          </p:cNvSpPr>
          <p:nvPr/>
        </p:nvSpPr>
        <p:spPr>
          <a:xfrm>
            <a:off x="819150" y="3476625"/>
            <a:ext cx="1790700" cy="323850"/>
          </a:xfrm>
          <a:prstGeom prst="rect">
            <a:avLst/>
          </a:prstGeom>
          <a:noFill/>
          <a:ln w="0">
            <a:noFill/>
            <a:prstDash val="solid"/>
          </a:ln>
        </p:spPr>
        <p:txBody>
          <a:bodyPr wrap="square" lIns="0" tIns="0" rIns="0" bIns="0" anchor="ctr">
            <a:normAutofit/>
          </a:bodyPr>
          <a:lstStyle>
            <a:defPPr algn="l">
              <a:defRPr sz="1650" b="1">
                <a:solidFill>
                  <a:srgbClr val="2A9D92"/>
                </a:solidFill>
                <a:latin typeface="Calibri"/>
                <a:ea typeface="Calibri"/>
                <a:cs typeface="Calibri"/>
              </a:defRPr>
            </a:defPPr>
            <a:lvl1pPr algn="l">
              <a:defRPr sz="1650" b="1">
                <a:solidFill>
                  <a:srgbClr val="2A9D92"/>
                </a:solidFill>
                <a:latin typeface="Calibri"/>
                <a:ea typeface="Calibri"/>
                <a:cs typeface="Calibri"/>
              </a:defRPr>
            </a:lvl1pPr>
            <a:lvl2pPr algn="l">
              <a:defRPr sz="1650" b="1">
                <a:solidFill>
                  <a:srgbClr val="2A9D92"/>
                </a:solidFill>
                <a:latin typeface="Calibri"/>
                <a:ea typeface="Calibri"/>
                <a:cs typeface="Calibri"/>
              </a:defRPr>
            </a:lvl2pPr>
            <a:lvl3pPr algn="l">
              <a:defRPr sz="1650" b="1">
                <a:solidFill>
                  <a:srgbClr val="2A9D92"/>
                </a:solidFill>
                <a:latin typeface="Calibri"/>
                <a:ea typeface="Calibri"/>
                <a:cs typeface="Calibri"/>
              </a:defRPr>
            </a:lvl3pPr>
            <a:lvl4pPr algn="l">
              <a:defRPr sz="1650" b="1">
                <a:solidFill>
                  <a:srgbClr val="2A9D92"/>
                </a:solidFill>
                <a:latin typeface="Calibri"/>
                <a:ea typeface="Calibri"/>
                <a:cs typeface="Calibri"/>
              </a:defRPr>
            </a:lvl4pPr>
            <a:lvl5pPr algn="l">
              <a:defRPr sz="1650" b="1">
                <a:solidFill>
                  <a:srgbClr val="2A9D92"/>
                </a:solidFill>
                <a:latin typeface="Calibri"/>
                <a:ea typeface="Calibri"/>
                <a:cs typeface="Calibri"/>
              </a:defRPr>
            </a:lvl5pPr>
            <a:lvl6pPr algn="l">
              <a:defRPr sz="1650" b="1">
                <a:solidFill>
                  <a:srgbClr val="2A9D92"/>
                </a:solidFill>
                <a:latin typeface="Calibri"/>
                <a:ea typeface="Calibri"/>
                <a:cs typeface="Calibri"/>
              </a:defRPr>
            </a:lvl6pPr>
            <a:lvl7pPr algn="l">
              <a:defRPr sz="1650" b="1">
                <a:solidFill>
                  <a:srgbClr val="2A9D92"/>
                </a:solidFill>
                <a:latin typeface="Calibri"/>
                <a:ea typeface="Calibri"/>
                <a:cs typeface="Calibri"/>
              </a:defRPr>
            </a:lvl7pPr>
            <a:lvl8pPr algn="l">
              <a:defRPr sz="1650" b="1">
                <a:solidFill>
                  <a:srgbClr val="2A9D92"/>
                </a:solidFill>
                <a:latin typeface="Calibri"/>
                <a:ea typeface="Calibri"/>
                <a:cs typeface="Calibri"/>
              </a:defRPr>
            </a:lvl8pPr>
            <a:lvl9pPr algn="l">
              <a:defRPr sz="1650" b="1">
                <a:solidFill>
                  <a:srgbClr val="2A9D92"/>
                </a:solidFill>
                <a:latin typeface="Calibri"/>
                <a:ea typeface="Calibri"/>
                <a:cs typeface="Calibri"/>
              </a:defRPr>
            </a:lvl9pPr>
          </a:lstStyle>
          <a:p>
            <a:pPr algn="l">
              <a:buNone/>
              <a:defRPr sz="1650" b="1">
                <a:solidFill>
                  <a:srgbClr val="2A9D92"/>
                </a:solidFill>
                <a:latin typeface="Calibri"/>
                <a:ea typeface="Calibri"/>
                <a:cs typeface="Calibri"/>
              </a:defRPr>
            </a:pPr>
            <a:r>
              <a:rPr sz="1650" b="1">
                <a:solidFill>
                  <a:srgbClr val="2A9D92"/>
                </a:solidFill>
                <a:latin typeface="Calibri"/>
                <a:ea typeface="Calibri"/>
                <a:cs typeface="Calibri"/>
              </a:rPr>
              <a:t>Qwen3-ASR</a:t>
            </a:r>
          </a:p>
        </p:txBody>
      </p:sp>
      <p:sp>
        <p:nvSpPr>
          <p:cNvPr id="13" name="Rectangle 12">
            <a:extLst>
              <a:ext uri="{FF2B5EF4-FFF2-40B4-BE49-F238E27FC236}">
                <a16:creationId xmlns:a16="http://schemas.microsoft.com/office/drawing/2014/main" id="{01F0B43F-112D-46D7-BEDA-54BF25372874}"/>
              </a:ext>
            </a:extLst>
          </p:cNvPr>
          <p:cNvSpPr>
            <a:spLocks noGrp="1"/>
          </p:cNvSpPr>
          <p:nvPr/>
        </p:nvSpPr>
        <p:spPr>
          <a:xfrm>
            <a:off x="2638425" y="3476625"/>
            <a:ext cx="5734050" cy="771525"/>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831 word edits, 840 fewer than MMS. The larger corpus and Khmer-adapted base may contribute; this test cannot separate their effects.</a:t>
            </a:r>
          </a:p>
        </p:txBody>
      </p:sp>
      <p:pic>
        <p:nvPicPr>
          <p:cNvPr id="16" name="Picture 15">
            <a:extLst>
              <a:ext uri="{FF2B5EF4-FFF2-40B4-BE49-F238E27FC236}">
                <a16:creationId xmlns:a16="http://schemas.microsoft.com/office/drawing/2014/main" id="{D2D93EAA-4C10-4819-844B-EF0F823BADFF}"/>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657738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ACFB607-0A59-48DB-BA01-2A3114D7781F}"/>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Limits and next analysis</a:t>
            </a:r>
          </a:p>
        </p:txBody>
      </p:sp>
      <p:sp>
        <p:nvSpPr>
          <p:cNvPr id="2" name="Rectangle 1">
            <a:extLst>
              <a:ext uri="{FF2B5EF4-FFF2-40B4-BE49-F238E27FC236}">
                <a16:creationId xmlns:a16="http://schemas.microsoft.com/office/drawing/2014/main" id="{81946CBE-1212-443C-9A97-DE61D9B0E7BF}"/>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47E33918-2E56-4548-AAD7-3E078F7A8BC5}"/>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851DC861-F7F9-4C3E-9309-5F7D1AB32E5A}"/>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11</a:t>
            </a:r>
          </a:p>
        </p:txBody>
      </p:sp>
      <p:sp>
        <p:nvSpPr>
          <p:cNvPr id="5" name="Rectangle 4">
            <a:extLst>
              <a:ext uri="{FF2B5EF4-FFF2-40B4-BE49-F238E27FC236}">
                <a16:creationId xmlns:a16="http://schemas.microsoft.com/office/drawing/2014/main" id="{A0001654-608F-4EED-B6AF-022A9ABD82A5}"/>
              </a:ext>
            </a:extLst>
          </p:cNvPr>
          <p:cNvSpPr>
            <a:spLocks noGrp="1"/>
          </p:cNvSpPr>
          <p:nvPr/>
        </p:nvSpPr>
        <p:spPr>
          <a:xfrm>
            <a:off x="628650" y="1295400"/>
            <a:ext cx="1924050" cy="323850"/>
          </a:xfrm>
          <a:prstGeom prst="rect">
            <a:avLst/>
          </a:prstGeom>
          <a:noFill/>
          <a:ln w="0">
            <a:noFill/>
            <a:prstDash val="solid"/>
          </a:ln>
        </p:spPr>
        <p:txBody>
          <a:bodyPr wrap="square" lIns="0" tIns="0" rIns="0" bIns="0" anchor="ctr">
            <a:normAutofit/>
          </a:bodyPr>
          <a:lstStyle>
            <a:defPPr algn="l">
              <a:defRPr sz="1575" b="1">
                <a:solidFill>
                  <a:srgbClr val="174E6E"/>
                </a:solidFill>
                <a:latin typeface="Calibri"/>
                <a:ea typeface="Calibri"/>
                <a:cs typeface="Calibri"/>
              </a:defRPr>
            </a:defPPr>
            <a:lvl1pPr algn="l">
              <a:defRPr sz="1575" b="1">
                <a:solidFill>
                  <a:srgbClr val="174E6E"/>
                </a:solidFill>
                <a:latin typeface="Calibri"/>
                <a:ea typeface="Calibri"/>
                <a:cs typeface="Calibri"/>
              </a:defRPr>
            </a:lvl1pPr>
            <a:lvl2pPr algn="l">
              <a:defRPr sz="1575" b="1">
                <a:solidFill>
                  <a:srgbClr val="174E6E"/>
                </a:solidFill>
                <a:latin typeface="Calibri"/>
                <a:ea typeface="Calibri"/>
                <a:cs typeface="Calibri"/>
              </a:defRPr>
            </a:lvl2pPr>
            <a:lvl3pPr algn="l">
              <a:defRPr sz="1575" b="1">
                <a:solidFill>
                  <a:srgbClr val="174E6E"/>
                </a:solidFill>
                <a:latin typeface="Calibri"/>
                <a:ea typeface="Calibri"/>
                <a:cs typeface="Calibri"/>
              </a:defRPr>
            </a:lvl3pPr>
            <a:lvl4pPr algn="l">
              <a:defRPr sz="1575" b="1">
                <a:solidFill>
                  <a:srgbClr val="174E6E"/>
                </a:solidFill>
                <a:latin typeface="Calibri"/>
                <a:ea typeface="Calibri"/>
                <a:cs typeface="Calibri"/>
              </a:defRPr>
            </a:lvl4pPr>
            <a:lvl5pPr algn="l">
              <a:defRPr sz="1575" b="1">
                <a:solidFill>
                  <a:srgbClr val="174E6E"/>
                </a:solidFill>
                <a:latin typeface="Calibri"/>
                <a:ea typeface="Calibri"/>
                <a:cs typeface="Calibri"/>
              </a:defRPr>
            </a:lvl5pPr>
            <a:lvl6pPr algn="l">
              <a:defRPr sz="1575" b="1">
                <a:solidFill>
                  <a:srgbClr val="174E6E"/>
                </a:solidFill>
                <a:latin typeface="Calibri"/>
                <a:ea typeface="Calibri"/>
                <a:cs typeface="Calibri"/>
              </a:defRPr>
            </a:lvl6pPr>
            <a:lvl7pPr algn="l">
              <a:defRPr sz="1575" b="1">
                <a:solidFill>
                  <a:srgbClr val="174E6E"/>
                </a:solidFill>
                <a:latin typeface="Calibri"/>
                <a:ea typeface="Calibri"/>
                <a:cs typeface="Calibri"/>
              </a:defRPr>
            </a:lvl7pPr>
            <a:lvl8pPr algn="l">
              <a:defRPr sz="1575" b="1">
                <a:solidFill>
                  <a:srgbClr val="174E6E"/>
                </a:solidFill>
                <a:latin typeface="Calibri"/>
                <a:ea typeface="Calibri"/>
                <a:cs typeface="Calibri"/>
              </a:defRPr>
            </a:lvl8pPr>
            <a:lvl9pPr algn="l">
              <a:defRPr sz="1575" b="1">
                <a:solidFill>
                  <a:srgbClr val="174E6E"/>
                </a:solidFill>
                <a:latin typeface="Calibri"/>
                <a:ea typeface="Calibri"/>
                <a:cs typeface="Calibri"/>
              </a:defRPr>
            </a:lvl9pPr>
          </a:lstStyle>
          <a:p>
            <a:pPr algn="l">
              <a:buNone/>
              <a:defRPr sz="1575" b="1">
                <a:solidFill>
                  <a:srgbClr val="174E6E"/>
                </a:solidFill>
                <a:latin typeface="Calibri"/>
                <a:ea typeface="Calibri"/>
                <a:cs typeface="Calibri"/>
              </a:defRPr>
            </a:pPr>
            <a:r>
              <a:rPr sz="1575" b="1">
                <a:solidFill>
                  <a:srgbClr val="174E6E"/>
                </a:solidFill>
                <a:latin typeface="Calibri"/>
                <a:ea typeface="Calibri"/>
                <a:cs typeface="Calibri"/>
              </a:rPr>
              <a:t>Mixed-script text</a:t>
            </a:r>
          </a:p>
        </p:txBody>
      </p:sp>
      <p:sp>
        <p:nvSpPr>
          <p:cNvPr id="6" name="Rectangle 5">
            <a:extLst>
              <a:ext uri="{FF2B5EF4-FFF2-40B4-BE49-F238E27FC236}">
                <a16:creationId xmlns:a16="http://schemas.microsoft.com/office/drawing/2014/main" id="{F6D463D2-6F40-457F-A549-151C8BC0938F}"/>
              </a:ext>
            </a:extLst>
          </p:cNvPr>
          <p:cNvSpPr>
            <a:spLocks noGrp="1"/>
          </p:cNvSpPr>
          <p:nvPr/>
        </p:nvSpPr>
        <p:spPr>
          <a:xfrm>
            <a:off x="2600325" y="1276350"/>
            <a:ext cx="5810250" cy="771525"/>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MMS CER: 23.75% on 26 references with Latin letters versus 13.03% on 88 others.</a:t>
            </a:r>
          </a:p>
        </p:txBody>
      </p:sp>
      <p:sp>
        <p:nvSpPr>
          <p:cNvPr id="7" name="Rectangle 6">
            <a:extLst>
              <a:ext uri="{FF2B5EF4-FFF2-40B4-BE49-F238E27FC236}">
                <a16:creationId xmlns:a16="http://schemas.microsoft.com/office/drawing/2014/main" id="{ADCFE38B-0BD2-4EA5-9409-2081058E186A}"/>
              </a:ext>
            </a:extLst>
          </p:cNvPr>
          <p:cNvSpPr>
            <a:spLocks noGrp="1"/>
          </p:cNvSpPr>
          <p:nvPr/>
        </p:nvSpPr>
        <p:spPr>
          <a:xfrm>
            <a:off x="628650" y="2324100"/>
            <a:ext cx="1924050" cy="323850"/>
          </a:xfrm>
          <a:prstGeom prst="rect">
            <a:avLst/>
          </a:prstGeom>
          <a:noFill/>
          <a:ln w="0">
            <a:noFill/>
            <a:prstDash val="solid"/>
          </a:ln>
        </p:spPr>
        <p:txBody>
          <a:bodyPr wrap="square" lIns="0" tIns="0" rIns="0" bIns="0" anchor="ctr">
            <a:normAutofit/>
          </a:bodyPr>
          <a:lstStyle>
            <a:defPPr algn="l">
              <a:defRPr sz="1575" b="1">
                <a:solidFill>
                  <a:srgbClr val="2A9D92"/>
                </a:solidFill>
                <a:latin typeface="Calibri"/>
                <a:ea typeface="Calibri"/>
                <a:cs typeface="Calibri"/>
              </a:defRPr>
            </a:defPPr>
            <a:lvl1pPr algn="l">
              <a:defRPr sz="1575" b="1">
                <a:solidFill>
                  <a:srgbClr val="2A9D92"/>
                </a:solidFill>
                <a:latin typeface="Calibri"/>
                <a:ea typeface="Calibri"/>
                <a:cs typeface="Calibri"/>
              </a:defRPr>
            </a:lvl1pPr>
            <a:lvl2pPr algn="l">
              <a:defRPr sz="1575" b="1">
                <a:solidFill>
                  <a:srgbClr val="2A9D92"/>
                </a:solidFill>
                <a:latin typeface="Calibri"/>
                <a:ea typeface="Calibri"/>
                <a:cs typeface="Calibri"/>
              </a:defRPr>
            </a:lvl2pPr>
            <a:lvl3pPr algn="l">
              <a:defRPr sz="1575" b="1">
                <a:solidFill>
                  <a:srgbClr val="2A9D92"/>
                </a:solidFill>
                <a:latin typeface="Calibri"/>
                <a:ea typeface="Calibri"/>
                <a:cs typeface="Calibri"/>
              </a:defRPr>
            </a:lvl3pPr>
            <a:lvl4pPr algn="l">
              <a:defRPr sz="1575" b="1">
                <a:solidFill>
                  <a:srgbClr val="2A9D92"/>
                </a:solidFill>
                <a:latin typeface="Calibri"/>
                <a:ea typeface="Calibri"/>
                <a:cs typeface="Calibri"/>
              </a:defRPr>
            </a:lvl4pPr>
            <a:lvl5pPr algn="l">
              <a:defRPr sz="1575" b="1">
                <a:solidFill>
                  <a:srgbClr val="2A9D92"/>
                </a:solidFill>
                <a:latin typeface="Calibri"/>
                <a:ea typeface="Calibri"/>
                <a:cs typeface="Calibri"/>
              </a:defRPr>
            </a:lvl5pPr>
            <a:lvl6pPr algn="l">
              <a:defRPr sz="1575" b="1">
                <a:solidFill>
                  <a:srgbClr val="2A9D92"/>
                </a:solidFill>
                <a:latin typeface="Calibri"/>
                <a:ea typeface="Calibri"/>
                <a:cs typeface="Calibri"/>
              </a:defRPr>
            </a:lvl6pPr>
            <a:lvl7pPr algn="l">
              <a:defRPr sz="1575" b="1">
                <a:solidFill>
                  <a:srgbClr val="2A9D92"/>
                </a:solidFill>
                <a:latin typeface="Calibri"/>
                <a:ea typeface="Calibri"/>
                <a:cs typeface="Calibri"/>
              </a:defRPr>
            </a:lvl7pPr>
            <a:lvl8pPr algn="l">
              <a:defRPr sz="1575" b="1">
                <a:solidFill>
                  <a:srgbClr val="2A9D92"/>
                </a:solidFill>
                <a:latin typeface="Calibri"/>
                <a:ea typeface="Calibri"/>
                <a:cs typeface="Calibri"/>
              </a:defRPr>
            </a:lvl8pPr>
            <a:lvl9pPr algn="l">
              <a:defRPr sz="1575" b="1">
                <a:solidFill>
                  <a:srgbClr val="2A9D92"/>
                </a:solidFill>
                <a:latin typeface="Calibri"/>
                <a:ea typeface="Calibri"/>
                <a:cs typeface="Calibri"/>
              </a:defRPr>
            </a:lvl9pPr>
          </a:lstStyle>
          <a:p>
            <a:pPr algn="l">
              <a:buNone/>
              <a:defRPr sz="1575" b="1">
                <a:solidFill>
                  <a:srgbClr val="2A9D92"/>
                </a:solidFill>
                <a:latin typeface="Calibri"/>
                <a:ea typeface="Calibri"/>
                <a:cs typeface="Calibri"/>
              </a:defRPr>
            </a:pPr>
            <a:r>
              <a:rPr sz="1575" b="1">
                <a:solidFill>
                  <a:srgbClr val="2A9D92"/>
                </a:solidFill>
                <a:latin typeface="Calibri"/>
                <a:ea typeface="Calibri"/>
                <a:cs typeface="Calibri"/>
              </a:rPr>
              <a:t>Data imbalance</a:t>
            </a:r>
          </a:p>
        </p:txBody>
      </p:sp>
      <p:sp>
        <p:nvSpPr>
          <p:cNvPr id="8" name="Rectangle 7">
            <a:extLst>
              <a:ext uri="{FF2B5EF4-FFF2-40B4-BE49-F238E27FC236}">
                <a16:creationId xmlns:a16="http://schemas.microsoft.com/office/drawing/2014/main" id="{8C36C523-8A92-43FA-9183-FF1D28231D02}"/>
              </a:ext>
            </a:extLst>
          </p:cNvPr>
          <p:cNvSpPr>
            <a:spLocks noGrp="1"/>
          </p:cNvSpPr>
          <p:nvPr/>
        </p:nvSpPr>
        <p:spPr>
          <a:xfrm>
            <a:off x="2600325" y="2305050"/>
            <a:ext cx="5810250" cy="771525"/>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Qwen used 31.5× as many effective training examples and a Khmer-adapted base.</a:t>
            </a:r>
          </a:p>
        </p:txBody>
      </p:sp>
      <p:sp>
        <p:nvSpPr>
          <p:cNvPr id="9" name="Rectangle 8">
            <a:extLst>
              <a:ext uri="{FF2B5EF4-FFF2-40B4-BE49-F238E27FC236}">
                <a16:creationId xmlns:a16="http://schemas.microsoft.com/office/drawing/2014/main" id="{D99B65F1-0C29-4A37-B029-F023C0CC4C7A}"/>
              </a:ext>
            </a:extLst>
          </p:cNvPr>
          <p:cNvSpPr>
            <a:spLocks noGrp="1"/>
          </p:cNvSpPr>
          <p:nvPr/>
        </p:nvSpPr>
        <p:spPr>
          <a:xfrm>
            <a:off x="628650" y="3352800"/>
            <a:ext cx="1924050" cy="323850"/>
          </a:xfrm>
          <a:prstGeom prst="rect">
            <a:avLst/>
          </a:prstGeom>
          <a:noFill/>
          <a:ln w="0">
            <a:noFill/>
            <a:prstDash val="solid"/>
          </a:ln>
        </p:spPr>
        <p:txBody>
          <a:bodyPr wrap="square" lIns="0" tIns="0" rIns="0" bIns="0" anchor="ctr">
            <a:normAutofit/>
          </a:bodyPr>
          <a:lstStyle>
            <a:defPPr algn="l">
              <a:defRPr sz="1575" b="1">
                <a:solidFill>
                  <a:srgbClr val="D3663D"/>
                </a:solidFill>
                <a:latin typeface="Calibri"/>
                <a:ea typeface="Calibri"/>
                <a:cs typeface="Calibri"/>
              </a:defRPr>
            </a:defPPr>
            <a:lvl1pPr algn="l">
              <a:defRPr sz="1575" b="1">
                <a:solidFill>
                  <a:srgbClr val="D3663D"/>
                </a:solidFill>
                <a:latin typeface="Calibri"/>
                <a:ea typeface="Calibri"/>
                <a:cs typeface="Calibri"/>
              </a:defRPr>
            </a:lvl1pPr>
            <a:lvl2pPr algn="l">
              <a:defRPr sz="1575" b="1">
                <a:solidFill>
                  <a:srgbClr val="D3663D"/>
                </a:solidFill>
                <a:latin typeface="Calibri"/>
                <a:ea typeface="Calibri"/>
                <a:cs typeface="Calibri"/>
              </a:defRPr>
            </a:lvl2pPr>
            <a:lvl3pPr algn="l">
              <a:defRPr sz="1575" b="1">
                <a:solidFill>
                  <a:srgbClr val="D3663D"/>
                </a:solidFill>
                <a:latin typeface="Calibri"/>
                <a:ea typeface="Calibri"/>
                <a:cs typeface="Calibri"/>
              </a:defRPr>
            </a:lvl3pPr>
            <a:lvl4pPr algn="l">
              <a:defRPr sz="1575" b="1">
                <a:solidFill>
                  <a:srgbClr val="D3663D"/>
                </a:solidFill>
                <a:latin typeface="Calibri"/>
                <a:ea typeface="Calibri"/>
                <a:cs typeface="Calibri"/>
              </a:defRPr>
            </a:lvl4pPr>
            <a:lvl5pPr algn="l">
              <a:defRPr sz="1575" b="1">
                <a:solidFill>
                  <a:srgbClr val="D3663D"/>
                </a:solidFill>
                <a:latin typeface="Calibri"/>
                <a:ea typeface="Calibri"/>
                <a:cs typeface="Calibri"/>
              </a:defRPr>
            </a:lvl5pPr>
            <a:lvl6pPr algn="l">
              <a:defRPr sz="1575" b="1">
                <a:solidFill>
                  <a:srgbClr val="D3663D"/>
                </a:solidFill>
                <a:latin typeface="Calibri"/>
                <a:ea typeface="Calibri"/>
                <a:cs typeface="Calibri"/>
              </a:defRPr>
            </a:lvl6pPr>
            <a:lvl7pPr algn="l">
              <a:defRPr sz="1575" b="1">
                <a:solidFill>
                  <a:srgbClr val="D3663D"/>
                </a:solidFill>
                <a:latin typeface="Calibri"/>
                <a:ea typeface="Calibri"/>
                <a:cs typeface="Calibri"/>
              </a:defRPr>
            </a:lvl7pPr>
            <a:lvl8pPr algn="l">
              <a:defRPr sz="1575" b="1">
                <a:solidFill>
                  <a:srgbClr val="D3663D"/>
                </a:solidFill>
                <a:latin typeface="Calibri"/>
                <a:ea typeface="Calibri"/>
                <a:cs typeface="Calibri"/>
              </a:defRPr>
            </a:lvl8pPr>
            <a:lvl9pPr algn="l">
              <a:defRPr sz="1575" b="1">
                <a:solidFill>
                  <a:srgbClr val="D3663D"/>
                </a:solidFill>
                <a:latin typeface="Calibri"/>
                <a:ea typeface="Calibri"/>
                <a:cs typeface="Calibri"/>
              </a:defRPr>
            </a:lvl9pPr>
          </a:lstStyle>
          <a:p>
            <a:pPr algn="l">
              <a:buNone/>
              <a:defRPr sz="1575" b="1">
                <a:solidFill>
                  <a:srgbClr val="D3663D"/>
                </a:solidFill>
                <a:latin typeface="Calibri"/>
                <a:ea typeface="Calibri"/>
                <a:cs typeface="Calibri"/>
              </a:defRPr>
            </a:pPr>
            <a:r>
              <a:rPr sz="1575" b="1">
                <a:solidFill>
                  <a:srgbClr val="D3663D"/>
                </a:solidFill>
                <a:latin typeface="Calibri"/>
                <a:ea typeface="Calibri"/>
                <a:cs typeface="Calibri"/>
              </a:rPr>
              <a:t>Test coverage</a:t>
            </a:r>
          </a:p>
        </p:txBody>
      </p:sp>
      <p:sp>
        <p:nvSpPr>
          <p:cNvPr id="10" name="Rectangle 9">
            <a:extLst>
              <a:ext uri="{FF2B5EF4-FFF2-40B4-BE49-F238E27FC236}">
                <a16:creationId xmlns:a16="http://schemas.microsoft.com/office/drawing/2014/main" id="{2FCF6FD5-DA9F-4693-8402-D07B4221411F}"/>
              </a:ext>
            </a:extLst>
          </p:cNvPr>
          <p:cNvSpPr>
            <a:spLocks noGrp="1"/>
          </p:cNvSpPr>
          <p:nvPr/>
        </p:nvSpPr>
        <p:spPr>
          <a:xfrm>
            <a:off x="2600325" y="3333750"/>
            <a:ext cx="5810250" cy="771525"/>
          </a:xfrm>
          <a:prstGeom prst="rect">
            <a:avLst/>
          </a:prstGeom>
          <a:noFill/>
          <a:ln w="0">
            <a:noFill/>
            <a:prstDash val="solid"/>
          </a:ln>
        </p:spPr>
        <p:txBody>
          <a:bodyPr wrap="square" lIns="0" tIns="0" rIns="0" bIns="0" anchor="ctr">
            <a:normAutofit/>
          </a:bodyPr>
          <a:lstStyle>
            <a:defPPr algn="l">
              <a:defRPr sz="1425" b="0">
                <a:solidFill>
                  <a:srgbClr val="20324A"/>
                </a:solidFill>
                <a:latin typeface="Calibri"/>
                <a:ea typeface="Calibri"/>
                <a:cs typeface="Calibri"/>
              </a:defRPr>
            </a:defPPr>
            <a:lvl1pPr algn="l">
              <a:defRPr sz="1425" b="0">
                <a:solidFill>
                  <a:srgbClr val="20324A"/>
                </a:solidFill>
                <a:latin typeface="Calibri"/>
                <a:ea typeface="Calibri"/>
                <a:cs typeface="Calibri"/>
              </a:defRPr>
            </a:lvl1pPr>
            <a:lvl2pPr algn="l">
              <a:defRPr sz="1425" b="0">
                <a:solidFill>
                  <a:srgbClr val="20324A"/>
                </a:solidFill>
                <a:latin typeface="Calibri"/>
                <a:ea typeface="Calibri"/>
                <a:cs typeface="Calibri"/>
              </a:defRPr>
            </a:lvl2pPr>
            <a:lvl3pPr algn="l">
              <a:defRPr sz="1425" b="0">
                <a:solidFill>
                  <a:srgbClr val="20324A"/>
                </a:solidFill>
                <a:latin typeface="Calibri"/>
                <a:ea typeface="Calibri"/>
                <a:cs typeface="Calibri"/>
              </a:defRPr>
            </a:lvl3pPr>
            <a:lvl4pPr algn="l">
              <a:defRPr sz="1425" b="0">
                <a:solidFill>
                  <a:srgbClr val="20324A"/>
                </a:solidFill>
                <a:latin typeface="Calibri"/>
                <a:ea typeface="Calibri"/>
                <a:cs typeface="Calibri"/>
              </a:defRPr>
            </a:lvl4pPr>
            <a:lvl5pPr algn="l">
              <a:defRPr sz="1425" b="0">
                <a:solidFill>
                  <a:srgbClr val="20324A"/>
                </a:solidFill>
                <a:latin typeface="Calibri"/>
                <a:ea typeface="Calibri"/>
                <a:cs typeface="Calibri"/>
              </a:defRPr>
            </a:lvl5pPr>
            <a:lvl6pPr algn="l">
              <a:defRPr sz="1425" b="0">
                <a:solidFill>
                  <a:srgbClr val="20324A"/>
                </a:solidFill>
                <a:latin typeface="Calibri"/>
                <a:ea typeface="Calibri"/>
                <a:cs typeface="Calibri"/>
              </a:defRPr>
            </a:lvl6pPr>
            <a:lvl7pPr algn="l">
              <a:defRPr sz="1425" b="0">
                <a:solidFill>
                  <a:srgbClr val="20324A"/>
                </a:solidFill>
                <a:latin typeface="Calibri"/>
                <a:ea typeface="Calibri"/>
                <a:cs typeface="Calibri"/>
              </a:defRPr>
            </a:lvl7pPr>
            <a:lvl8pPr algn="l">
              <a:defRPr sz="1425" b="0">
                <a:solidFill>
                  <a:srgbClr val="20324A"/>
                </a:solidFill>
                <a:latin typeface="Calibri"/>
                <a:ea typeface="Calibri"/>
                <a:cs typeface="Calibri"/>
              </a:defRPr>
            </a:lvl8pPr>
            <a:lvl9pPr algn="l">
              <a:defRPr sz="1425" b="0">
                <a:solidFill>
                  <a:srgbClr val="20324A"/>
                </a:solidFill>
                <a:latin typeface="Calibri"/>
                <a:ea typeface="Calibri"/>
                <a:cs typeface="Calibri"/>
              </a:defRPr>
            </a:lvl9pPr>
          </a:lstStyle>
          <a:p>
            <a:pPr algn="l">
              <a:buNone/>
              <a:defRPr sz="1425" b="0">
                <a:solidFill>
                  <a:srgbClr val="20324A"/>
                </a:solidFill>
                <a:latin typeface="Calibri"/>
                <a:ea typeface="Calibri"/>
                <a:cs typeface="Calibri"/>
              </a:defRPr>
            </a:pPr>
            <a:r>
              <a:rPr sz="1425" b="0">
                <a:solidFill>
                  <a:srgbClr val="20324A"/>
                </a:solidFill>
                <a:latin typeface="Calibri"/>
                <a:ea typeface="Calibri"/>
                <a:cs typeface="Calibri"/>
              </a:rPr>
              <a:t>114 FLEURS utterances do not represent every speaker, microphone, or topic.</a:t>
            </a:r>
          </a:p>
        </p:txBody>
      </p:sp>
      <p:sp>
        <p:nvSpPr>
          <p:cNvPr id="11" name="Rectangle 10">
            <a:extLst>
              <a:ext uri="{FF2B5EF4-FFF2-40B4-BE49-F238E27FC236}">
                <a16:creationId xmlns:a16="http://schemas.microsoft.com/office/drawing/2014/main" id="{154E7BFE-8EE9-405D-81FE-98ED480E0E7A}"/>
              </a:ext>
            </a:extLst>
          </p:cNvPr>
          <p:cNvSpPr>
            <a:spLocks noGrp="1"/>
          </p:cNvSpPr>
          <p:nvPr/>
        </p:nvSpPr>
        <p:spPr>
          <a:xfrm>
            <a:off x="628650" y="4343400"/>
            <a:ext cx="7877175" cy="342900"/>
          </a:xfrm>
          <a:prstGeom prst="rect">
            <a:avLst/>
          </a:prstGeom>
          <a:solidFill>
            <a:srgbClr val="ECF2F4"/>
          </a:solidFill>
          <a:ln w="0">
            <a:noFill/>
            <a:prstDash val="solid"/>
          </a:ln>
        </p:spPr>
      </p:sp>
      <p:sp>
        <p:nvSpPr>
          <p:cNvPr id="12" name="Rectangle 11">
            <a:extLst>
              <a:ext uri="{FF2B5EF4-FFF2-40B4-BE49-F238E27FC236}">
                <a16:creationId xmlns:a16="http://schemas.microsoft.com/office/drawing/2014/main" id="{D1A7AF27-B38C-4629-A7A9-BEDF74876F73}"/>
              </a:ext>
            </a:extLst>
          </p:cNvPr>
          <p:cNvSpPr>
            <a:spLocks noGrp="1"/>
          </p:cNvSpPr>
          <p:nvPr/>
        </p:nvSpPr>
        <p:spPr>
          <a:xfrm>
            <a:off x="733425" y="4352925"/>
            <a:ext cx="7648575" cy="295275"/>
          </a:xfrm>
          <a:prstGeom prst="rect">
            <a:avLst/>
          </a:prstGeom>
          <a:noFill/>
          <a:ln w="0">
            <a:noFill/>
            <a:prstDash val="solid"/>
          </a:ln>
        </p:spPr>
        <p:txBody>
          <a:bodyPr wrap="square" lIns="0" tIns="0" rIns="0" bIns="0" anchor="ctr">
            <a:normAutofit/>
          </a:bodyPr>
          <a:lstStyle>
            <a:defPPr algn="l">
              <a:defRPr sz="1350" b="1">
                <a:solidFill>
                  <a:srgbClr val="1C2D49"/>
                </a:solidFill>
                <a:latin typeface="Calibri"/>
                <a:ea typeface="Calibri"/>
                <a:cs typeface="Calibri"/>
              </a:defRPr>
            </a:defPPr>
            <a:lvl1pPr algn="l">
              <a:defRPr sz="1350" b="1">
                <a:solidFill>
                  <a:srgbClr val="1C2D49"/>
                </a:solidFill>
                <a:latin typeface="Calibri"/>
                <a:ea typeface="Calibri"/>
                <a:cs typeface="Calibri"/>
              </a:defRPr>
            </a:lvl1pPr>
            <a:lvl2pPr algn="l">
              <a:defRPr sz="1350" b="1">
                <a:solidFill>
                  <a:srgbClr val="1C2D49"/>
                </a:solidFill>
                <a:latin typeface="Calibri"/>
                <a:ea typeface="Calibri"/>
                <a:cs typeface="Calibri"/>
              </a:defRPr>
            </a:lvl2pPr>
            <a:lvl3pPr algn="l">
              <a:defRPr sz="1350" b="1">
                <a:solidFill>
                  <a:srgbClr val="1C2D49"/>
                </a:solidFill>
                <a:latin typeface="Calibri"/>
                <a:ea typeface="Calibri"/>
                <a:cs typeface="Calibri"/>
              </a:defRPr>
            </a:lvl3pPr>
            <a:lvl4pPr algn="l">
              <a:defRPr sz="1350" b="1">
                <a:solidFill>
                  <a:srgbClr val="1C2D49"/>
                </a:solidFill>
                <a:latin typeface="Calibri"/>
                <a:ea typeface="Calibri"/>
                <a:cs typeface="Calibri"/>
              </a:defRPr>
            </a:lvl4pPr>
            <a:lvl5pPr algn="l">
              <a:defRPr sz="1350" b="1">
                <a:solidFill>
                  <a:srgbClr val="1C2D49"/>
                </a:solidFill>
                <a:latin typeface="Calibri"/>
                <a:ea typeface="Calibri"/>
                <a:cs typeface="Calibri"/>
              </a:defRPr>
            </a:lvl5pPr>
            <a:lvl6pPr algn="l">
              <a:defRPr sz="1350" b="1">
                <a:solidFill>
                  <a:srgbClr val="1C2D49"/>
                </a:solidFill>
                <a:latin typeface="Calibri"/>
                <a:ea typeface="Calibri"/>
                <a:cs typeface="Calibri"/>
              </a:defRPr>
            </a:lvl6pPr>
            <a:lvl7pPr algn="l">
              <a:defRPr sz="1350" b="1">
                <a:solidFill>
                  <a:srgbClr val="1C2D49"/>
                </a:solidFill>
                <a:latin typeface="Calibri"/>
                <a:ea typeface="Calibri"/>
                <a:cs typeface="Calibri"/>
              </a:defRPr>
            </a:lvl7pPr>
            <a:lvl8pPr algn="l">
              <a:defRPr sz="1350" b="1">
                <a:solidFill>
                  <a:srgbClr val="1C2D49"/>
                </a:solidFill>
                <a:latin typeface="Calibri"/>
                <a:ea typeface="Calibri"/>
                <a:cs typeface="Calibri"/>
              </a:defRPr>
            </a:lvl8pPr>
            <a:lvl9pPr algn="l">
              <a:defRPr sz="1350" b="1">
                <a:solidFill>
                  <a:srgbClr val="1C2D49"/>
                </a:solidFill>
                <a:latin typeface="Calibri"/>
                <a:ea typeface="Calibri"/>
                <a:cs typeface="Calibri"/>
              </a:defRPr>
            </a:lvl9pPr>
          </a:lstStyle>
          <a:p>
            <a:pPr algn="l">
              <a:buNone/>
              <a:defRPr sz="1350" b="1">
                <a:solidFill>
                  <a:srgbClr val="1C2D49"/>
                </a:solidFill>
                <a:latin typeface="Calibri"/>
                <a:ea typeface="Calibri"/>
                <a:cs typeface="Calibri"/>
              </a:defRPr>
            </a:pPr>
            <a:r>
              <a:rPr sz="1350" b="1">
                <a:solidFill>
                  <a:srgbClr val="1C2D49"/>
                </a:solidFill>
                <a:latin typeface="Calibri"/>
                <a:ea typeface="Calibri"/>
                <a:cs typeface="Calibri"/>
              </a:rPr>
              <a:t>Next: listen to difficult utterances; then rerun a matched-data comparison.</a:t>
            </a:r>
          </a:p>
        </p:txBody>
      </p:sp>
      <p:pic>
        <p:nvPicPr>
          <p:cNvPr id="15" name="Picture 14">
            <a:extLst>
              <a:ext uri="{FF2B5EF4-FFF2-40B4-BE49-F238E27FC236}">
                <a16:creationId xmlns:a16="http://schemas.microsoft.com/office/drawing/2014/main" id="{1B7126A6-4849-49DB-9905-0D06126D694B}"/>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718257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C2D49"/>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6ED5A87-830E-43F1-82D1-F39A11CC3F3B}"/>
              </a:ext>
            </a:extLst>
          </p:cNvPr>
          <p:cNvSpPr>
            <a:spLocks noGrp="1"/>
          </p:cNvSpPr>
          <p:nvPr/>
        </p:nvSpPr>
        <p:spPr>
          <a:xfrm>
            <a:off x="466725" y="361950"/>
            <a:ext cx="7839075" cy="647700"/>
          </a:xfrm>
          <a:prstGeom prst="rect">
            <a:avLst/>
          </a:prstGeom>
          <a:noFill/>
          <a:ln w="0">
            <a:noFill/>
            <a:prstDash val="solid"/>
          </a:ln>
        </p:spPr>
        <p:txBody>
          <a:bodyPr wrap="square" lIns="0" tIns="0" rIns="0" bIns="0" anchor="ctr">
            <a:normAutofit/>
          </a:bodyPr>
          <a:lstStyle>
            <a:defPPr algn="l">
              <a:defRPr sz="2925" b="1">
                <a:solidFill>
                  <a:srgbClr val="FFFFFF"/>
                </a:solidFill>
                <a:latin typeface="Cambria"/>
                <a:ea typeface="Cambria"/>
                <a:cs typeface="Cambria"/>
              </a:defRPr>
            </a:defPPr>
            <a:lvl1pPr algn="l">
              <a:defRPr sz="2925" b="1">
                <a:solidFill>
                  <a:srgbClr val="FFFFFF"/>
                </a:solidFill>
                <a:latin typeface="Cambria"/>
                <a:ea typeface="Cambria"/>
                <a:cs typeface="Cambria"/>
              </a:defRPr>
            </a:lvl1pPr>
            <a:lvl2pPr algn="l">
              <a:defRPr sz="2925" b="1">
                <a:solidFill>
                  <a:srgbClr val="FFFFFF"/>
                </a:solidFill>
                <a:latin typeface="Cambria"/>
                <a:ea typeface="Cambria"/>
                <a:cs typeface="Cambria"/>
              </a:defRPr>
            </a:lvl2pPr>
            <a:lvl3pPr algn="l">
              <a:defRPr sz="2925" b="1">
                <a:solidFill>
                  <a:srgbClr val="FFFFFF"/>
                </a:solidFill>
                <a:latin typeface="Cambria"/>
                <a:ea typeface="Cambria"/>
                <a:cs typeface="Cambria"/>
              </a:defRPr>
            </a:lvl3pPr>
            <a:lvl4pPr algn="l">
              <a:defRPr sz="2925" b="1">
                <a:solidFill>
                  <a:srgbClr val="FFFFFF"/>
                </a:solidFill>
                <a:latin typeface="Cambria"/>
                <a:ea typeface="Cambria"/>
                <a:cs typeface="Cambria"/>
              </a:defRPr>
            </a:lvl4pPr>
            <a:lvl5pPr algn="l">
              <a:defRPr sz="2925" b="1">
                <a:solidFill>
                  <a:srgbClr val="FFFFFF"/>
                </a:solidFill>
                <a:latin typeface="Cambria"/>
                <a:ea typeface="Cambria"/>
                <a:cs typeface="Cambria"/>
              </a:defRPr>
            </a:lvl5pPr>
            <a:lvl6pPr algn="l">
              <a:defRPr sz="2925" b="1">
                <a:solidFill>
                  <a:srgbClr val="FFFFFF"/>
                </a:solidFill>
                <a:latin typeface="Cambria"/>
                <a:ea typeface="Cambria"/>
                <a:cs typeface="Cambria"/>
              </a:defRPr>
            </a:lvl6pPr>
            <a:lvl7pPr algn="l">
              <a:defRPr sz="2925" b="1">
                <a:solidFill>
                  <a:srgbClr val="FFFFFF"/>
                </a:solidFill>
                <a:latin typeface="Cambria"/>
                <a:ea typeface="Cambria"/>
                <a:cs typeface="Cambria"/>
              </a:defRPr>
            </a:lvl7pPr>
            <a:lvl8pPr algn="l">
              <a:defRPr sz="2925" b="1">
                <a:solidFill>
                  <a:srgbClr val="FFFFFF"/>
                </a:solidFill>
                <a:latin typeface="Cambria"/>
                <a:ea typeface="Cambria"/>
                <a:cs typeface="Cambria"/>
              </a:defRPr>
            </a:lvl8pPr>
            <a:lvl9pPr algn="l">
              <a:defRPr sz="2925" b="1">
                <a:solidFill>
                  <a:srgbClr val="FFFFFF"/>
                </a:solidFill>
                <a:latin typeface="Cambria"/>
                <a:ea typeface="Cambria"/>
                <a:cs typeface="Cambria"/>
              </a:defRPr>
            </a:lvl9pPr>
          </a:lstStyle>
          <a:p>
            <a:pPr algn="l">
              <a:buNone/>
              <a:defRPr sz="2925" b="1">
                <a:solidFill>
                  <a:srgbClr val="FFFFFF"/>
                </a:solidFill>
                <a:latin typeface="Cambria"/>
                <a:ea typeface="Cambria"/>
                <a:cs typeface="Cambria"/>
              </a:defRPr>
            </a:pPr>
            <a:r>
              <a:rPr sz="2925" b="1">
                <a:solidFill>
                  <a:srgbClr val="FFFFFF"/>
                </a:solidFill>
                <a:latin typeface="Cambria"/>
                <a:ea typeface="Cambria"/>
                <a:cs typeface="Cambria"/>
              </a:rPr>
              <a:t>Conclusion</a:t>
            </a:r>
          </a:p>
        </p:txBody>
      </p:sp>
      <p:sp>
        <p:nvSpPr>
          <p:cNvPr id="2" name="Rectangle 1">
            <a:extLst>
              <a:ext uri="{FF2B5EF4-FFF2-40B4-BE49-F238E27FC236}">
                <a16:creationId xmlns:a16="http://schemas.microsoft.com/office/drawing/2014/main" id="{ED143589-67E6-405E-A966-60AC43482B76}"/>
              </a:ext>
            </a:extLst>
          </p:cNvPr>
          <p:cNvSpPr>
            <a:spLocks noGrp="1"/>
          </p:cNvSpPr>
          <p:nvPr/>
        </p:nvSpPr>
        <p:spPr>
          <a:xfrm>
            <a:off x="561975" y="1362075"/>
            <a:ext cx="7858125" cy="638175"/>
          </a:xfrm>
          <a:prstGeom prst="rect">
            <a:avLst/>
          </a:prstGeom>
          <a:noFill/>
          <a:ln w="0">
            <a:noFill/>
            <a:prstDash val="solid"/>
          </a:ln>
        </p:spPr>
        <p:txBody>
          <a:bodyPr wrap="square" lIns="0" tIns="0" rIns="0" bIns="0" anchor="ctr">
            <a:normAutofit/>
          </a:bodyPr>
          <a:lstStyle>
            <a:defPPr algn="l">
              <a:defRPr sz="2325" b="1">
                <a:solidFill>
                  <a:srgbClr val="FFFFFF"/>
                </a:solidFill>
                <a:latin typeface="Calibri"/>
                <a:ea typeface="Calibri"/>
                <a:cs typeface="Calibri"/>
              </a:defRPr>
            </a:defPPr>
            <a:lvl1pPr algn="l">
              <a:defRPr sz="2325" b="1">
                <a:solidFill>
                  <a:srgbClr val="FFFFFF"/>
                </a:solidFill>
                <a:latin typeface="Calibri"/>
                <a:ea typeface="Calibri"/>
                <a:cs typeface="Calibri"/>
              </a:defRPr>
            </a:lvl1pPr>
            <a:lvl2pPr algn="l">
              <a:defRPr sz="2325" b="1">
                <a:solidFill>
                  <a:srgbClr val="FFFFFF"/>
                </a:solidFill>
                <a:latin typeface="Calibri"/>
                <a:ea typeface="Calibri"/>
                <a:cs typeface="Calibri"/>
              </a:defRPr>
            </a:lvl2pPr>
            <a:lvl3pPr algn="l">
              <a:defRPr sz="2325" b="1">
                <a:solidFill>
                  <a:srgbClr val="FFFFFF"/>
                </a:solidFill>
                <a:latin typeface="Calibri"/>
                <a:ea typeface="Calibri"/>
                <a:cs typeface="Calibri"/>
              </a:defRPr>
            </a:lvl3pPr>
            <a:lvl4pPr algn="l">
              <a:defRPr sz="2325" b="1">
                <a:solidFill>
                  <a:srgbClr val="FFFFFF"/>
                </a:solidFill>
                <a:latin typeface="Calibri"/>
                <a:ea typeface="Calibri"/>
                <a:cs typeface="Calibri"/>
              </a:defRPr>
            </a:lvl4pPr>
            <a:lvl5pPr algn="l">
              <a:defRPr sz="2325" b="1">
                <a:solidFill>
                  <a:srgbClr val="FFFFFF"/>
                </a:solidFill>
                <a:latin typeface="Calibri"/>
                <a:ea typeface="Calibri"/>
                <a:cs typeface="Calibri"/>
              </a:defRPr>
            </a:lvl5pPr>
            <a:lvl6pPr algn="l">
              <a:defRPr sz="2325" b="1">
                <a:solidFill>
                  <a:srgbClr val="FFFFFF"/>
                </a:solidFill>
                <a:latin typeface="Calibri"/>
                <a:ea typeface="Calibri"/>
                <a:cs typeface="Calibri"/>
              </a:defRPr>
            </a:lvl6pPr>
            <a:lvl7pPr algn="l">
              <a:defRPr sz="2325" b="1">
                <a:solidFill>
                  <a:srgbClr val="FFFFFF"/>
                </a:solidFill>
                <a:latin typeface="Calibri"/>
                <a:ea typeface="Calibri"/>
                <a:cs typeface="Calibri"/>
              </a:defRPr>
            </a:lvl7pPr>
            <a:lvl8pPr algn="l">
              <a:defRPr sz="2325" b="1">
                <a:solidFill>
                  <a:srgbClr val="FFFFFF"/>
                </a:solidFill>
                <a:latin typeface="Calibri"/>
                <a:ea typeface="Calibri"/>
                <a:cs typeface="Calibri"/>
              </a:defRPr>
            </a:lvl8pPr>
            <a:lvl9pPr algn="l">
              <a:defRPr sz="2325" b="1">
                <a:solidFill>
                  <a:srgbClr val="FFFFFF"/>
                </a:solidFill>
                <a:latin typeface="Calibri"/>
                <a:ea typeface="Calibri"/>
                <a:cs typeface="Calibri"/>
              </a:defRPr>
            </a:lvl9pPr>
          </a:lstStyle>
          <a:p>
            <a:pPr algn="l">
              <a:buNone/>
              <a:defRPr sz="2325" b="1">
                <a:solidFill>
                  <a:srgbClr val="FFFFFF"/>
                </a:solidFill>
                <a:latin typeface="Calibri"/>
                <a:ea typeface="Calibri"/>
                <a:cs typeface="Calibri"/>
              </a:defRPr>
            </a:pPr>
            <a:r>
              <a:rPr sz="2325" b="1">
                <a:solidFill>
                  <a:srgbClr val="FFFFFF"/>
                </a:solidFill>
                <a:latin typeface="Calibri"/>
                <a:ea typeface="Calibri"/>
                <a:cs typeface="Calibri"/>
              </a:rPr>
              <a:t>Qwen3-ASR had the lowest observed test error</a:t>
            </a:r>
          </a:p>
        </p:txBody>
      </p:sp>
      <p:sp>
        <p:nvSpPr>
          <p:cNvPr id="3" name="Rectangle 2">
            <a:extLst>
              <a:ext uri="{FF2B5EF4-FFF2-40B4-BE49-F238E27FC236}">
                <a16:creationId xmlns:a16="http://schemas.microsoft.com/office/drawing/2014/main" id="{D02F8C8D-CC7E-4A21-8B8D-410EB1A0D7CC}"/>
              </a:ext>
            </a:extLst>
          </p:cNvPr>
          <p:cNvSpPr>
            <a:spLocks noGrp="1"/>
          </p:cNvSpPr>
          <p:nvPr/>
        </p:nvSpPr>
        <p:spPr>
          <a:xfrm>
            <a:off x="561975" y="2266950"/>
            <a:ext cx="3581400" cy="771525"/>
          </a:xfrm>
          <a:prstGeom prst="rect">
            <a:avLst/>
          </a:prstGeom>
          <a:noFill/>
          <a:ln w="0">
            <a:noFill/>
            <a:prstDash val="solid"/>
          </a:ln>
        </p:spPr>
        <p:txBody>
          <a:bodyPr wrap="square" lIns="0" tIns="0" rIns="0" bIns="0" anchor="ctr">
            <a:normAutofit/>
          </a:bodyPr>
          <a:lstStyle>
            <a:defPPr algn="l">
              <a:defRPr sz="3225" b="1">
                <a:solidFill>
                  <a:srgbClr val="7ED3CB"/>
                </a:solidFill>
                <a:latin typeface="Cambria"/>
                <a:ea typeface="Cambria"/>
                <a:cs typeface="Cambria"/>
              </a:defRPr>
            </a:defPPr>
            <a:lvl1pPr algn="l">
              <a:defRPr sz="3225" b="1">
                <a:solidFill>
                  <a:srgbClr val="7ED3CB"/>
                </a:solidFill>
                <a:latin typeface="Cambria"/>
                <a:ea typeface="Cambria"/>
                <a:cs typeface="Cambria"/>
              </a:defRPr>
            </a:lvl1pPr>
            <a:lvl2pPr algn="l">
              <a:defRPr sz="3225" b="1">
                <a:solidFill>
                  <a:srgbClr val="7ED3CB"/>
                </a:solidFill>
                <a:latin typeface="Cambria"/>
                <a:ea typeface="Cambria"/>
                <a:cs typeface="Cambria"/>
              </a:defRPr>
            </a:lvl2pPr>
            <a:lvl3pPr algn="l">
              <a:defRPr sz="3225" b="1">
                <a:solidFill>
                  <a:srgbClr val="7ED3CB"/>
                </a:solidFill>
                <a:latin typeface="Cambria"/>
                <a:ea typeface="Cambria"/>
                <a:cs typeface="Cambria"/>
              </a:defRPr>
            </a:lvl3pPr>
            <a:lvl4pPr algn="l">
              <a:defRPr sz="3225" b="1">
                <a:solidFill>
                  <a:srgbClr val="7ED3CB"/>
                </a:solidFill>
                <a:latin typeface="Cambria"/>
                <a:ea typeface="Cambria"/>
                <a:cs typeface="Cambria"/>
              </a:defRPr>
            </a:lvl4pPr>
            <a:lvl5pPr algn="l">
              <a:defRPr sz="3225" b="1">
                <a:solidFill>
                  <a:srgbClr val="7ED3CB"/>
                </a:solidFill>
                <a:latin typeface="Cambria"/>
                <a:ea typeface="Cambria"/>
                <a:cs typeface="Cambria"/>
              </a:defRPr>
            </a:lvl5pPr>
            <a:lvl6pPr algn="l">
              <a:defRPr sz="3225" b="1">
                <a:solidFill>
                  <a:srgbClr val="7ED3CB"/>
                </a:solidFill>
                <a:latin typeface="Cambria"/>
                <a:ea typeface="Cambria"/>
                <a:cs typeface="Cambria"/>
              </a:defRPr>
            </a:lvl6pPr>
            <a:lvl7pPr algn="l">
              <a:defRPr sz="3225" b="1">
                <a:solidFill>
                  <a:srgbClr val="7ED3CB"/>
                </a:solidFill>
                <a:latin typeface="Cambria"/>
                <a:ea typeface="Cambria"/>
                <a:cs typeface="Cambria"/>
              </a:defRPr>
            </a:lvl7pPr>
            <a:lvl8pPr algn="l">
              <a:defRPr sz="3225" b="1">
                <a:solidFill>
                  <a:srgbClr val="7ED3CB"/>
                </a:solidFill>
                <a:latin typeface="Cambria"/>
                <a:ea typeface="Cambria"/>
                <a:cs typeface="Cambria"/>
              </a:defRPr>
            </a:lvl8pPr>
            <a:lvl9pPr algn="l">
              <a:defRPr sz="3225" b="1">
                <a:solidFill>
                  <a:srgbClr val="7ED3CB"/>
                </a:solidFill>
                <a:latin typeface="Cambria"/>
                <a:ea typeface="Cambria"/>
                <a:cs typeface="Cambria"/>
              </a:defRPr>
            </a:lvl9pPr>
          </a:lstStyle>
          <a:p>
            <a:pPr algn="l">
              <a:buNone/>
              <a:defRPr sz="3225" b="1">
                <a:solidFill>
                  <a:srgbClr val="7ED3CB"/>
                </a:solidFill>
                <a:latin typeface="Cambria"/>
                <a:ea typeface="Cambria"/>
                <a:cs typeface="Cambria"/>
              </a:defRPr>
            </a:pPr>
            <a:r>
              <a:rPr sz="3225" b="1">
                <a:solidFill>
                  <a:srgbClr val="7ED3CB"/>
                </a:solidFill>
                <a:latin typeface="Cambria"/>
                <a:ea typeface="Cambria"/>
                <a:cs typeface="Cambria"/>
              </a:rPr>
              <a:t>13.71% CER</a:t>
            </a:r>
          </a:p>
        </p:txBody>
      </p:sp>
      <p:sp>
        <p:nvSpPr>
          <p:cNvPr id="4" name="Rectangle 3">
            <a:extLst>
              <a:ext uri="{FF2B5EF4-FFF2-40B4-BE49-F238E27FC236}">
                <a16:creationId xmlns:a16="http://schemas.microsoft.com/office/drawing/2014/main" id="{9E26CDA6-2E50-478D-A15C-72C6B9683E9D}"/>
              </a:ext>
            </a:extLst>
          </p:cNvPr>
          <p:cNvSpPr>
            <a:spLocks noGrp="1"/>
          </p:cNvSpPr>
          <p:nvPr/>
        </p:nvSpPr>
        <p:spPr>
          <a:xfrm>
            <a:off x="4495800" y="2266950"/>
            <a:ext cx="3905250" cy="771525"/>
          </a:xfrm>
          <a:prstGeom prst="rect">
            <a:avLst/>
          </a:prstGeom>
          <a:noFill/>
          <a:ln w="0">
            <a:noFill/>
            <a:prstDash val="solid"/>
          </a:ln>
        </p:spPr>
        <p:txBody>
          <a:bodyPr wrap="square" lIns="0" tIns="0" rIns="0" bIns="0" anchor="ctr">
            <a:normAutofit/>
          </a:bodyPr>
          <a:lstStyle>
            <a:defPPr algn="l">
              <a:defRPr sz="3225" b="1">
                <a:solidFill>
                  <a:srgbClr val="7ED3CB"/>
                </a:solidFill>
                <a:latin typeface="Cambria"/>
                <a:ea typeface="Cambria"/>
                <a:cs typeface="Cambria"/>
              </a:defRPr>
            </a:defPPr>
            <a:lvl1pPr algn="l">
              <a:defRPr sz="3225" b="1">
                <a:solidFill>
                  <a:srgbClr val="7ED3CB"/>
                </a:solidFill>
                <a:latin typeface="Cambria"/>
                <a:ea typeface="Cambria"/>
                <a:cs typeface="Cambria"/>
              </a:defRPr>
            </a:lvl1pPr>
            <a:lvl2pPr algn="l">
              <a:defRPr sz="3225" b="1">
                <a:solidFill>
                  <a:srgbClr val="7ED3CB"/>
                </a:solidFill>
                <a:latin typeface="Cambria"/>
                <a:ea typeface="Cambria"/>
                <a:cs typeface="Cambria"/>
              </a:defRPr>
            </a:lvl2pPr>
            <a:lvl3pPr algn="l">
              <a:defRPr sz="3225" b="1">
                <a:solidFill>
                  <a:srgbClr val="7ED3CB"/>
                </a:solidFill>
                <a:latin typeface="Cambria"/>
                <a:ea typeface="Cambria"/>
                <a:cs typeface="Cambria"/>
              </a:defRPr>
            </a:lvl3pPr>
            <a:lvl4pPr algn="l">
              <a:defRPr sz="3225" b="1">
                <a:solidFill>
                  <a:srgbClr val="7ED3CB"/>
                </a:solidFill>
                <a:latin typeface="Cambria"/>
                <a:ea typeface="Cambria"/>
                <a:cs typeface="Cambria"/>
              </a:defRPr>
            </a:lvl4pPr>
            <a:lvl5pPr algn="l">
              <a:defRPr sz="3225" b="1">
                <a:solidFill>
                  <a:srgbClr val="7ED3CB"/>
                </a:solidFill>
                <a:latin typeface="Cambria"/>
                <a:ea typeface="Cambria"/>
                <a:cs typeface="Cambria"/>
              </a:defRPr>
            </a:lvl5pPr>
            <a:lvl6pPr algn="l">
              <a:defRPr sz="3225" b="1">
                <a:solidFill>
                  <a:srgbClr val="7ED3CB"/>
                </a:solidFill>
                <a:latin typeface="Cambria"/>
                <a:ea typeface="Cambria"/>
                <a:cs typeface="Cambria"/>
              </a:defRPr>
            </a:lvl6pPr>
            <a:lvl7pPr algn="l">
              <a:defRPr sz="3225" b="1">
                <a:solidFill>
                  <a:srgbClr val="7ED3CB"/>
                </a:solidFill>
                <a:latin typeface="Cambria"/>
                <a:ea typeface="Cambria"/>
                <a:cs typeface="Cambria"/>
              </a:defRPr>
            </a:lvl7pPr>
            <a:lvl8pPr algn="l">
              <a:defRPr sz="3225" b="1">
                <a:solidFill>
                  <a:srgbClr val="7ED3CB"/>
                </a:solidFill>
                <a:latin typeface="Cambria"/>
                <a:ea typeface="Cambria"/>
                <a:cs typeface="Cambria"/>
              </a:defRPr>
            </a:lvl8pPr>
            <a:lvl9pPr algn="l">
              <a:defRPr sz="3225" b="1">
                <a:solidFill>
                  <a:srgbClr val="7ED3CB"/>
                </a:solidFill>
                <a:latin typeface="Cambria"/>
                <a:ea typeface="Cambria"/>
                <a:cs typeface="Cambria"/>
              </a:defRPr>
            </a:lvl9pPr>
          </a:lstStyle>
          <a:p>
            <a:pPr algn="l">
              <a:buNone/>
              <a:defRPr sz="3225" b="1">
                <a:solidFill>
                  <a:srgbClr val="7ED3CB"/>
                </a:solidFill>
                <a:latin typeface="Cambria"/>
                <a:ea typeface="Cambria"/>
                <a:cs typeface="Cambria"/>
              </a:defRPr>
            </a:pPr>
            <a:r>
              <a:rPr sz="3225" b="1">
                <a:solidFill>
                  <a:srgbClr val="7ED3CB"/>
                </a:solidFill>
                <a:latin typeface="Cambria"/>
                <a:ea typeface="Cambria"/>
                <a:cs typeface="Cambria"/>
              </a:rPr>
              <a:t>33.40% ICU WER</a:t>
            </a:r>
          </a:p>
        </p:txBody>
      </p:sp>
      <p:sp>
        <p:nvSpPr>
          <p:cNvPr id="5" name="Rectangle 4">
            <a:extLst>
              <a:ext uri="{FF2B5EF4-FFF2-40B4-BE49-F238E27FC236}">
                <a16:creationId xmlns:a16="http://schemas.microsoft.com/office/drawing/2014/main" id="{217BC06C-4854-4747-8A0A-8FB29D1A2EEF}"/>
              </a:ext>
            </a:extLst>
          </p:cNvPr>
          <p:cNvSpPr>
            <a:spLocks noGrp="1"/>
          </p:cNvSpPr>
          <p:nvPr/>
        </p:nvSpPr>
        <p:spPr>
          <a:xfrm>
            <a:off x="552450" y="3314700"/>
            <a:ext cx="7886700" cy="28575"/>
          </a:xfrm>
          <a:prstGeom prst="rect">
            <a:avLst/>
          </a:prstGeom>
          <a:solidFill>
            <a:srgbClr val="2A9D92"/>
          </a:solidFill>
          <a:ln w="0">
            <a:noFill/>
            <a:prstDash val="solid"/>
          </a:ln>
        </p:spPr>
      </p:sp>
      <p:sp>
        <p:nvSpPr>
          <p:cNvPr id="6" name="Rectangle 5">
            <a:extLst>
              <a:ext uri="{FF2B5EF4-FFF2-40B4-BE49-F238E27FC236}">
                <a16:creationId xmlns:a16="http://schemas.microsoft.com/office/drawing/2014/main" id="{C972703E-2491-4E14-B539-F9C737962111}"/>
              </a:ext>
            </a:extLst>
          </p:cNvPr>
          <p:cNvSpPr>
            <a:spLocks noGrp="1"/>
          </p:cNvSpPr>
          <p:nvPr/>
        </p:nvSpPr>
        <p:spPr>
          <a:xfrm>
            <a:off x="561975" y="3581400"/>
            <a:ext cx="7791450" cy="752475"/>
          </a:xfrm>
          <a:prstGeom prst="rect">
            <a:avLst/>
          </a:prstGeom>
          <a:noFill/>
          <a:ln w="0">
            <a:noFill/>
            <a:prstDash val="solid"/>
          </a:ln>
        </p:spPr>
        <p:txBody>
          <a:bodyPr wrap="square" lIns="0" tIns="0" rIns="0" bIns="0" anchor="ctr">
            <a:normAutofit/>
          </a:bodyPr>
          <a:lstStyle>
            <a:defPPr algn="l">
              <a:defRPr sz="1650" b="0">
                <a:solidFill>
                  <a:srgbClr val="FFFFFF"/>
                </a:solidFill>
                <a:latin typeface="Calibri"/>
                <a:ea typeface="Calibri"/>
                <a:cs typeface="Calibri"/>
              </a:defRPr>
            </a:defPPr>
            <a:lvl1pPr algn="l">
              <a:defRPr sz="1650" b="0">
                <a:solidFill>
                  <a:srgbClr val="FFFFFF"/>
                </a:solidFill>
                <a:latin typeface="Calibri"/>
                <a:ea typeface="Calibri"/>
                <a:cs typeface="Calibri"/>
              </a:defRPr>
            </a:lvl1pPr>
            <a:lvl2pPr algn="l">
              <a:defRPr sz="1650" b="0">
                <a:solidFill>
                  <a:srgbClr val="FFFFFF"/>
                </a:solidFill>
                <a:latin typeface="Calibri"/>
                <a:ea typeface="Calibri"/>
                <a:cs typeface="Calibri"/>
              </a:defRPr>
            </a:lvl2pPr>
            <a:lvl3pPr algn="l">
              <a:defRPr sz="1650" b="0">
                <a:solidFill>
                  <a:srgbClr val="FFFFFF"/>
                </a:solidFill>
                <a:latin typeface="Calibri"/>
                <a:ea typeface="Calibri"/>
                <a:cs typeface="Calibri"/>
              </a:defRPr>
            </a:lvl3pPr>
            <a:lvl4pPr algn="l">
              <a:defRPr sz="1650" b="0">
                <a:solidFill>
                  <a:srgbClr val="FFFFFF"/>
                </a:solidFill>
                <a:latin typeface="Calibri"/>
                <a:ea typeface="Calibri"/>
                <a:cs typeface="Calibri"/>
              </a:defRPr>
            </a:lvl4pPr>
            <a:lvl5pPr algn="l">
              <a:defRPr sz="1650" b="0">
                <a:solidFill>
                  <a:srgbClr val="FFFFFF"/>
                </a:solidFill>
                <a:latin typeface="Calibri"/>
                <a:ea typeface="Calibri"/>
                <a:cs typeface="Calibri"/>
              </a:defRPr>
            </a:lvl5pPr>
            <a:lvl6pPr algn="l">
              <a:defRPr sz="1650" b="0">
                <a:solidFill>
                  <a:srgbClr val="FFFFFF"/>
                </a:solidFill>
                <a:latin typeface="Calibri"/>
                <a:ea typeface="Calibri"/>
                <a:cs typeface="Calibri"/>
              </a:defRPr>
            </a:lvl6pPr>
            <a:lvl7pPr algn="l">
              <a:defRPr sz="1650" b="0">
                <a:solidFill>
                  <a:srgbClr val="FFFFFF"/>
                </a:solidFill>
                <a:latin typeface="Calibri"/>
                <a:ea typeface="Calibri"/>
                <a:cs typeface="Calibri"/>
              </a:defRPr>
            </a:lvl7pPr>
            <a:lvl8pPr algn="l">
              <a:defRPr sz="1650" b="0">
                <a:solidFill>
                  <a:srgbClr val="FFFFFF"/>
                </a:solidFill>
                <a:latin typeface="Calibri"/>
                <a:ea typeface="Calibri"/>
                <a:cs typeface="Calibri"/>
              </a:defRPr>
            </a:lvl8pPr>
            <a:lvl9pPr algn="l">
              <a:defRPr sz="1650" b="0">
                <a:solidFill>
                  <a:srgbClr val="FFFFFF"/>
                </a:solidFill>
                <a:latin typeface="Calibri"/>
                <a:ea typeface="Calibri"/>
                <a:cs typeface="Calibri"/>
              </a:defRPr>
            </a:lvl9pPr>
          </a:lstStyle>
          <a:p>
            <a:pPr algn="l">
              <a:buNone/>
              <a:defRPr sz="1650" b="0">
                <a:solidFill>
                  <a:srgbClr val="FFFFFF"/>
                </a:solidFill>
                <a:latin typeface="Calibri"/>
                <a:ea typeface="Calibri"/>
                <a:cs typeface="Calibri"/>
              </a:defRPr>
            </a:pPr>
            <a:r>
              <a:rPr sz="1650" b="0">
                <a:solidFill>
                  <a:srgbClr val="FFFFFF"/>
                </a:solidFill>
                <a:latin typeface="Calibri"/>
                <a:ea typeface="Calibri"/>
                <a:cs typeface="Calibri"/>
              </a:rPr>
              <a:t>The &lt;25% validation WER goal remains unmet. Qwen had more training data, so the result does not establish an architecture advantage.</a:t>
            </a:r>
          </a:p>
        </p:txBody>
      </p:sp>
      <p:sp>
        <p:nvSpPr>
          <p:cNvPr id="7" name="Rectangle 6">
            <a:extLst>
              <a:ext uri="{FF2B5EF4-FFF2-40B4-BE49-F238E27FC236}">
                <a16:creationId xmlns:a16="http://schemas.microsoft.com/office/drawing/2014/main" id="{D7403853-3B3B-4FD7-A6DB-8A3194C605AF}"/>
              </a:ext>
            </a:extLst>
          </p:cNvPr>
          <p:cNvSpPr>
            <a:spLocks noGrp="1"/>
          </p:cNvSpPr>
          <p:nvPr/>
        </p:nvSpPr>
        <p:spPr>
          <a:xfrm>
            <a:off x="561975" y="4524375"/>
            <a:ext cx="7534275" cy="314325"/>
          </a:xfrm>
          <a:prstGeom prst="rect">
            <a:avLst/>
          </a:prstGeom>
          <a:noFill/>
          <a:ln w="0">
            <a:noFill/>
            <a:prstDash val="solid"/>
          </a:ln>
        </p:spPr>
        <p:txBody>
          <a:bodyPr wrap="square" lIns="0" tIns="0" rIns="0" bIns="0" anchor="ctr">
            <a:normAutofit/>
          </a:bodyPr>
          <a:lstStyle>
            <a:defPPr algn="l">
              <a:defRPr sz="1500" b="0">
                <a:solidFill>
                  <a:srgbClr val="CFDDE6"/>
                </a:solidFill>
                <a:latin typeface="Calibri"/>
                <a:ea typeface="Calibri"/>
                <a:cs typeface="Calibri"/>
              </a:defRPr>
            </a:defPPr>
            <a:lvl1pPr algn="l">
              <a:defRPr sz="1500" b="0">
                <a:solidFill>
                  <a:srgbClr val="CFDDE6"/>
                </a:solidFill>
                <a:latin typeface="Calibri"/>
                <a:ea typeface="Calibri"/>
                <a:cs typeface="Calibri"/>
              </a:defRPr>
            </a:lvl1pPr>
            <a:lvl2pPr algn="l">
              <a:defRPr sz="1500" b="0">
                <a:solidFill>
                  <a:srgbClr val="CFDDE6"/>
                </a:solidFill>
                <a:latin typeface="Calibri"/>
                <a:ea typeface="Calibri"/>
                <a:cs typeface="Calibri"/>
              </a:defRPr>
            </a:lvl2pPr>
            <a:lvl3pPr algn="l">
              <a:defRPr sz="1500" b="0">
                <a:solidFill>
                  <a:srgbClr val="CFDDE6"/>
                </a:solidFill>
                <a:latin typeface="Calibri"/>
                <a:ea typeface="Calibri"/>
                <a:cs typeface="Calibri"/>
              </a:defRPr>
            </a:lvl3pPr>
            <a:lvl4pPr algn="l">
              <a:defRPr sz="1500" b="0">
                <a:solidFill>
                  <a:srgbClr val="CFDDE6"/>
                </a:solidFill>
                <a:latin typeface="Calibri"/>
                <a:ea typeface="Calibri"/>
                <a:cs typeface="Calibri"/>
              </a:defRPr>
            </a:lvl4pPr>
            <a:lvl5pPr algn="l">
              <a:defRPr sz="1500" b="0">
                <a:solidFill>
                  <a:srgbClr val="CFDDE6"/>
                </a:solidFill>
                <a:latin typeface="Calibri"/>
                <a:ea typeface="Calibri"/>
                <a:cs typeface="Calibri"/>
              </a:defRPr>
            </a:lvl5pPr>
            <a:lvl6pPr algn="l">
              <a:defRPr sz="1500" b="0">
                <a:solidFill>
                  <a:srgbClr val="CFDDE6"/>
                </a:solidFill>
                <a:latin typeface="Calibri"/>
                <a:ea typeface="Calibri"/>
                <a:cs typeface="Calibri"/>
              </a:defRPr>
            </a:lvl6pPr>
            <a:lvl7pPr algn="l">
              <a:defRPr sz="1500" b="0">
                <a:solidFill>
                  <a:srgbClr val="CFDDE6"/>
                </a:solidFill>
                <a:latin typeface="Calibri"/>
                <a:ea typeface="Calibri"/>
                <a:cs typeface="Calibri"/>
              </a:defRPr>
            </a:lvl7pPr>
            <a:lvl8pPr algn="l">
              <a:defRPr sz="1500" b="0">
                <a:solidFill>
                  <a:srgbClr val="CFDDE6"/>
                </a:solidFill>
                <a:latin typeface="Calibri"/>
                <a:ea typeface="Calibri"/>
                <a:cs typeface="Calibri"/>
              </a:defRPr>
            </a:lvl8pPr>
            <a:lvl9pPr algn="l">
              <a:defRPr sz="1500" b="0">
                <a:solidFill>
                  <a:srgbClr val="CFDDE6"/>
                </a:solidFill>
                <a:latin typeface="Calibri"/>
                <a:ea typeface="Calibri"/>
                <a:cs typeface="Calibri"/>
              </a:defRPr>
            </a:lvl9pPr>
          </a:lstStyle>
          <a:p>
            <a:pPr algn="l">
              <a:buNone/>
              <a:defRPr sz="1500" b="0">
                <a:solidFill>
                  <a:srgbClr val="CFDDE6"/>
                </a:solidFill>
                <a:latin typeface="Calibri"/>
                <a:ea typeface="Calibri"/>
                <a:cs typeface="Calibri"/>
              </a:defRPr>
            </a:pPr>
            <a:r>
              <a:rPr sz="1500" b="0">
                <a:solidFill>
                  <a:srgbClr val="CFDDE6"/>
                </a:solidFill>
                <a:latin typeface="Calibri"/>
                <a:ea typeface="Calibri"/>
                <a:cs typeface="Calibri"/>
              </a:rPr>
              <a:t>Thank you. Questions?</a:t>
            </a:r>
          </a:p>
        </p:txBody>
      </p:sp>
      <p:sp>
        <p:nvSpPr>
          <p:cNvPr id="9" name="KIT logo backing">
            <a:extLst>
              <a:ext uri="{FF2B5EF4-FFF2-40B4-BE49-F238E27FC236}">
                <a16:creationId xmlns:a16="http://schemas.microsoft.com/office/drawing/2014/main" id="{3D213640-4056-43D2-A34E-BF3DD3F62249}"/>
              </a:ext>
            </a:extLst>
          </p:cNvPr>
          <p:cNvSpPr>
            <a:spLocks noGrp="1"/>
          </p:cNvSpPr>
          <p:nvPr/>
        </p:nvSpPr>
        <p:spPr>
          <a:xfrm>
            <a:off x="7382108" y="47625"/>
            <a:ext cx="1471960" cy="904875"/>
          </a:xfrm>
          <a:prstGeom prst="rect">
            <a:avLst/>
          </a:prstGeom>
          <a:solidFill>
            <a:srgbClr val="FFFFFF"/>
          </a:solidFill>
          <a:ln w="0">
            <a:noFill/>
            <a:prstDash val="solid"/>
          </a:ln>
        </p:spPr>
      </p:sp>
      <p:sp>
        <p:nvSpPr>
          <p:cNvPr id="11" name="page-11">
            <a:extLst>
              <a:ext uri="{FF2B5EF4-FFF2-40B4-BE49-F238E27FC236}">
                <a16:creationId xmlns:a16="http://schemas.microsoft.com/office/drawing/2014/main" id="{019F91B7-6CEE-4A00-97E5-3A82F0F29103}"/>
              </a:ext>
            </a:extLst>
          </p:cNvPr>
          <p:cNvSpPr>
            <a:spLocks noGrp="1"/>
          </p:cNvSpPr>
          <p:nvPr/>
        </p:nvSpPr>
        <p:spPr>
          <a:xfrm>
            <a:off x="8324850" y="4810125"/>
            <a:ext cx="361950" cy="180975"/>
          </a:xfrm>
          <a:prstGeom prst="rect">
            <a:avLst/>
          </a:prstGeom>
          <a:noFill/>
          <a:ln w="0">
            <a:noFill/>
            <a:prstDash val="solid"/>
          </a:ln>
        </p:spPr>
        <p:txBody>
          <a:bodyPr lIns="0" tIns="0" rIns="0" bIns="0"/>
          <a:lstStyle>
            <a:defPPr>
              <a:defRPr sz="750">
                <a:solidFill>
                  <a:srgbClr val="C8D4E1"/>
                </a:solidFill>
              </a:defRPr>
            </a:defPPr>
            <a:lvl1pPr>
              <a:defRPr sz="750">
                <a:solidFill>
                  <a:srgbClr val="C8D4E1"/>
                </a:solidFill>
              </a:defRPr>
            </a:lvl1pPr>
            <a:lvl2pPr>
              <a:defRPr sz="750">
                <a:solidFill>
                  <a:srgbClr val="C8D4E1"/>
                </a:solidFill>
              </a:defRPr>
            </a:lvl2pPr>
            <a:lvl3pPr>
              <a:defRPr sz="750">
                <a:solidFill>
                  <a:srgbClr val="C8D4E1"/>
                </a:solidFill>
              </a:defRPr>
            </a:lvl3pPr>
            <a:lvl4pPr>
              <a:defRPr sz="750">
                <a:solidFill>
                  <a:srgbClr val="C8D4E1"/>
                </a:solidFill>
              </a:defRPr>
            </a:lvl4pPr>
            <a:lvl5pPr>
              <a:defRPr sz="750">
                <a:solidFill>
                  <a:srgbClr val="C8D4E1"/>
                </a:solidFill>
              </a:defRPr>
            </a:lvl5pPr>
            <a:lvl6pPr>
              <a:defRPr sz="750">
                <a:solidFill>
                  <a:srgbClr val="C8D4E1"/>
                </a:solidFill>
              </a:defRPr>
            </a:lvl6pPr>
            <a:lvl7pPr>
              <a:defRPr sz="750">
                <a:solidFill>
                  <a:srgbClr val="C8D4E1"/>
                </a:solidFill>
              </a:defRPr>
            </a:lvl7pPr>
            <a:lvl8pPr>
              <a:defRPr sz="750">
                <a:solidFill>
                  <a:srgbClr val="C8D4E1"/>
                </a:solidFill>
              </a:defRPr>
            </a:lvl8pPr>
            <a:lvl9pPr>
              <a:defRPr sz="750">
                <a:solidFill>
                  <a:srgbClr val="C8D4E1"/>
                </a:solidFill>
              </a:defRPr>
            </a:lvl9pPr>
          </a:lstStyle>
          <a:p>
            <a:pPr>
              <a:buNone/>
              <a:defRPr sz="750">
                <a:solidFill>
                  <a:srgbClr val="C8D4E1"/>
                </a:solidFill>
              </a:defRPr>
            </a:pPr>
            <a:r>
              <a:rPr sz="750">
                <a:solidFill>
                  <a:srgbClr val="C8D4E1"/>
                </a:solidFill>
              </a:rPr>
              <a:t>12</a:t>
            </a:r>
          </a:p>
        </p:txBody>
      </p:sp>
      <p:pic>
        <p:nvPicPr>
          <p:cNvPr id="12" name="Picture 11">
            <a:extLst>
              <a:ext uri="{FF2B5EF4-FFF2-40B4-BE49-F238E27FC236}">
                <a16:creationId xmlns:a16="http://schemas.microsoft.com/office/drawing/2014/main" id="{BED147EA-59D3-4BF0-AD07-D32606D651B3}"/>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1427298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8B0205-27B2-403E-8A5B-BD45C3D06C33}"/>
              </a:ext>
            </a:extLst>
          </p:cNvPr>
          <p:cNvSpPr>
            <a:spLocks noGrp="1"/>
          </p:cNvSpPr>
          <p:nvPr/>
        </p:nvSpPr>
        <p:spPr>
          <a:xfrm>
            <a:off x="457200" y="285750"/>
            <a:ext cx="8229600" cy="600075"/>
          </a:xfrm>
          <a:prstGeom prst="rect">
            <a:avLst/>
          </a:prstGeom>
          <a:noFill/>
          <a:ln w="0">
            <a:noFill/>
            <a:prstDash val="solid"/>
          </a:ln>
        </p:spPr>
        <p:txBody>
          <a:bodyPr wrap="square" lIns="0" tIns="0" rIns="0" bIns="0" anchor="ctr">
            <a:normAutofit/>
          </a:bodyPr>
          <a:lstStyle>
            <a:defPPr algn="l">
              <a:defRPr sz="2775" b="1">
                <a:solidFill>
                  <a:srgbClr val="1C2D49"/>
                </a:solidFill>
                <a:latin typeface="Cambria"/>
                <a:ea typeface="Cambria"/>
                <a:cs typeface="Cambria"/>
              </a:defRPr>
            </a:defPPr>
            <a:lvl1pPr algn="l">
              <a:defRPr sz="2775" b="1">
                <a:solidFill>
                  <a:srgbClr val="1C2D49"/>
                </a:solidFill>
                <a:latin typeface="Cambria"/>
                <a:ea typeface="Cambria"/>
                <a:cs typeface="Cambria"/>
              </a:defRPr>
            </a:lvl1pPr>
            <a:lvl2pPr algn="l">
              <a:defRPr sz="2775" b="1">
                <a:solidFill>
                  <a:srgbClr val="1C2D49"/>
                </a:solidFill>
                <a:latin typeface="Cambria"/>
                <a:ea typeface="Cambria"/>
                <a:cs typeface="Cambria"/>
              </a:defRPr>
            </a:lvl2pPr>
            <a:lvl3pPr algn="l">
              <a:defRPr sz="2775" b="1">
                <a:solidFill>
                  <a:srgbClr val="1C2D49"/>
                </a:solidFill>
                <a:latin typeface="Cambria"/>
                <a:ea typeface="Cambria"/>
                <a:cs typeface="Cambria"/>
              </a:defRPr>
            </a:lvl3pPr>
            <a:lvl4pPr algn="l">
              <a:defRPr sz="2775" b="1">
                <a:solidFill>
                  <a:srgbClr val="1C2D49"/>
                </a:solidFill>
                <a:latin typeface="Cambria"/>
                <a:ea typeface="Cambria"/>
                <a:cs typeface="Cambria"/>
              </a:defRPr>
            </a:lvl4pPr>
            <a:lvl5pPr algn="l">
              <a:defRPr sz="2775" b="1">
                <a:solidFill>
                  <a:srgbClr val="1C2D49"/>
                </a:solidFill>
                <a:latin typeface="Cambria"/>
                <a:ea typeface="Cambria"/>
                <a:cs typeface="Cambria"/>
              </a:defRPr>
            </a:lvl5pPr>
            <a:lvl6pPr algn="l">
              <a:defRPr sz="2775" b="1">
                <a:solidFill>
                  <a:srgbClr val="1C2D49"/>
                </a:solidFill>
                <a:latin typeface="Cambria"/>
                <a:ea typeface="Cambria"/>
                <a:cs typeface="Cambria"/>
              </a:defRPr>
            </a:lvl6pPr>
            <a:lvl7pPr algn="l">
              <a:defRPr sz="2775" b="1">
                <a:solidFill>
                  <a:srgbClr val="1C2D49"/>
                </a:solidFill>
                <a:latin typeface="Cambria"/>
                <a:ea typeface="Cambria"/>
                <a:cs typeface="Cambria"/>
              </a:defRPr>
            </a:lvl7pPr>
            <a:lvl8pPr algn="l">
              <a:defRPr sz="2775" b="1">
                <a:solidFill>
                  <a:srgbClr val="1C2D49"/>
                </a:solidFill>
                <a:latin typeface="Cambria"/>
                <a:ea typeface="Cambria"/>
                <a:cs typeface="Cambria"/>
              </a:defRPr>
            </a:lvl8pPr>
            <a:lvl9pPr algn="l">
              <a:defRPr sz="2775" b="1">
                <a:solidFill>
                  <a:srgbClr val="1C2D49"/>
                </a:solidFill>
                <a:latin typeface="Cambria"/>
                <a:ea typeface="Cambria"/>
                <a:cs typeface="Cambria"/>
              </a:defRPr>
            </a:lvl9pPr>
          </a:lstStyle>
          <a:p>
            <a:pPr algn="l">
              <a:buNone/>
              <a:defRPr sz="2775" b="1">
                <a:solidFill>
                  <a:srgbClr val="1C2D49"/>
                </a:solidFill>
                <a:latin typeface="Cambria"/>
                <a:ea typeface="Cambria"/>
                <a:cs typeface="Cambria"/>
              </a:defRPr>
            </a:pPr>
            <a:r>
              <a:rPr sz="2775" b="1">
                <a:solidFill>
                  <a:srgbClr val="1C2D49"/>
                </a:solidFill>
                <a:latin typeface="Cambria"/>
                <a:ea typeface="Cambria"/>
                <a:cs typeface="Cambria"/>
              </a:rPr>
              <a:t>References and project evidence</a:t>
            </a:r>
          </a:p>
        </p:txBody>
      </p:sp>
      <p:sp>
        <p:nvSpPr>
          <p:cNvPr id="2" name="Rectangle 1">
            <a:extLst>
              <a:ext uri="{FF2B5EF4-FFF2-40B4-BE49-F238E27FC236}">
                <a16:creationId xmlns:a16="http://schemas.microsoft.com/office/drawing/2014/main" id="{ED5F2602-5402-45F1-9F3F-13036E510FA2}"/>
              </a:ext>
            </a:extLst>
          </p:cNvPr>
          <p:cNvSpPr>
            <a:spLocks noGrp="1"/>
          </p:cNvSpPr>
          <p:nvPr/>
        </p:nvSpPr>
        <p:spPr>
          <a:xfrm>
            <a:off x="457200" y="971550"/>
            <a:ext cx="8229600" cy="19050"/>
          </a:xfrm>
          <a:prstGeom prst="rect">
            <a:avLst/>
          </a:prstGeom>
          <a:solidFill>
            <a:srgbClr val="D4DEE2"/>
          </a:solidFill>
          <a:ln w="0">
            <a:noFill/>
            <a:prstDash val="solid"/>
          </a:ln>
        </p:spPr>
      </p:sp>
      <p:sp>
        <p:nvSpPr>
          <p:cNvPr id="3" name="Rectangle 2">
            <a:extLst>
              <a:ext uri="{FF2B5EF4-FFF2-40B4-BE49-F238E27FC236}">
                <a16:creationId xmlns:a16="http://schemas.microsoft.com/office/drawing/2014/main" id="{1A734670-6A2A-4895-9320-872F128782DC}"/>
              </a:ext>
            </a:extLst>
          </p:cNvPr>
          <p:cNvSpPr>
            <a:spLocks noGrp="1"/>
          </p:cNvSpPr>
          <p:nvPr/>
        </p:nvSpPr>
        <p:spPr>
          <a:xfrm>
            <a:off x="457200" y="4810125"/>
            <a:ext cx="6191250" cy="180975"/>
          </a:xfrm>
          <a:prstGeom prst="rect">
            <a:avLst/>
          </a:prstGeom>
          <a:noFill/>
          <a:ln w="0">
            <a:noFill/>
            <a:prstDash val="solid"/>
          </a:ln>
        </p:spPr>
        <p:txBody>
          <a:bodyPr wrap="square" lIns="0" tIns="0" rIns="0" bIns="0" anchor="ctr">
            <a:normAutofit/>
          </a:bodyPr>
          <a:lstStyle>
            <a:defPPr algn="l">
              <a:defRPr sz="825" b="0">
                <a:solidFill>
                  <a:srgbClr val="5C6C7B"/>
                </a:solidFill>
                <a:latin typeface="Calibri"/>
                <a:ea typeface="Calibri"/>
                <a:cs typeface="Calibri"/>
              </a:defRPr>
            </a:defPPr>
            <a:lvl1pPr algn="l">
              <a:defRPr sz="825" b="0">
                <a:solidFill>
                  <a:srgbClr val="5C6C7B"/>
                </a:solidFill>
                <a:latin typeface="Calibri"/>
                <a:ea typeface="Calibri"/>
                <a:cs typeface="Calibri"/>
              </a:defRPr>
            </a:lvl1pPr>
            <a:lvl2pPr algn="l">
              <a:defRPr sz="825" b="0">
                <a:solidFill>
                  <a:srgbClr val="5C6C7B"/>
                </a:solidFill>
                <a:latin typeface="Calibri"/>
                <a:ea typeface="Calibri"/>
                <a:cs typeface="Calibri"/>
              </a:defRPr>
            </a:lvl2pPr>
            <a:lvl3pPr algn="l">
              <a:defRPr sz="825" b="0">
                <a:solidFill>
                  <a:srgbClr val="5C6C7B"/>
                </a:solidFill>
                <a:latin typeface="Calibri"/>
                <a:ea typeface="Calibri"/>
                <a:cs typeface="Calibri"/>
              </a:defRPr>
            </a:lvl3pPr>
            <a:lvl4pPr algn="l">
              <a:defRPr sz="825" b="0">
                <a:solidFill>
                  <a:srgbClr val="5C6C7B"/>
                </a:solidFill>
                <a:latin typeface="Calibri"/>
                <a:ea typeface="Calibri"/>
                <a:cs typeface="Calibri"/>
              </a:defRPr>
            </a:lvl4pPr>
            <a:lvl5pPr algn="l">
              <a:defRPr sz="825" b="0">
                <a:solidFill>
                  <a:srgbClr val="5C6C7B"/>
                </a:solidFill>
                <a:latin typeface="Calibri"/>
                <a:ea typeface="Calibri"/>
                <a:cs typeface="Calibri"/>
              </a:defRPr>
            </a:lvl5pPr>
            <a:lvl6pPr algn="l">
              <a:defRPr sz="825" b="0">
                <a:solidFill>
                  <a:srgbClr val="5C6C7B"/>
                </a:solidFill>
                <a:latin typeface="Calibri"/>
                <a:ea typeface="Calibri"/>
                <a:cs typeface="Calibri"/>
              </a:defRPr>
            </a:lvl6pPr>
            <a:lvl7pPr algn="l">
              <a:defRPr sz="825" b="0">
                <a:solidFill>
                  <a:srgbClr val="5C6C7B"/>
                </a:solidFill>
                <a:latin typeface="Calibri"/>
                <a:ea typeface="Calibri"/>
                <a:cs typeface="Calibri"/>
              </a:defRPr>
            </a:lvl7pPr>
            <a:lvl8pPr algn="l">
              <a:defRPr sz="825" b="0">
                <a:solidFill>
                  <a:srgbClr val="5C6C7B"/>
                </a:solidFill>
                <a:latin typeface="Calibri"/>
                <a:ea typeface="Calibri"/>
                <a:cs typeface="Calibri"/>
              </a:defRPr>
            </a:lvl8pPr>
            <a:lvl9pPr algn="l">
              <a:defRPr sz="825" b="0">
                <a:solidFill>
                  <a:srgbClr val="5C6C7B"/>
                </a:solidFill>
                <a:latin typeface="Calibri"/>
                <a:ea typeface="Calibri"/>
                <a:cs typeface="Calibri"/>
              </a:defRPr>
            </a:lvl9pPr>
          </a:lstStyle>
          <a:p>
            <a:pPr algn="l">
              <a:buNone/>
              <a:defRPr sz="825" b="0">
                <a:solidFill>
                  <a:srgbClr val="5C6C7B"/>
                </a:solidFill>
                <a:latin typeface="Calibri"/>
                <a:ea typeface="Calibri"/>
                <a:cs typeface="Calibri"/>
              </a:defRPr>
            </a:pPr>
            <a:r>
              <a:rPr sz="825" b="0">
                <a:solidFill>
                  <a:srgbClr val="5C6C7B"/>
                </a:solidFill>
                <a:latin typeface="Calibri"/>
                <a:ea typeface="Calibri"/>
                <a:cs typeface="Calibri"/>
              </a:rPr>
              <a:t>Khmer ASR  |  Khemrak Pasey  |  Deep Learning final project</a:t>
            </a:r>
          </a:p>
        </p:txBody>
      </p:sp>
      <p:sp>
        <p:nvSpPr>
          <p:cNvPr id="4" name="Rectangle 3">
            <a:extLst>
              <a:ext uri="{FF2B5EF4-FFF2-40B4-BE49-F238E27FC236}">
                <a16:creationId xmlns:a16="http://schemas.microsoft.com/office/drawing/2014/main" id="{99C288E4-D2BA-48DC-8AAE-39CE9B8F1EBE}"/>
              </a:ext>
            </a:extLst>
          </p:cNvPr>
          <p:cNvSpPr>
            <a:spLocks noGrp="1"/>
          </p:cNvSpPr>
          <p:nvPr/>
        </p:nvSpPr>
        <p:spPr>
          <a:xfrm>
            <a:off x="8324850" y="4810125"/>
            <a:ext cx="361950" cy="180975"/>
          </a:xfrm>
          <a:prstGeom prst="rect">
            <a:avLst/>
          </a:prstGeom>
          <a:noFill/>
          <a:ln w="0">
            <a:noFill/>
            <a:prstDash val="solid"/>
          </a:ln>
        </p:spPr>
        <p:txBody>
          <a:bodyPr wrap="square" lIns="0" tIns="0" rIns="0" bIns="0" anchor="ctr">
            <a:normAutofit/>
          </a:bodyPr>
          <a:lstStyle>
            <a:defPPr algn="r">
              <a:defRPr sz="825" b="0">
                <a:solidFill>
                  <a:srgbClr val="5C6C7B"/>
                </a:solidFill>
                <a:latin typeface="Calibri"/>
                <a:ea typeface="Calibri"/>
                <a:cs typeface="Calibri"/>
              </a:defRPr>
            </a:defPPr>
            <a:lvl1pPr algn="r">
              <a:defRPr sz="825" b="0">
                <a:solidFill>
                  <a:srgbClr val="5C6C7B"/>
                </a:solidFill>
                <a:latin typeface="Calibri"/>
                <a:ea typeface="Calibri"/>
                <a:cs typeface="Calibri"/>
              </a:defRPr>
            </a:lvl1pPr>
            <a:lvl2pPr algn="r">
              <a:defRPr sz="825" b="0">
                <a:solidFill>
                  <a:srgbClr val="5C6C7B"/>
                </a:solidFill>
                <a:latin typeface="Calibri"/>
                <a:ea typeface="Calibri"/>
                <a:cs typeface="Calibri"/>
              </a:defRPr>
            </a:lvl2pPr>
            <a:lvl3pPr algn="r">
              <a:defRPr sz="825" b="0">
                <a:solidFill>
                  <a:srgbClr val="5C6C7B"/>
                </a:solidFill>
                <a:latin typeface="Calibri"/>
                <a:ea typeface="Calibri"/>
                <a:cs typeface="Calibri"/>
              </a:defRPr>
            </a:lvl3pPr>
            <a:lvl4pPr algn="r">
              <a:defRPr sz="825" b="0">
                <a:solidFill>
                  <a:srgbClr val="5C6C7B"/>
                </a:solidFill>
                <a:latin typeface="Calibri"/>
                <a:ea typeface="Calibri"/>
                <a:cs typeface="Calibri"/>
              </a:defRPr>
            </a:lvl4pPr>
            <a:lvl5pPr algn="r">
              <a:defRPr sz="825" b="0">
                <a:solidFill>
                  <a:srgbClr val="5C6C7B"/>
                </a:solidFill>
                <a:latin typeface="Calibri"/>
                <a:ea typeface="Calibri"/>
                <a:cs typeface="Calibri"/>
              </a:defRPr>
            </a:lvl5pPr>
            <a:lvl6pPr algn="r">
              <a:defRPr sz="825" b="0">
                <a:solidFill>
                  <a:srgbClr val="5C6C7B"/>
                </a:solidFill>
                <a:latin typeface="Calibri"/>
                <a:ea typeface="Calibri"/>
                <a:cs typeface="Calibri"/>
              </a:defRPr>
            </a:lvl6pPr>
            <a:lvl7pPr algn="r">
              <a:defRPr sz="825" b="0">
                <a:solidFill>
                  <a:srgbClr val="5C6C7B"/>
                </a:solidFill>
                <a:latin typeface="Calibri"/>
                <a:ea typeface="Calibri"/>
                <a:cs typeface="Calibri"/>
              </a:defRPr>
            </a:lvl7pPr>
            <a:lvl8pPr algn="r">
              <a:defRPr sz="825" b="0">
                <a:solidFill>
                  <a:srgbClr val="5C6C7B"/>
                </a:solidFill>
                <a:latin typeface="Calibri"/>
                <a:ea typeface="Calibri"/>
                <a:cs typeface="Calibri"/>
              </a:defRPr>
            </a:lvl8pPr>
            <a:lvl9pPr algn="r">
              <a:defRPr sz="825" b="0">
                <a:solidFill>
                  <a:srgbClr val="5C6C7B"/>
                </a:solidFill>
                <a:latin typeface="Calibri"/>
                <a:ea typeface="Calibri"/>
                <a:cs typeface="Calibri"/>
              </a:defRPr>
            </a:lvl9pPr>
          </a:lstStyle>
          <a:p>
            <a:pPr algn="r">
              <a:buNone/>
              <a:defRPr sz="825" b="0">
                <a:solidFill>
                  <a:srgbClr val="5C6C7B"/>
                </a:solidFill>
                <a:latin typeface="Calibri"/>
                <a:ea typeface="Calibri"/>
                <a:cs typeface="Calibri"/>
              </a:defRPr>
            </a:pPr>
            <a:r>
              <a:rPr sz="825" b="0">
                <a:solidFill>
                  <a:srgbClr val="5C6C7B"/>
                </a:solidFill>
                <a:latin typeface="Calibri"/>
                <a:ea typeface="Calibri"/>
                <a:cs typeface="Calibri"/>
              </a:rPr>
              <a:t>13</a:t>
            </a:r>
          </a:p>
        </p:txBody>
      </p:sp>
      <p:sp>
        <p:nvSpPr>
          <p:cNvPr id="5" name="Rectangle 4">
            <a:extLst>
              <a:ext uri="{FF2B5EF4-FFF2-40B4-BE49-F238E27FC236}">
                <a16:creationId xmlns:a16="http://schemas.microsoft.com/office/drawing/2014/main" id="{FA7FD2AF-23D3-43F5-8631-189A70F922A9}"/>
              </a:ext>
            </a:extLst>
          </p:cNvPr>
          <p:cNvSpPr>
            <a:spLocks noGrp="1"/>
          </p:cNvSpPr>
          <p:nvPr/>
        </p:nvSpPr>
        <p:spPr>
          <a:xfrm>
            <a:off x="628650" y="1228725"/>
            <a:ext cx="7877175" cy="523875"/>
          </a:xfrm>
          <a:prstGeom prst="rect">
            <a:avLst/>
          </a:prstGeom>
          <a:noFill/>
          <a:ln w="0">
            <a:noFill/>
            <a:prstDash val="solid"/>
          </a:ln>
        </p:spPr>
        <p:txBody>
          <a:bodyPr wrap="square" lIns="0" tIns="0" rIns="0" bIns="0" anchor="ctr">
            <a:normAutofit/>
          </a:bodyPr>
          <a:lstStyle>
            <a:defPPr algn="l">
              <a:defRPr sz="1275" b="0">
                <a:solidFill>
                  <a:srgbClr val="20324A"/>
                </a:solidFill>
                <a:latin typeface="Calibri"/>
                <a:ea typeface="Calibri"/>
                <a:cs typeface="Calibri"/>
              </a:defRPr>
            </a:defPPr>
            <a:lvl1pPr algn="l">
              <a:defRPr sz="1275" b="0">
                <a:solidFill>
                  <a:srgbClr val="20324A"/>
                </a:solidFill>
                <a:latin typeface="Calibri"/>
                <a:ea typeface="Calibri"/>
                <a:cs typeface="Calibri"/>
              </a:defRPr>
            </a:lvl1pPr>
            <a:lvl2pPr algn="l">
              <a:defRPr sz="1275" b="0">
                <a:solidFill>
                  <a:srgbClr val="20324A"/>
                </a:solidFill>
                <a:latin typeface="Calibri"/>
                <a:ea typeface="Calibri"/>
                <a:cs typeface="Calibri"/>
              </a:defRPr>
            </a:lvl2pPr>
            <a:lvl3pPr algn="l">
              <a:defRPr sz="1275" b="0">
                <a:solidFill>
                  <a:srgbClr val="20324A"/>
                </a:solidFill>
                <a:latin typeface="Calibri"/>
                <a:ea typeface="Calibri"/>
                <a:cs typeface="Calibri"/>
              </a:defRPr>
            </a:lvl3pPr>
            <a:lvl4pPr algn="l">
              <a:defRPr sz="1275" b="0">
                <a:solidFill>
                  <a:srgbClr val="20324A"/>
                </a:solidFill>
                <a:latin typeface="Calibri"/>
                <a:ea typeface="Calibri"/>
                <a:cs typeface="Calibri"/>
              </a:defRPr>
            </a:lvl4pPr>
            <a:lvl5pPr algn="l">
              <a:defRPr sz="1275" b="0">
                <a:solidFill>
                  <a:srgbClr val="20324A"/>
                </a:solidFill>
                <a:latin typeface="Calibri"/>
                <a:ea typeface="Calibri"/>
                <a:cs typeface="Calibri"/>
              </a:defRPr>
            </a:lvl5pPr>
            <a:lvl6pPr algn="l">
              <a:defRPr sz="1275" b="0">
                <a:solidFill>
                  <a:srgbClr val="20324A"/>
                </a:solidFill>
                <a:latin typeface="Calibri"/>
                <a:ea typeface="Calibri"/>
                <a:cs typeface="Calibri"/>
              </a:defRPr>
            </a:lvl6pPr>
            <a:lvl7pPr algn="l">
              <a:defRPr sz="1275" b="0">
                <a:solidFill>
                  <a:srgbClr val="20324A"/>
                </a:solidFill>
                <a:latin typeface="Calibri"/>
                <a:ea typeface="Calibri"/>
                <a:cs typeface="Calibri"/>
              </a:defRPr>
            </a:lvl7pPr>
            <a:lvl8pPr algn="l">
              <a:defRPr sz="1275" b="0">
                <a:solidFill>
                  <a:srgbClr val="20324A"/>
                </a:solidFill>
                <a:latin typeface="Calibri"/>
                <a:ea typeface="Calibri"/>
                <a:cs typeface="Calibri"/>
              </a:defRPr>
            </a:lvl8pPr>
            <a:lvl9pPr algn="l">
              <a:defRPr sz="1275" b="0">
                <a:solidFill>
                  <a:srgbClr val="20324A"/>
                </a:solidFill>
                <a:latin typeface="Calibri"/>
                <a:ea typeface="Calibri"/>
                <a:cs typeface="Calibri"/>
              </a:defRPr>
            </a:lvl9pPr>
          </a:lstStyle>
          <a:p>
            <a:pPr algn="l">
              <a:buNone/>
              <a:defRPr sz="1275" b="0">
                <a:solidFill>
                  <a:srgbClr val="20324A"/>
                </a:solidFill>
                <a:latin typeface="Calibri"/>
                <a:ea typeface="Calibri"/>
                <a:cs typeface="Calibri"/>
              </a:defRPr>
            </a:pPr>
            <a:r>
              <a:rPr sz="1275" b="0">
                <a:solidFill>
                  <a:srgbClr val="20324A"/>
                </a:solidFill>
                <a:latin typeface="Calibri"/>
                <a:ea typeface="Calibri"/>
                <a:cs typeface="Calibri"/>
              </a:rPr>
              <a:t>1.  FLEURS: Conneau et al., Few-shot Learning Evaluation of Universal Representations of Speech.</a:t>
            </a:r>
          </a:p>
        </p:txBody>
      </p:sp>
      <p:sp>
        <p:nvSpPr>
          <p:cNvPr id="6" name="Rectangle 5">
            <a:extLst>
              <a:ext uri="{FF2B5EF4-FFF2-40B4-BE49-F238E27FC236}">
                <a16:creationId xmlns:a16="http://schemas.microsoft.com/office/drawing/2014/main" id="{D6C3FB8A-47DD-4DEE-B404-E283C5E6A86C}"/>
              </a:ext>
            </a:extLst>
          </p:cNvPr>
          <p:cNvSpPr>
            <a:spLocks noGrp="1"/>
          </p:cNvSpPr>
          <p:nvPr/>
        </p:nvSpPr>
        <p:spPr>
          <a:xfrm>
            <a:off x="628650" y="1847850"/>
            <a:ext cx="7877175" cy="523875"/>
          </a:xfrm>
          <a:prstGeom prst="rect">
            <a:avLst/>
          </a:prstGeom>
          <a:noFill/>
          <a:ln w="0">
            <a:noFill/>
            <a:prstDash val="solid"/>
          </a:ln>
        </p:spPr>
        <p:txBody>
          <a:bodyPr wrap="square" lIns="0" tIns="0" rIns="0" bIns="0" anchor="ctr">
            <a:normAutofit/>
          </a:bodyPr>
          <a:lstStyle>
            <a:defPPr algn="l">
              <a:defRPr sz="1275" b="0">
                <a:solidFill>
                  <a:srgbClr val="20324A"/>
                </a:solidFill>
                <a:latin typeface="Calibri"/>
                <a:ea typeface="Calibri"/>
                <a:cs typeface="Calibri"/>
              </a:defRPr>
            </a:defPPr>
            <a:lvl1pPr algn="l">
              <a:defRPr sz="1275" b="0">
                <a:solidFill>
                  <a:srgbClr val="20324A"/>
                </a:solidFill>
                <a:latin typeface="Calibri"/>
                <a:ea typeface="Calibri"/>
                <a:cs typeface="Calibri"/>
              </a:defRPr>
            </a:lvl1pPr>
            <a:lvl2pPr algn="l">
              <a:defRPr sz="1275" b="0">
                <a:solidFill>
                  <a:srgbClr val="20324A"/>
                </a:solidFill>
                <a:latin typeface="Calibri"/>
                <a:ea typeface="Calibri"/>
                <a:cs typeface="Calibri"/>
              </a:defRPr>
            </a:lvl2pPr>
            <a:lvl3pPr algn="l">
              <a:defRPr sz="1275" b="0">
                <a:solidFill>
                  <a:srgbClr val="20324A"/>
                </a:solidFill>
                <a:latin typeface="Calibri"/>
                <a:ea typeface="Calibri"/>
                <a:cs typeface="Calibri"/>
              </a:defRPr>
            </a:lvl3pPr>
            <a:lvl4pPr algn="l">
              <a:defRPr sz="1275" b="0">
                <a:solidFill>
                  <a:srgbClr val="20324A"/>
                </a:solidFill>
                <a:latin typeface="Calibri"/>
                <a:ea typeface="Calibri"/>
                <a:cs typeface="Calibri"/>
              </a:defRPr>
            </a:lvl4pPr>
            <a:lvl5pPr algn="l">
              <a:defRPr sz="1275" b="0">
                <a:solidFill>
                  <a:srgbClr val="20324A"/>
                </a:solidFill>
                <a:latin typeface="Calibri"/>
                <a:ea typeface="Calibri"/>
                <a:cs typeface="Calibri"/>
              </a:defRPr>
            </a:lvl5pPr>
            <a:lvl6pPr algn="l">
              <a:defRPr sz="1275" b="0">
                <a:solidFill>
                  <a:srgbClr val="20324A"/>
                </a:solidFill>
                <a:latin typeface="Calibri"/>
                <a:ea typeface="Calibri"/>
                <a:cs typeface="Calibri"/>
              </a:defRPr>
            </a:lvl6pPr>
            <a:lvl7pPr algn="l">
              <a:defRPr sz="1275" b="0">
                <a:solidFill>
                  <a:srgbClr val="20324A"/>
                </a:solidFill>
                <a:latin typeface="Calibri"/>
                <a:ea typeface="Calibri"/>
                <a:cs typeface="Calibri"/>
              </a:defRPr>
            </a:lvl7pPr>
            <a:lvl8pPr algn="l">
              <a:defRPr sz="1275" b="0">
                <a:solidFill>
                  <a:srgbClr val="20324A"/>
                </a:solidFill>
                <a:latin typeface="Calibri"/>
                <a:ea typeface="Calibri"/>
                <a:cs typeface="Calibri"/>
              </a:defRPr>
            </a:lvl8pPr>
            <a:lvl9pPr algn="l">
              <a:defRPr sz="1275" b="0">
                <a:solidFill>
                  <a:srgbClr val="20324A"/>
                </a:solidFill>
                <a:latin typeface="Calibri"/>
                <a:ea typeface="Calibri"/>
                <a:cs typeface="Calibri"/>
              </a:defRPr>
            </a:lvl9pPr>
          </a:lstStyle>
          <a:p>
            <a:pPr algn="l">
              <a:buNone/>
              <a:defRPr sz="1275" b="0">
                <a:solidFill>
                  <a:srgbClr val="20324A"/>
                </a:solidFill>
                <a:latin typeface="Calibri"/>
                <a:ea typeface="Calibri"/>
                <a:cs typeface="Calibri"/>
              </a:defRPr>
            </a:pPr>
            <a:r>
              <a:rPr sz="1275" b="0">
                <a:solidFill>
                  <a:srgbClr val="20324A"/>
                </a:solidFill>
                <a:latin typeface="Calibri"/>
                <a:ea typeface="Calibri"/>
                <a:cs typeface="Calibri"/>
              </a:rPr>
              <a:t>2.  Whisper: Radford et al., Robust Speech Recognition via Large-Scale Weak Supervision.</a:t>
            </a:r>
          </a:p>
        </p:txBody>
      </p:sp>
      <p:sp>
        <p:nvSpPr>
          <p:cNvPr id="7" name="Rectangle 6">
            <a:extLst>
              <a:ext uri="{FF2B5EF4-FFF2-40B4-BE49-F238E27FC236}">
                <a16:creationId xmlns:a16="http://schemas.microsoft.com/office/drawing/2014/main" id="{BCA172D4-0875-4B10-B305-0E62937143B5}"/>
              </a:ext>
            </a:extLst>
          </p:cNvPr>
          <p:cNvSpPr>
            <a:spLocks noGrp="1"/>
          </p:cNvSpPr>
          <p:nvPr/>
        </p:nvSpPr>
        <p:spPr>
          <a:xfrm>
            <a:off x="628650" y="2466975"/>
            <a:ext cx="7877175" cy="523875"/>
          </a:xfrm>
          <a:prstGeom prst="rect">
            <a:avLst/>
          </a:prstGeom>
          <a:noFill/>
          <a:ln w="0">
            <a:noFill/>
            <a:prstDash val="solid"/>
          </a:ln>
        </p:spPr>
        <p:txBody>
          <a:bodyPr wrap="square" lIns="0" tIns="0" rIns="0" bIns="0" anchor="ctr">
            <a:normAutofit/>
          </a:bodyPr>
          <a:lstStyle>
            <a:defPPr algn="l">
              <a:defRPr sz="1275" b="0">
                <a:solidFill>
                  <a:srgbClr val="20324A"/>
                </a:solidFill>
                <a:latin typeface="Calibri"/>
                <a:ea typeface="Calibri"/>
                <a:cs typeface="Calibri"/>
              </a:defRPr>
            </a:defPPr>
            <a:lvl1pPr algn="l">
              <a:defRPr sz="1275" b="0">
                <a:solidFill>
                  <a:srgbClr val="20324A"/>
                </a:solidFill>
                <a:latin typeface="Calibri"/>
                <a:ea typeface="Calibri"/>
                <a:cs typeface="Calibri"/>
              </a:defRPr>
            </a:lvl1pPr>
            <a:lvl2pPr algn="l">
              <a:defRPr sz="1275" b="0">
                <a:solidFill>
                  <a:srgbClr val="20324A"/>
                </a:solidFill>
                <a:latin typeface="Calibri"/>
                <a:ea typeface="Calibri"/>
                <a:cs typeface="Calibri"/>
              </a:defRPr>
            </a:lvl2pPr>
            <a:lvl3pPr algn="l">
              <a:defRPr sz="1275" b="0">
                <a:solidFill>
                  <a:srgbClr val="20324A"/>
                </a:solidFill>
                <a:latin typeface="Calibri"/>
                <a:ea typeface="Calibri"/>
                <a:cs typeface="Calibri"/>
              </a:defRPr>
            </a:lvl3pPr>
            <a:lvl4pPr algn="l">
              <a:defRPr sz="1275" b="0">
                <a:solidFill>
                  <a:srgbClr val="20324A"/>
                </a:solidFill>
                <a:latin typeface="Calibri"/>
                <a:ea typeface="Calibri"/>
                <a:cs typeface="Calibri"/>
              </a:defRPr>
            </a:lvl4pPr>
            <a:lvl5pPr algn="l">
              <a:defRPr sz="1275" b="0">
                <a:solidFill>
                  <a:srgbClr val="20324A"/>
                </a:solidFill>
                <a:latin typeface="Calibri"/>
                <a:ea typeface="Calibri"/>
                <a:cs typeface="Calibri"/>
              </a:defRPr>
            </a:lvl5pPr>
            <a:lvl6pPr algn="l">
              <a:defRPr sz="1275" b="0">
                <a:solidFill>
                  <a:srgbClr val="20324A"/>
                </a:solidFill>
                <a:latin typeface="Calibri"/>
                <a:ea typeface="Calibri"/>
                <a:cs typeface="Calibri"/>
              </a:defRPr>
            </a:lvl6pPr>
            <a:lvl7pPr algn="l">
              <a:defRPr sz="1275" b="0">
                <a:solidFill>
                  <a:srgbClr val="20324A"/>
                </a:solidFill>
                <a:latin typeface="Calibri"/>
                <a:ea typeface="Calibri"/>
                <a:cs typeface="Calibri"/>
              </a:defRPr>
            </a:lvl7pPr>
            <a:lvl8pPr algn="l">
              <a:defRPr sz="1275" b="0">
                <a:solidFill>
                  <a:srgbClr val="20324A"/>
                </a:solidFill>
                <a:latin typeface="Calibri"/>
                <a:ea typeface="Calibri"/>
                <a:cs typeface="Calibri"/>
              </a:defRPr>
            </a:lvl8pPr>
            <a:lvl9pPr algn="l">
              <a:defRPr sz="1275" b="0">
                <a:solidFill>
                  <a:srgbClr val="20324A"/>
                </a:solidFill>
                <a:latin typeface="Calibri"/>
                <a:ea typeface="Calibri"/>
                <a:cs typeface="Calibri"/>
              </a:defRPr>
            </a:lvl9pPr>
          </a:lstStyle>
          <a:p>
            <a:pPr algn="l">
              <a:buNone/>
              <a:defRPr sz="1275" b="0">
                <a:solidFill>
                  <a:srgbClr val="20324A"/>
                </a:solidFill>
                <a:latin typeface="Calibri"/>
                <a:ea typeface="Calibri"/>
                <a:cs typeface="Calibri"/>
              </a:defRPr>
            </a:pPr>
            <a:r>
              <a:rPr sz="1275" b="0">
                <a:solidFill>
                  <a:srgbClr val="20324A"/>
                </a:solidFill>
                <a:latin typeface="Calibri"/>
                <a:ea typeface="Calibri"/>
                <a:cs typeface="Calibri"/>
              </a:rPr>
              <a:t>3.  MMS: Pratap et al., Scaling Speech Technology to 1,000+ Languages.</a:t>
            </a:r>
          </a:p>
        </p:txBody>
      </p:sp>
      <p:sp>
        <p:nvSpPr>
          <p:cNvPr id="8" name="Rectangle 7">
            <a:extLst>
              <a:ext uri="{FF2B5EF4-FFF2-40B4-BE49-F238E27FC236}">
                <a16:creationId xmlns:a16="http://schemas.microsoft.com/office/drawing/2014/main" id="{4C1336C7-11DA-4576-AE49-C09ADC43FB02}"/>
              </a:ext>
            </a:extLst>
          </p:cNvPr>
          <p:cNvSpPr>
            <a:spLocks noGrp="1"/>
          </p:cNvSpPr>
          <p:nvPr/>
        </p:nvSpPr>
        <p:spPr>
          <a:xfrm>
            <a:off x="628650" y="3086100"/>
            <a:ext cx="7877175" cy="523875"/>
          </a:xfrm>
          <a:prstGeom prst="rect">
            <a:avLst/>
          </a:prstGeom>
          <a:noFill/>
          <a:ln w="0">
            <a:noFill/>
            <a:prstDash val="solid"/>
          </a:ln>
        </p:spPr>
        <p:txBody>
          <a:bodyPr wrap="square" lIns="0" tIns="0" rIns="0" bIns="0" anchor="ctr">
            <a:normAutofit/>
          </a:bodyPr>
          <a:lstStyle>
            <a:defPPr algn="l">
              <a:defRPr sz="1275" b="0">
                <a:solidFill>
                  <a:srgbClr val="20324A"/>
                </a:solidFill>
                <a:latin typeface="Calibri"/>
                <a:ea typeface="Calibri"/>
                <a:cs typeface="Calibri"/>
              </a:defRPr>
            </a:defPPr>
            <a:lvl1pPr algn="l">
              <a:defRPr sz="1275" b="0">
                <a:solidFill>
                  <a:srgbClr val="20324A"/>
                </a:solidFill>
                <a:latin typeface="Calibri"/>
                <a:ea typeface="Calibri"/>
                <a:cs typeface="Calibri"/>
              </a:defRPr>
            </a:lvl1pPr>
            <a:lvl2pPr algn="l">
              <a:defRPr sz="1275" b="0">
                <a:solidFill>
                  <a:srgbClr val="20324A"/>
                </a:solidFill>
                <a:latin typeface="Calibri"/>
                <a:ea typeface="Calibri"/>
                <a:cs typeface="Calibri"/>
              </a:defRPr>
            </a:lvl2pPr>
            <a:lvl3pPr algn="l">
              <a:defRPr sz="1275" b="0">
                <a:solidFill>
                  <a:srgbClr val="20324A"/>
                </a:solidFill>
                <a:latin typeface="Calibri"/>
                <a:ea typeface="Calibri"/>
                <a:cs typeface="Calibri"/>
              </a:defRPr>
            </a:lvl3pPr>
            <a:lvl4pPr algn="l">
              <a:defRPr sz="1275" b="0">
                <a:solidFill>
                  <a:srgbClr val="20324A"/>
                </a:solidFill>
                <a:latin typeface="Calibri"/>
                <a:ea typeface="Calibri"/>
                <a:cs typeface="Calibri"/>
              </a:defRPr>
            </a:lvl4pPr>
            <a:lvl5pPr algn="l">
              <a:defRPr sz="1275" b="0">
                <a:solidFill>
                  <a:srgbClr val="20324A"/>
                </a:solidFill>
                <a:latin typeface="Calibri"/>
                <a:ea typeface="Calibri"/>
                <a:cs typeface="Calibri"/>
              </a:defRPr>
            </a:lvl5pPr>
            <a:lvl6pPr algn="l">
              <a:defRPr sz="1275" b="0">
                <a:solidFill>
                  <a:srgbClr val="20324A"/>
                </a:solidFill>
                <a:latin typeface="Calibri"/>
                <a:ea typeface="Calibri"/>
                <a:cs typeface="Calibri"/>
              </a:defRPr>
            </a:lvl6pPr>
            <a:lvl7pPr algn="l">
              <a:defRPr sz="1275" b="0">
                <a:solidFill>
                  <a:srgbClr val="20324A"/>
                </a:solidFill>
                <a:latin typeface="Calibri"/>
                <a:ea typeface="Calibri"/>
                <a:cs typeface="Calibri"/>
              </a:defRPr>
            </a:lvl7pPr>
            <a:lvl8pPr algn="l">
              <a:defRPr sz="1275" b="0">
                <a:solidFill>
                  <a:srgbClr val="20324A"/>
                </a:solidFill>
                <a:latin typeface="Calibri"/>
                <a:ea typeface="Calibri"/>
                <a:cs typeface="Calibri"/>
              </a:defRPr>
            </a:lvl8pPr>
            <a:lvl9pPr algn="l">
              <a:defRPr sz="1275" b="0">
                <a:solidFill>
                  <a:srgbClr val="20324A"/>
                </a:solidFill>
                <a:latin typeface="Calibri"/>
                <a:ea typeface="Calibri"/>
                <a:cs typeface="Calibri"/>
              </a:defRPr>
            </a:lvl9pPr>
          </a:lstStyle>
          <a:p>
            <a:pPr algn="l">
              <a:buNone/>
              <a:defRPr sz="1275" b="0">
                <a:solidFill>
                  <a:srgbClr val="20324A"/>
                </a:solidFill>
                <a:latin typeface="Calibri"/>
                <a:ea typeface="Calibri"/>
                <a:cs typeface="Calibri"/>
              </a:defRPr>
            </a:pPr>
            <a:r>
              <a:rPr sz="1275" b="0">
                <a:solidFill>
                  <a:srgbClr val="20324A"/>
                </a:solidFill>
                <a:latin typeface="Calibri"/>
                <a:ea typeface="Calibri"/>
                <a:cs typeface="Calibri"/>
              </a:rPr>
              <a:t>4.  Qwen Khmer base: seanghay/Qwen3-ASR-0.6B-Khmer on Hugging Face.</a:t>
            </a:r>
          </a:p>
        </p:txBody>
      </p:sp>
      <p:sp>
        <p:nvSpPr>
          <p:cNvPr id="9" name="Rectangle 8">
            <a:extLst>
              <a:ext uri="{FF2B5EF4-FFF2-40B4-BE49-F238E27FC236}">
                <a16:creationId xmlns:a16="http://schemas.microsoft.com/office/drawing/2014/main" id="{688E2C86-0445-474F-905D-2ABB51E2C1B4}"/>
              </a:ext>
            </a:extLst>
          </p:cNvPr>
          <p:cNvSpPr>
            <a:spLocks noGrp="1"/>
          </p:cNvSpPr>
          <p:nvPr/>
        </p:nvSpPr>
        <p:spPr>
          <a:xfrm>
            <a:off x="628650" y="3705225"/>
            <a:ext cx="7877175" cy="523875"/>
          </a:xfrm>
          <a:prstGeom prst="rect">
            <a:avLst/>
          </a:prstGeom>
          <a:noFill/>
          <a:ln w="0">
            <a:noFill/>
            <a:prstDash val="solid"/>
          </a:ln>
        </p:spPr>
        <p:txBody>
          <a:bodyPr wrap="square" lIns="0" tIns="0" rIns="0" bIns="0" anchor="ctr">
            <a:normAutofit/>
          </a:bodyPr>
          <a:lstStyle>
            <a:defPPr algn="l">
              <a:defRPr sz="1275" b="0">
                <a:solidFill>
                  <a:srgbClr val="20324A"/>
                </a:solidFill>
                <a:latin typeface="Calibri"/>
                <a:ea typeface="Calibri"/>
                <a:cs typeface="Calibri"/>
              </a:defRPr>
            </a:defPPr>
            <a:lvl1pPr algn="l">
              <a:defRPr sz="1275" b="0">
                <a:solidFill>
                  <a:srgbClr val="20324A"/>
                </a:solidFill>
                <a:latin typeface="Calibri"/>
                <a:ea typeface="Calibri"/>
                <a:cs typeface="Calibri"/>
              </a:defRPr>
            </a:lvl1pPr>
            <a:lvl2pPr algn="l">
              <a:defRPr sz="1275" b="0">
                <a:solidFill>
                  <a:srgbClr val="20324A"/>
                </a:solidFill>
                <a:latin typeface="Calibri"/>
                <a:ea typeface="Calibri"/>
                <a:cs typeface="Calibri"/>
              </a:defRPr>
            </a:lvl2pPr>
            <a:lvl3pPr algn="l">
              <a:defRPr sz="1275" b="0">
                <a:solidFill>
                  <a:srgbClr val="20324A"/>
                </a:solidFill>
                <a:latin typeface="Calibri"/>
                <a:ea typeface="Calibri"/>
                <a:cs typeface="Calibri"/>
              </a:defRPr>
            </a:lvl3pPr>
            <a:lvl4pPr algn="l">
              <a:defRPr sz="1275" b="0">
                <a:solidFill>
                  <a:srgbClr val="20324A"/>
                </a:solidFill>
                <a:latin typeface="Calibri"/>
                <a:ea typeface="Calibri"/>
                <a:cs typeface="Calibri"/>
              </a:defRPr>
            </a:lvl4pPr>
            <a:lvl5pPr algn="l">
              <a:defRPr sz="1275" b="0">
                <a:solidFill>
                  <a:srgbClr val="20324A"/>
                </a:solidFill>
                <a:latin typeface="Calibri"/>
                <a:ea typeface="Calibri"/>
                <a:cs typeface="Calibri"/>
              </a:defRPr>
            </a:lvl5pPr>
            <a:lvl6pPr algn="l">
              <a:defRPr sz="1275" b="0">
                <a:solidFill>
                  <a:srgbClr val="20324A"/>
                </a:solidFill>
                <a:latin typeface="Calibri"/>
                <a:ea typeface="Calibri"/>
                <a:cs typeface="Calibri"/>
              </a:defRPr>
            </a:lvl6pPr>
            <a:lvl7pPr algn="l">
              <a:defRPr sz="1275" b="0">
                <a:solidFill>
                  <a:srgbClr val="20324A"/>
                </a:solidFill>
                <a:latin typeface="Calibri"/>
                <a:ea typeface="Calibri"/>
                <a:cs typeface="Calibri"/>
              </a:defRPr>
            </a:lvl7pPr>
            <a:lvl8pPr algn="l">
              <a:defRPr sz="1275" b="0">
                <a:solidFill>
                  <a:srgbClr val="20324A"/>
                </a:solidFill>
                <a:latin typeface="Calibri"/>
                <a:ea typeface="Calibri"/>
                <a:cs typeface="Calibri"/>
              </a:defRPr>
            </a:lvl8pPr>
            <a:lvl9pPr algn="l">
              <a:defRPr sz="1275" b="0">
                <a:solidFill>
                  <a:srgbClr val="20324A"/>
                </a:solidFill>
                <a:latin typeface="Calibri"/>
                <a:ea typeface="Calibri"/>
                <a:cs typeface="Calibri"/>
              </a:defRPr>
            </a:lvl9pPr>
          </a:lstStyle>
          <a:p>
            <a:pPr algn="l">
              <a:buNone/>
              <a:defRPr sz="1275" b="0">
                <a:solidFill>
                  <a:srgbClr val="20324A"/>
                </a:solidFill>
                <a:latin typeface="Calibri"/>
                <a:ea typeface="Calibri"/>
                <a:cs typeface="Calibri"/>
              </a:defRPr>
            </a:pPr>
            <a:r>
              <a:rPr sz="1275" b="0">
                <a:solidFill>
                  <a:srgbClr val="20324A"/>
                </a:solidFill>
                <a:latin typeface="Calibri"/>
                <a:ea typeface="Calibri"/>
                <a:cs typeface="Calibri"/>
              </a:rPr>
              <a:t>5.  Evaluation: ICU Khmer word breaks and saved project prediction pairs.</a:t>
            </a:r>
          </a:p>
        </p:txBody>
      </p:sp>
      <p:sp>
        <p:nvSpPr>
          <p:cNvPr id="10" name="Rectangle 9">
            <a:extLst>
              <a:ext uri="{FF2B5EF4-FFF2-40B4-BE49-F238E27FC236}">
                <a16:creationId xmlns:a16="http://schemas.microsoft.com/office/drawing/2014/main" id="{3AB63340-7D3F-4CFF-AC73-06E5A1E28769}"/>
              </a:ext>
            </a:extLst>
          </p:cNvPr>
          <p:cNvSpPr>
            <a:spLocks noGrp="1"/>
          </p:cNvSpPr>
          <p:nvPr/>
        </p:nvSpPr>
        <p:spPr>
          <a:xfrm>
            <a:off x="628650" y="4362450"/>
            <a:ext cx="7886700" cy="390525"/>
          </a:xfrm>
          <a:prstGeom prst="rect">
            <a:avLst/>
          </a:prstGeom>
          <a:noFill/>
          <a:ln w="0">
            <a:noFill/>
            <a:prstDash val="solid"/>
          </a:ln>
        </p:spPr>
        <p:txBody>
          <a:bodyPr wrap="square" lIns="0" tIns="0" rIns="0" bIns="0" anchor="ctr">
            <a:normAutofit/>
          </a:bodyPr>
          <a:lstStyle>
            <a:defPPr algn="l">
              <a:defRPr sz="1200" b="0">
                <a:solidFill>
                  <a:srgbClr val="5C6C7B"/>
                </a:solidFill>
                <a:latin typeface="Calibri"/>
                <a:ea typeface="Calibri"/>
                <a:cs typeface="Calibri"/>
              </a:defRPr>
            </a:defPPr>
            <a:lvl1pPr algn="l">
              <a:defRPr sz="1200" b="0">
                <a:solidFill>
                  <a:srgbClr val="5C6C7B"/>
                </a:solidFill>
                <a:latin typeface="Calibri"/>
                <a:ea typeface="Calibri"/>
                <a:cs typeface="Calibri"/>
              </a:defRPr>
            </a:lvl1pPr>
            <a:lvl2pPr algn="l">
              <a:defRPr sz="1200" b="0">
                <a:solidFill>
                  <a:srgbClr val="5C6C7B"/>
                </a:solidFill>
                <a:latin typeface="Calibri"/>
                <a:ea typeface="Calibri"/>
                <a:cs typeface="Calibri"/>
              </a:defRPr>
            </a:lvl2pPr>
            <a:lvl3pPr algn="l">
              <a:defRPr sz="1200" b="0">
                <a:solidFill>
                  <a:srgbClr val="5C6C7B"/>
                </a:solidFill>
                <a:latin typeface="Calibri"/>
                <a:ea typeface="Calibri"/>
                <a:cs typeface="Calibri"/>
              </a:defRPr>
            </a:lvl3pPr>
            <a:lvl4pPr algn="l">
              <a:defRPr sz="1200" b="0">
                <a:solidFill>
                  <a:srgbClr val="5C6C7B"/>
                </a:solidFill>
                <a:latin typeface="Calibri"/>
                <a:ea typeface="Calibri"/>
                <a:cs typeface="Calibri"/>
              </a:defRPr>
            </a:lvl4pPr>
            <a:lvl5pPr algn="l">
              <a:defRPr sz="1200" b="0">
                <a:solidFill>
                  <a:srgbClr val="5C6C7B"/>
                </a:solidFill>
                <a:latin typeface="Calibri"/>
                <a:ea typeface="Calibri"/>
                <a:cs typeface="Calibri"/>
              </a:defRPr>
            </a:lvl5pPr>
            <a:lvl6pPr algn="l">
              <a:defRPr sz="1200" b="0">
                <a:solidFill>
                  <a:srgbClr val="5C6C7B"/>
                </a:solidFill>
                <a:latin typeface="Calibri"/>
                <a:ea typeface="Calibri"/>
                <a:cs typeface="Calibri"/>
              </a:defRPr>
            </a:lvl6pPr>
            <a:lvl7pPr algn="l">
              <a:defRPr sz="1200" b="0">
                <a:solidFill>
                  <a:srgbClr val="5C6C7B"/>
                </a:solidFill>
                <a:latin typeface="Calibri"/>
                <a:ea typeface="Calibri"/>
                <a:cs typeface="Calibri"/>
              </a:defRPr>
            </a:lvl7pPr>
            <a:lvl8pPr algn="l">
              <a:defRPr sz="1200" b="0">
                <a:solidFill>
                  <a:srgbClr val="5C6C7B"/>
                </a:solidFill>
                <a:latin typeface="Calibri"/>
                <a:ea typeface="Calibri"/>
                <a:cs typeface="Calibri"/>
              </a:defRPr>
            </a:lvl8pPr>
            <a:lvl9pPr algn="l">
              <a:defRPr sz="1200" b="0">
                <a:solidFill>
                  <a:srgbClr val="5C6C7B"/>
                </a:solidFill>
                <a:latin typeface="Calibri"/>
                <a:ea typeface="Calibri"/>
                <a:cs typeface="Calibri"/>
              </a:defRPr>
            </a:lvl9pPr>
          </a:lstStyle>
          <a:p>
            <a:pPr algn="l">
              <a:buNone/>
              <a:defRPr sz="1200" b="0">
                <a:solidFill>
                  <a:srgbClr val="5C6C7B"/>
                </a:solidFill>
                <a:latin typeface="Calibri"/>
                <a:ea typeface="Calibri"/>
                <a:cs typeface="Calibri"/>
              </a:defRPr>
            </a:pPr>
            <a:r>
              <a:rPr sz="1200" b="0">
                <a:solidFill>
                  <a:srgbClr val="5C6C7B"/>
                </a:solidFill>
                <a:latin typeface="Calibri"/>
                <a:ea typeface="Calibri"/>
                <a:cs typeface="Calibri"/>
              </a:rPr>
              <a:t>Full run logs and prediction pairs are saved in the project repository.</a:t>
            </a:r>
          </a:p>
        </p:txBody>
      </p:sp>
      <p:pic>
        <p:nvPicPr>
          <p:cNvPr id="13" name="Picture 12">
            <a:extLst>
              <a:ext uri="{FF2B5EF4-FFF2-40B4-BE49-F238E27FC236}">
                <a16:creationId xmlns:a16="http://schemas.microsoft.com/office/drawing/2014/main" id="{43305444-ECD4-4DB2-992B-EA04A31D8E80}"/>
              </a:ext>
            </a:extLst>
          </p:cNvPr>
          <p:cNvPicPr>
            <a:picLocks noChangeAspect="1"/>
          </p:cNvPicPr>
          <p:nvPr/>
        </p:nvPicPr>
        <p:blipFill>
          <a:blip r:embed="rId3"/>
          <a:stretch/>
        </p:blipFill>
        <p:spPr>
          <a:xfrm>
            <a:off x="7456449" y="110482"/>
            <a:ext cx="1341282" cy="775343"/>
          </a:xfrm>
          <a:prstGeom prst="rect">
            <a:avLst/>
          </a:prstGeom>
        </p:spPr>
      </p:pic>
    </p:spTree>
    <p:extLst>
      <p:ext uri="{BB962C8B-B14F-4D97-AF65-F5344CB8AC3E}">
        <p14:creationId xmlns:p14="http://schemas.microsoft.com/office/powerpoint/2010/main" val="38605256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3039</Words>
  <Application>Microsoft Office PowerPoint</Application>
  <DocSecurity>0</DocSecurity>
  <PresentationFormat>On-screen Show (16:9)</PresentationFormat>
  <Paragraphs>201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Calibri</vt:lpstr>
      <vt:lpstr>Cambria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Khemrak Pasey</cp:lastModifiedBy>
  <cp:revision>2</cp:revision>
  <dcterms:created xsi:type="dcterms:W3CDTF">2026-10-20T04:42:28Z</dcterms:created>
  <dcterms:modified xsi:type="dcterms:W3CDTF">2026-10-20T04:44:38Z</dcterms:modified>
</cp:coreProperties>
</file>